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lineChart>
        <c:grouping val="standard"/>
        <c:varyColors val="0"/>
        <c:ser>
          <c:idx val="0"/>
          <c:order val="0"/>
          <c:tx>
            <c:strRef>
              <c:f>Sheet1!$B$1</c:f>
              <c:strCache>
                <c:ptCount val="1"/>
                <c:pt idx="0">
                  <c:v>Visibility</c:v>
                </c:pt>
              </c:strCache>
            </c:strRef>
          </c:tx>
          <c:spPr>
            <a:ln w="31750">
              <a:solidFill>
                <a:srgbClr val="FFFFFF"/>
              </a:solidFill>
            </a:ln>
          </c:spPr>
          <c:marker>
            <c:symbol val="circle"/>
            <c:size val="10"/>
            <c:spPr>
              <a:solidFill>
                <a:srgbClr val="FFFFFF"/>
              </a:solidFill>
              <a:ln>
                <a:noFill/>
              </a:ln>
            </c:spPr>
          </c:marker>
          <c:dPt>
            <c:idx val="2"/>
            <c:marker>
              <c:symbol val="circle"/>
              <c:size val="11"/>
              <c:spPr>
                <a:solidFill>
                  <a:srgbClr val="FFB05C"/>
                </a:solidFill>
                <a:ln>
                  <a:noFill/>
                </a:ln>
              </c:spPr>
            </c:marker>
          </c:dPt>
          <c:dLbls>
            <c:dLbl>
              <c:idx val="0"/>
              <c:spPr/>
              <c:txPr>
                <a:bodyPr/>
                <a:lstStyle/>
                <a:p>
                  <a:pPr>
                    <a:defRPr sz="2600">
                      <a:solidFill>
                        <a:srgbClr val="FFFFFF"/>
                      </a:solidFill>
                      <a:latin typeface="Silkscreen"/>
                    </a:defRPr>
                  </a:pPr>
                </a:p>
              </c:txPr>
              <c:showLegendKey val="0"/>
              <c:showVal val="1"/>
              <c:showCatName val="0"/>
              <c:showSerName val="0"/>
              <c:showPercent val="0"/>
              <c:showBubbleSize val="0"/>
            </c:dLbl>
            <c:dLbl>
              <c:idx val="1"/>
              <c:spPr/>
              <c:txPr>
                <a:bodyPr/>
                <a:lstStyle/>
                <a:p>
                  <a:pPr>
                    <a:defRPr sz="2600">
                      <a:solidFill>
                        <a:srgbClr val="FFFFFF"/>
                      </a:solidFill>
                      <a:latin typeface="Silkscreen"/>
                    </a:defRPr>
                  </a:pPr>
                </a:p>
              </c:txPr>
              <c:showLegendKey val="0"/>
              <c:showVal val="1"/>
              <c:showCatName val="0"/>
              <c:showSerName val="0"/>
              <c:showPercent val="0"/>
              <c:showBubbleSize val="0"/>
            </c:dLbl>
            <c:dLbl>
              <c:idx val="2"/>
              <c:spPr/>
              <c:txPr>
                <a:bodyPr/>
                <a:lstStyle/>
                <a:p>
                  <a:pPr>
                    <a:defRPr sz="2600">
                      <a:solidFill>
                        <a:srgbClr val="FFB05C"/>
                      </a:solidFill>
                      <a:latin typeface="Silkscreen"/>
                    </a:defRPr>
                  </a:pPr>
                </a:p>
              </c:txPr>
              <c:showLegendKey val="0"/>
              <c:showVal val="1"/>
              <c:showCatName val="0"/>
              <c:showSerName val="0"/>
              <c:showPercent val="0"/>
              <c:showBubbleSize val="0"/>
            </c:dLbl>
            <c:numFmt formatCode="0&quot;%&quot;" sourceLinked="0"/>
            <c:txPr>
              <a:bodyPr/>
              <a:lstStyle/>
              <a:p>
                <a:pPr>
                  <a:defRPr sz="2600">
                    <a:solidFill>
                      <a:srgbClr val="FFFFFF"/>
                    </a:solidFill>
                    <a:latin typeface="Silkscreen"/>
                  </a:defRPr>
                </a:pPr>
              </a:p>
            </c:txPr>
            <c:dLblPos val="t"/>
            <c:showLegendKey val="0"/>
            <c:showVal val="1"/>
            <c:showCatName val="0"/>
            <c:showSerName val="0"/>
            <c:showPercent val="0"/>
            <c:showBubbleSize val="0"/>
            <c:showLeaderLines val="1"/>
          </c:dLbls>
          <c:cat>
            <c:strRef>
              <c:f>Sheet1!$A$2:$A$4</c:f>
              <c:strCache>
                <c:ptCount val="3"/>
                <c:pt idx="0">
                  <c:v>2022</c:v>
                </c:pt>
                <c:pt idx="1">
                  <c:v>2023</c:v>
                </c:pt>
                <c:pt idx="2">
                  <c:v>2024</c:v>
                </c:pt>
              </c:strCache>
            </c:strRef>
          </c:cat>
          <c:val>
            <c:numRef>
              <c:f>Sheet1!$B$2:$B$4</c:f>
              <c:numCache>
                <c:formatCode>General</c:formatCode>
                <c:ptCount val="3"/>
                <c:pt idx="0">
                  <c:v>56</c:v>
                </c:pt>
                <c:pt idx="1">
                  <c:v>37</c:v>
                </c:pt>
                <c:pt idx="2">
                  <c:v>30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7620">
            <a:solidFill>
              <a:srgbClr val="FFFFFF"/>
            </a:solidFill>
          </a:ln>
        </c:spPr>
        <c:txPr>
          <a:bodyPr/>
          <a:lstStyle/>
          <a:p>
            <a:pPr>
              <a:defRPr sz="1200">
                <a:solidFill>
                  <a:srgbClr val="FFFFFF"/>
                </a:solidFill>
                <a:latin typeface="DM Mono"/>
              </a:defRPr>
            </a:pPr>
          </a:p>
        </c:txPr>
        <c:crossAx val="2140495176"/>
        <c:crosses val="autoZero"/>
        <c:auto val="1"/>
        <c:lblAlgn val="ctr"/>
        <c:lblOffset val="100"/>
        <c:noMultiLvlLbl val="0"/>
      </c:catAx>
      <c:valAx>
        <c:axId val="2140495176"/>
        <c:scaling>
          <c:max val="60.0"/>
          <c:min val="0.0"/>
        </c:scaling>
        <c:delete val="0"/>
        <c:axPos val="l"/>
        <c:majorGridlines>
          <c:spPr>
            <a:ln w="6350">
              <a:solidFill>
                <a:srgbClr val="FFFFFF">
                  <a:alpha val="18000"/>
                </a:srgbClr>
              </a:solidFill>
            </a:ln>
          </c:spPr>
        </c:majorGridlines>
        <c:numFmt formatCode="0&quot;%&quot;" sourceLinked="0"/>
        <c:majorTickMark val="none"/>
        <c:minorTickMark val="none"/>
        <c:tickLblPos val="nextTo"/>
        <c:spPr>
          <a:ln w="7620">
            <a:solidFill>
              <a:srgbClr val="FFFFFF"/>
            </a:solidFill>
          </a:ln>
        </c:spPr>
        <c:txPr>
          <a:bodyPr/>
          <a:lstStyle/>
          <a:p>
            <a:pPr>
              <a:defRPr sz="1200">
                <a:solidFill>
                  <a:srgbClr val="FFFFFF"/>
                </a:solidFill>
                <a:latin typeface="DM Mono"/>
              </a:defRPr>
            </a:pPr>
          </a:p>
        </c:txPr>
        <c:crossAx val="2118791784"/>
        <c:crosses val="autoZero"/>
        <c:majorUnit val="20.0"/>
      </c:valAx>
      <c:spPr>
        <a:noFill/>
        <a:ln>
          <a:noFill/>
        </a:ln>
      </c:spPr>
    </c:plotArea>
    <c:plotVisOnly val="1"/>
    <c:dispBlanksAs val="gap"/>
    <c:showDLblsOverMax val="0"/>
  </c:chart>
  <c:txPr>
    <a:bodyPr/>
    <a:lstStyle/>
    <a:p>
      <a:pPr>
        <a:defRPr sz="1800"/>
      </a:pPr>
      <a:endParaRPr lang="en-US"/>
    </a:p>
  </c:txPr>
  <c:externalData r:id="rId1">
    <c:autoUpdate val="0"/>
  </c:externalData>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Cost</c:v>
                </c:pt>
              </c:strCache>
            </c:strRef>
          </c:tx>
          <c:dPt>
            <c:idx val="0"/>
            <c:spPr>
              <a:solidFill>
                <a:srgbClr val="FFFFFF"/>
              </a:solidFill>
              <a:ln>
                <a:noFill/>
              </a:ln>
            </c:spPr>
          </c:dPt>
          <c:dPt>
            <c:idx val="1"/>
            <c:spPr>
              <a:solidFill>
                <a:srgbClr val="FFB05C"/>
              </a:solidFill>
              <a:ln>
                <a:noFill/>
              </a:ln>
            </c:spPr>
          </c:dPt>
          <c:cat>
            <c:strRef>
              <c:f>Sheet1!$A$2:$A$3</c:f>
              <c:strCache>
                <c:ptCount val="2"/>
                <c:pt idx="0">
                  <c:v>Before</c:v>
                </c:pt>
                <c:pt idx="1">
                  <c:v>Disrupted</c:v>
                </c:pt>
              </c:strCache>
            </c:strRef>
          </c:cat>
          <c:val>
            <c:numRef>
              <c:f>Sheet1!$B$2:$B$3</c:f>
              <c:numCache>
                <c:formatCode>General</c:formatCode>
                <c:ptCount val="2"/>
                <c:pt idx="0">
                  <c:v>600</c:v>
                </c:pt>
                <c:pt idx="1">
                  <c:v>1500</c:v>
                </c:pt>
              </c:numCache>
            </c:numRef>
          </c:val>
        </c:ser>
        <c:gapWidth val="100"/>
        <c:axId val="-2068027336"/>
        <c:axId val="-2113994440"/>
      </c:barChart>
      <c:catAx>
        <c:axId val="-2068027336"/>
        <c:scaling>
          <c:orientation val="minMax"/>
        </c:scaling>
        <c:delete val="0"/>
        <c:axPos val="b"/>
        <c:majorTickMark val="none"/>
        <c:minorTickMark val="none"/>
        <c:tickLblPos val="nextTo"/>
        <c:spPr>
          <a:ln w="7620">
            <a:solidFill>
              <a:srgbClr val="FFFFFF"/>
            </a:solidFill>
          </a:ln>
        </c:spPr>
        <c:txPr>
          <a:bodyPr/>
          <a:lstStyle/>
          <a:p>
            <a:pPr>
              <a:defRPr sz="1200">
                <a:solidFill>
                  <a:srgbClr val="FFFFFF"/>
                </a:solidFill>
                <a:latin typeface="DM Mono"/>
              </a:defRPr>
            </a:pPr>
          </a:p>
        </c:txPr>
        <c:crossAx val="-2113994440"/>
        <c:crosses val="autoZero"/>
        <c:auto val="1"/>
        <c:lblAlgn val="ctr"/>
        <c:lblOffset val="100"/>
        <c:noMultiLvlLbl val="0"/>
      </c:catAx>
      <c:valAx>
        <c:axId val="-2113994440"/>
        <c:scaling>
          <c:max val="2000.0"/>
          <c:min val="0.0"/>
        </c:scaling>
        <c:delete val="0"/>
        <c:axPos val="l"/>
        <c:majorGridlines>
          <c:spPr>
            <a:ln w="6350">
              <a:solidFill>
                <a:srgbClr val="FFFFFF">
                  <a:alpha val="18000"/>
                </a:srgbClr>
              </a:solidFill>
            </a:ln>
          </c:spPr>
        </c:majorGridlines>
        <c:numFmt formatCode="$#,##0" sourceLinked="0"/>
        <c:majorTickMark val="none"/>
        <c:minorTickMark val="none"/>
        <c:tickLblPos val="nextTo"/>
        <c:spPr>
          <a:ln w="7620">
            <a:solidFill>
              <a:srgbClr val="FFFFFF"/>
            </a:solidFill>
          </a:ln>
        </c:spPr>
        <c:txPr>
          <a:bodyPr/>
          <a:lstStyle/>
          <a:p>
            <a:pPr>
              <a:defRPr sz="1200">
                <a:solidFill>
                  <a:srgbClr val="FFFFFF"/>
                </a:solidFill>
                <a:latin typeface="DM Mono"/>
              </a:defRPr>
            </a:pPr>
          </a:p>
        </c:txPr>
        <c:crossAx val="-2068027336"/>
        <c:crosses val="autoZero"/>
        <c:majorUnit val="1000.0"/>
      </c:valAx>
      <c:spPr>
        <a:noFill/>
        <a:ln>
          <a:noFill/>
        </a:ln>
      </c:spPr>
    </c:plotArea>
    <c:dispBlanksAs val="gap"/>
  </c:chart>
  <c:txPr>
    <a:bodyPr/>
    <a:lstStyle/>
    <a:p>
      <a:pPr>
        <a:defRPr sz="1800"/>
      </a:pPr>
      <a:endParaRPr lang="en-US"/>
    </a:p>
  </c:txPr>
  <c:externalData r:id="rId1">
    <c:autoUpdate val="0"/>
  </c:externalData>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layout>
        <c:manualLayout>
          <c:layoutTarget val="inner"/>
          <c:xMode val="edge"/>
          <c:yMode val="edge"/>
          <c:wMode val="factor"/>
          <c:hMode val="factor"/>
          <c:x val=".08"/>
          <c:y val=".10"/>
          <c:w val=".90"/>
          <c:h val=".70"/>
        </c:manualLayout>
      </c:layout>
      <c:lineChart>
        <c:grouping val="standard"/>
        <c:varyColors val="0"/>
        <c:ser>
          <c:idx val="0"/>
          <c:order val="0"/>
          <c:tx>
            <c:strRef>
              <c:f>Sheet1!$B$1</c:f>
              <c:strCache>
                <c:ptCount val="1"/>
                <c:pt idx="0">
                  <c:v>Without action</c:v>
                </c:pt>
              </c:strCache>
            </c:strRef>
          </c:tx>
          <c:spPr>
            <a:ln w="25400">
              <a:solidFill>
                <a:srgbClr val="FFFFFF"/>
              </a:solidFill>
            </a:ln>
          </c:spPr>
          <c:marker>
            <c:symbol val="none"/>
          </c:marker>
          <c:dPt>
            <c:idx val="18"/>
            <c:marker>
              <c:symbol val="circle"/>
              <c:size val="8"/>
              <c:spPr>
                <a:solidFill>
                  <a:srgbClr val="FFB05C"/>
                </a:solidFill>
                <a:ln>
                  <a:noFill/>
                </a:ln>
              </c:spPr>
            </c:marker>
          </c:dPt>
          <c:cat>
            <c:strRef>
              <c:f>Sheet1!$A$2:$A$32</c:f>
              <c:strCach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strCache>
            </c:strRef>
          </c:cat>
          <c:val>
            <c:numRef>
              <c:f>Sheet1!$B$2:$B$32</c:f>
              <c:numCache>
                <c:formatCode>General</c:formatCode>
                <c:ptCount val="31"/>
                <c:pt idx="0">
                  <c:v>1800</c:v>
                </c:pt>
                <c:pt idx="1">
                  <c:v>1700</c:v>
                </c:pt>
                <c:pt idx="2">
                  <c:v>1600</c:v>
                </c:pt>
                <c:pt idx="3">
                  <c:v>1500</c:v>
                </c:pt>
                <c:pt idx="4">
                  <c:v>1400</c:v>
                </c:pt>
                <c:pt idx="5">
                  <c:v>1300</c:v>
                </c:pt>
                <c:pt idx="6">
                  <c:v>1200</c:v>
                </c:pt>
                <c:pt idx="7">
                  <c:v>1100</c:v>
                </c:pt>
                <c:pt idx="8">
                  <c:v>1000</c:v>
                </c:pt>
                <c:pt idx="9">
                  <c:v>900</c:v>
                </c:pt>
                <c:pt idx="10">
                  <c:v>800</c:v>
                </c:pt>
                <c:pt idx="11">
                  <c:v>700</c:v>
                </c:pt>
                <c:pt idx="12">
                  <c:v>600</c:v>
                </c:pt>
                <c:pt idx="13">
                  <c:v>500</c:v>
                </c:pt>
                <c:pt idx="14">
                  <c:v>400</c:v>
                </c:pt>
                <c:pt idx="15">
                  <c:v>300</c:v>
                </c:pt>
                <c:pt idx="16">
                  <c:v>200</c:v>
                </c:pt>
                <c:pt idx="17">
                  <c:v>100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val>
          <c:smooth val="0"/>
        </c:ser>
        <c:ser>
          <c:idx val="1"/>
          <c:order val="1"/>
          <c:tx>
            <c:strRef>
              <c:f>Sheet1!$C$1</c:f>
              <c:strCache>
                <c:ptCount val="1"/>
                <c:pt idx="0">
                  <c:v>With day-3 switch</c:v>
                </c:pt>
              </c:strCache>
            </c:strRef>
          </c:tx>
          <c:spPr>
            <a:ln w="25400">
              <a:solidFill>
                <a:srgbClr val="FFFFFF"/>
              </a:solidFill>
              <a:prstDash val="dash"/>
            </a:ln>
          </c:spPr>
          <c:marker>
            <c:symbol val="none"/>
          </c:marker>
          <c:cat>
            <c:strRef>
              <c:f>Sheet1!$A$2:$A$32</c:f>
              <c:strCach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strCache>
            </c:strRef>
          </c:cat>
          <c:val>
            <c:numRef>
              <c:f>Sheet1!$C$2:$C$32</c:f>
              <c:numCache>
                <c:formatCode>General</c:formatCode>
                <c:ptCount val="31"/>
                <c:pt idx="0">
                  <c:v>1800</c:v>
                </c:pt>
                <c:pt idx="1">
                  <c:v>1700</c:v>
                </c:pt>
                <c:pt idx="2">
                  <c:v>1600</c:v>
                </c:pt>
                <c:pt idx="3">
                  <c:v>1500</c:v>
                </c:pt>
                <c:pt idx="4">
                  <c:v>1500</c:v>
                </c:pt>
                <c:pt idx="5">
                  <c:v>1500</c:v>
                </c:pt>
                <c:pt idx="6">
                  <c:v>1500</c:v>
                </c:pt>
                <c:pt idx="7">
                  <c:v>1500</c:v>
                </c:pt>
                <c:pt idx="8">
                  <c:v>1500</c:v>
                </c:pt>
                <c:pt idx="9">
                  <c:v>1500</c:v>
                </c:pt>
                <c:pt idx="10">
                  <c:v>1500</c:v>
                </c:pt>
                <c:pt idx="11">
                  <c:v>1500</c:v>
                </c:pt>
                <c:pt idx="12">
                  <c:v>1500</c:v>
                </c:pt>
                <c:pt idx="13">
                  <c:v>1500</c:v>
                </c:pt>
                <c:pt idx="14">
                  <c:v>1500</c:v>
                </c:pt>
                <c:pt idx="15">
                  <c:v>1500</c:v>
                </c:pt>
                <c:pt idx="16">
                  <c:v>1500</c:v>
                </c:pt>
                <c:pt idx="17">
                  <c:v>1500</c:v>
                </c:pt>
                <c:pt idx="18">
                  <c:v>1500</c:v>
                </c:pt>
                <c:pt idx="19">
                  <c:v>1500</c:v>
                </c:pt>
                <c:pt idx="20">
                  <c:v>1500</c:v>
                </c:pt>
                <c:pt idx="21">
                  <c:v>1500</c:v>
                </c:pt>
                <c:pt idx="22">
                  <c:v>1500</c:v>
                </c:pt>
                <c:pt idx="23">
                  <c:v>1500</c:v>
                </c:pt>
                <c:pt idx="24">
                  <c:v>1500</c:v>
                </c:pt>
                <c:pt idx="25">
                  <c:v>1500</c:v>
                </c:pt>
                <c:pt idx="26">
                  <c:v>1500</c:v>
                </c:pt>
                <c:pt idx="27">
                  <c:v>1500</c:v>
                </c:pt>
                <c:pt idx="28">
                  <c:v>1500</c:v>
                </c:pt>
                <c:pt idx="29">
                  <c:v>1500</c:v>
                </c:pt>
                <c:pt idx="30">
                  <c:v>1500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one"/>
        <c:spPr>
          <a:ln w="7620">
            <a:solidFill>
              <a:srgbClr val="FFFFFF"/>
            </a:solidFill>
          </a:ln>
        </c:spPr>
        <c:txPr>
          <a:bodyPr/>
          <a:lstStyle/>
          <a:p>
            <a:pPr>
              <a:defRPr sz="900">
                <a:solidFill>
                  <a:srgbClr val="FFFFFF"/>
                </a:solidFill>
                <a:latin typeface="DM Mono"/>
              </a:defRPr>
            </a:pPr>
          </a:p>
        </c:txPr>
        <c:crossAx val="2140495176"/>
        <c:crosses val="autoZero"/>
        <c:auto val="1"/>
        <c:lblAlgn val="ctr"/>
        <c:lblOffset val="100"/>
        <c:noMultiLvlLbl val="0"/>
        <c:tickLblSkip val="6"/>
        <c:tickMarkSkip val="6"/>
      </c:catAx>
      <c:valAx>
        <c:axId val="2140495176"/>
        <c:scaling>
          <c:max val="1800.0"/>
          <c:min val="0.0"/>
        </c:scaling>
        <c:delete val="0"/>
        <c:axPos val="l"/>
        <c:majorGridlines>
          <c:spPr>
            <a:ln w="6350">
              <a:solidFill>
                <a:srgbClr val="FFFFFF">
                  <a:alpha val="18000"/>
                </a:srgbClr>
              </a:solidFill>
            </a:ln>
          </c:spPr>
        </c:majorGridlines>
        <c:numFmt formatCode="0" sourceLinked="0"/>
        <c:majorTickMark val="none"/>
        <c:minorTickMark val="none"/>
        <c:tickLblPos val="nextTo"/>
        <c:spPr>
          <a:ln w="7620">
            <a:solidFill>
              <a:srgbClr val="FFFFFF"/>
            </a:solidFill>
          </a:ln>
        </c:spPr>
        <c:txPr>
          <a:bodyPr/>
          <a:lstStyle/>
          <a:p>
            <a:pPr>
              <a:defRPr sz="900">
                <a:solidFill>
                  <a:srgbClr val="FFFFFF"/>
                </a:solidFill>
                <a:latin typeface="DM Mono"/>
              </a:defRPr>
            </a:pPr>
          </a:p>
        </c:txPr>
        <c:crossAx val="2118791784"/>
        <c:crosses val="autoZero"/>
        <c:majorUnit val="900.0"/>
      </c:valAx>
      <c:spPr>
        <a:noFill/>
        <a:ln>
          <a:noFill/>
        </a:ln>
      </c:spPr>
    </c:plotArea>
    <c:plotVisOnly val="1"/>
    <c:dispBlanksAs val="gap"/>
    <c:showDLblsOverMax val="0"/>
  </c:chart>
  <c:txPr>
    <a:bodyPr/>
    <a:lstStyle/>
    <a:p>
      <a:pPr>
        <a:defRPr sz="1800"/>
      </a:pPr>
      <a:endParaRPr lang="en-US"/>
    </a:p>
  </c:txPr>
  <c:externalData r:id="rId1">
    <c:autoUpdate val="0"/>
  </c:externalData>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25 SECONDS · 0:00–0:25</a:t>
            </a:r>
          </a:p>
          <a:p/>
          <a:p>
            <a:r>
              <a:t>Good morning. We are Francis, Avaneesh, Affan and Vivek from RV University. This is ShockTwin: see the supply shock coming, borrow the capacity to survive it. Imagine a supplier map that can reveal the dependency nobody showed you, rehearse its failure, and help you approve a practical response before your production line stops.</a:t>
            </a:r>
          </a:p>
          <a:p/>
          <a:p>
            <a:r>
              <a:t>SOURCE / QUALIFICATION (not additional spoken copy):</a:t>
            </a:r>
          </a:p>
          <a:p>
            <a:r>
              <a:t>Event, team and product: supplied brief · P-ID P2012988948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35 SECONDS · 0:25–1:00</a:t>
            </a:r>
          </a:p>
          <a:p/>
          <a:p>
            <a:r>
              <a:t>In March 2021, fire hit Renesas, a firm supplying about thirty percent of automotive microcontrollers. That concentration exposed how one upstream facility could affect many manufacturers. Separately, AlixPartners estimated the entire 2021 chip shortage cost automakers two hundred and ten billion dollars and seven point seven million vehicles. We are not attributing that whole loss to one fire. The lesson is that a small-looking upstream dependency can become a system-wide production problem.</a:t>
            </a:r>
          </a:p>
          <a:p/>
          <a:p>
            <a:r>
              <a:t>SOURCE / QUALIFICATION (not additional spoken copy):</a:t>
            </a:r>
          </a:p>
          <a:p>
            <a:r>
              <a:t>Reuters, Mar 2021 · AlixPartners, Sep 2021 · Overall shortage impact, not fire-only loss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30 SECONDS · 1:00–1:30</a:t>
            </a:r>
          </a:p>
          <a:p/>
          <a:p>
            <a:r>
              <a:t>Yet visibility is moving in the wrong direction. McKinsey's survey reports visibility beyond tier one falling from fifty-six percent in 2022, to thirty-seven percent, to thirty percent in 2024. This is not a forecast; it is the published survey series. If a purchasing dashboard stops at direct suppliers, it can display several alternatives while missing the single upstream dependency that makes them fail together.</a:t>
            </a:r>
          </a:p>
          <a:p/>
          <a:p>
            <a:r>
              <a:t>SOURCE / QUALIFICATION (not additional spoken copy):</a:t>
            </a:r>
          </a:p>
          <a:p>
            <a:r>
              <a:t>McKinsey Supply Chain Risk Survey 2024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30 SECONDS · 1:30–2:00</a:t>
            </a:r>
          </a:p>
          <a:p/>
          <a:p>
            <a:r>
              <a:t>The iceberg is the problem. About two-thirds of disruptions originate at tier two or deeper, according to McKinsey. Only about ten percent of firms see their tier-three suppliers, and the average response to a new disruption is about two weeks. These measures come from different published observations, not one experiment. ShockTwin asks a practical question: can a buyer identify a consequential hidden dependency and act while inventory still gives them time?</a:t>
            </a:r>
          </a:p>
          <a:p/>
          <a:p>
            <a:r>
              <a:t>SOURCE / QUALIFICATION (not additional spoken copy):</a:t>
            </a:r>
          </a:p>
          <a:p>
            <a:r>
              <a:t>McKinsey [report details VERIFY] · McKinsey 2022 · McKinsey Supply Chain Risk Survey 2024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30 SECONDS · 2:00–2:30</a:t>
            </a:r>
          </a:p>
          <a:p/>
          <a:p>
            <a:r>
              <a:t>The Red Sea illustrates how a distant route becomes a local cost. The sea was disrupted, not literally closed. UNCTAD reports Suez traffic down fifty-seven percent from its peak by October 2024 and Shanghai–Europe spot rates up two hundred and fifty-six percent. Reuters reported India–Europe container costs moving from about six hundred to fifteen hundred dollars in January. Different periods, different measures, one message: geography does not contain supply-chain consequences.</a:t>
            </a:r>
          </a:p>
          <a:p/>
          <a:p>
            <a:r>
              <a:t>SOURCE / QUALIFICATION (not additional spoken copy):</a:t>
            </a:r>
          </a:p>
          <a:p>
            <a:r>
              <a:t>Reuters, Jan 2024 · UNCTAD, 2024 · Different measures and periods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30 SECONDS · 2:30–3:00</a:t>
            </a:r>
          </a:p>
          <a:p/>
          <a:p>
            <a:r>
              <a:t>There is a useful counterexample. After 2011, Toyota mapped about fifteen hundred critical parts. During the chip crisis it kept US production near ninety percent, while GM cut about two hundred and seventy-eight thousand units. The cited reporting does not prove that mapping alone caused that difference. It shows why upstream knowledge deserves attention. Our aim is to make mapping actionable through a connected warning, rehearsal and response workflow.</a:t>
            </a:r>
          </a:p>
          <a:p/>
          <a:p>
            <a:r>
              <a:t>SOURCE / QUALIFICATION (not additional spoken copy):</a:t>
            </a:r>
          </a:p>
          <a:p>
            <a:r>
              <a:t>Bloomberg, Apr 2021 · Fortune, Jan 2022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20 SECONDS · 3:00–3:20</a:t>
            </a:r>
          </a:p>
          <a:p/>
          <a:p>
            <a:r>
              <a:t>Meet ShockTwin. Detect proposes hidden upstream links. Simulate translates a shock into material and order consequences. Respond brings CapacityMesh into that same workflow, finding spare capacity and preparing an action for human approval. We are demonstrating one product, with one continuous decision loop, rather than two disconnected tools.</a:t>
            </a:r>
          </a:p>
          <a:p/>
          <a:p>
            <a:r>
              <a:t>SOURCE / QUALIFICATION (not additional spoken copy):</a:t>
            </a:r>
          </a:p>
          <a:p>
            <a:r>
              <a:t>Product workflow: supplied brief · Implementation: repository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40 SECONDS · 3:20–4:00</a:t>
            </a:r>
          </a:p>
          <a:p/>
          <a:p>
            <a:r>
              <a:t>Meet Priya, our illustrative procurement head at a Bengaluru auto-parts manufacturer. She starts with five immediate suppliers. We run the model and reveal a candidate shared resin plant behind three of them. The dashed edges carry actual synthetic-model scores and evidence; they are hypotheses, not verified commercial relationships. Priya can confirm or reject them. Our GraphSAGE model is trained on synthetic data; its measured test results are labelled accordingly. The research basis is supplier-network link prediction by Kosasih and Brintrup, not a borrowed accuracy claim.</a:t>
            </a:r>
          </a:p>
          <a:p/>
          <a:p>
            <a:r>
              <a:t>SOURCE / QUALIFICATION (not additional spoken copy):</a:t>
            </a:r>
          </a:p>
          <a:p>
            <a:r>
              <a:t>Illustrative local demo · Synthetic GraphSAGE scores · Kosasih &amp; Brintrup, IJPR 2022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45 SECONDS · 4:00–4:45</a:t>
            </a:r>
          </a:p>
          <a:p/>
          <a:p>
            <a:r>
              <a:t>Now we rehearse the cyclone. This is the real simulator, using illustrative inputs: eighteen hundred resin units and demand of one hundred units per day. Under the default full-loss shock, baseline stock reaches zero on day eighteen. Switch on replacement flow after day three, and the curve holds at fifteen hundred units because replacement covers daily demand. That avoids a line stop through this displayed horizon. It is conditional on timing, volume and availability, not a promise of endless continuity. We can change severity, duration and switch timing to see where the plan fails.</a:t>
            </a:r>
          </a:p>
          <a:p/>
          <a:p>
            <a:r>
              <a:t>SOURCE / QUALIFICATION (not additional spoken copy):</a:t>
            </a:r>
          </a:p>
          <a:p>
            <a:r>
              <a:t>Illustrative local simulation · Assumptions and real app result in screenshot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45 SECONDS · 4:45–5:30</a:t>
            </a:r>
          </a:p>
          <a:p/>
          <a:p>
            <a:r>
              <a:t>CapacityMesh is the response step. We request suitable moulding capacity, inspect the eligible matches and see exactly how capability, distance, volume, lead time and price band affect ranking. Only minimal capacity envelopes are public; raw transactions stay private. Priya drafts a purchase order, reviews it in the inbox and approves it, leaving an audit trail. The local ERP is explicitly a mock. India's empty-running and utilisation figures suggest capacity worth investigating, while the ventilator collaboration shows precedent. They do not prove every idle asset is usable, and our minutes headline describes the demonstrated workflow, not physical production activation.</a:t>
            </a:r>
          </a:p>
          <a:p/>
          <a:p>
            <a:r>
              <a:t>SOURCE / QUALIFICATION (not additional spoken copy):</a:t>
            </a:r>
          </a:p>
          <a:p>
            <a:r>
              <a:t>DPIIT–NCAER 2025 · RBI OBICUS Q1 2026–27 [VERIFY] · COVID case source [VERIFY]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35 SECONDS · 5:30–6:05</a:t>
            </a:r>
          </a:p>
          <a:p/>
          <a:p>
            <a:r>
              <a:t>The target platform is SAP BTP. SAPUI5 provides the Horizon interface; CAP owns the domain services; HANA Cloud holds graph, vector and relational data; AI Core and AI Launchpad host the model; and Generative AI Hub supports bounded explanations. Integration Suite connects enterprise and external sources, while Build Process Automation routes approval. Today the complete local flow runs with SQLite and explicit mocks. Live SAP service bindings and purchasing semantics still require verification. Human authorization remains the final control.</a:t>
            </a:r>
          </a:p>
          <a:p/>
          <a:p>
            <a:r>
              <a:t>SOURCE / QUALIFICATION (not additional spoken copy):</a:t>
            </a:r>
          </a:p>
          <a:p>
            <a:r>
              <a:t>SAP target architecture: project design · Live cloud integration [VERIFY]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25 SECONDS · 6:05–6:30</a:t>
            </a:r>
          </a:p>
          <a:p/>
          <a:p>
            <a:r>
              <a:t>We followed the five Design Thinking phases honestly. Empathy currently comes from published cases and our Priya persona, not completed interviews. We defined the hidden-dependency and response gap, explored a connected loop, built the prototype and tested its engineering flow. Next come interviews and a real cluster pilot. We will not present automated tests as customer validation.</a:t>
            </a:r>
          </a:p>
          <a:p/>
          <a:p>
            <a:r>
              <a:t>SOURCE / QUALIFICATION (not additional spoken copy):</a:t>
            </a:r>
          </a:p>
          <a:p>
            <a:r>
              <a:t>Project process record · Published cases and persona; interviews planned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30 SECONDS · 6:30–7:00</a:t>
            </a:r>
          </a:p>
          <a:p/>
          <a:p>
            <a:r>
              <a:t>The stakes are substantial, but these are published context, not our results. McKinsey estimates month-long disruptions about every three point seven years and decade losses around forty-five percent of one year's profits. The brief also supplies collaboration-study reductions in lead time and transport cost; their original studies still need verification. We will measure ShockTwin by warning gained, mitigation time, qualified matches and completed human decisions, rather than borrow those percentages as promised savings.</a:t>
            </a:r>
          </a:p>
          <a:p/>
          <a:p>
            <a:r>
              <a:t>SOURCE / QUALIFICATION (not additional spoken copy):</a:t>
            </a:r>
          </a:p>
          <a:p>
            <a:r>
              <a:t>MGI 2020 · Collaboration studies from brief [original sources VERIFY] · Not product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30 SECONDS · 7:00–7:30</a:t>
            </a:r>
          </a:p>
          <a:p/>
          <a:p>
            <a:r>
              <a:t>We want to make this workflow real for one Bengaluru auto-parts cluster: a BTP-connected prototype, authorized data, qualified capacity providers and a measured pilot. Our closing line is an aspiration, not a guarantee that every surprise disappears. ShockTwin helps teams see the supply shock coming and borrow the capacity to survive it. We are Francis, Avaneesh, Affan and Vivek. Thank you.</a:t>
            </a:r>
          </a:p>
          <a:p/>
          <a:p>
            <a:r>
              <a:t>SOURCE / QUALIFICATION (not additional spoken copy):</a:t>
            </a:r>
          </a:p>
          <a:p>
            <a:r>
              <a:t>Team, P-ID and proposed next step: supplied brief · Pilot commitment [VERIFY]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chart" Target="../charts/char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chart" Target="../charts/char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image" Target="../media/image72.png"/><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77.png"/><Relationship Id="rId7" Type="http://schemas.openxmlformats.org/officeDocument/2006/relationships/image" Target="../media/image78.png"/><Relationship Id="rId8" Type="http://schemas.openxmlformats.org/officeDocument/2006/relationships/image" Target="../media/image79.png"/><Relationship Id="rId9" Type="http://schemas.openxmlformats.org/officeDocument/2006/relationships/image" Target="../media/image80.png"/><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01.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cxnSp>
        <p:nvCxnSpPr>
          <p:cNvPr id="8" name="Connector 7"/>
          <p:cNvCxnSpPr/>
          <p:nvPr/>
        </p:nvCxnSpPr>
        <p:spPr>
          <a:xfrm>
            <a:off x="6400800" y="1014984"/>
            <a:ext cx="123444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sp>
        <p:nvSpPr>
          <p:cNvPr id="9"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sp>
        <p:nvSpPr>
          <p:cNvPr id="10"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sp>
        <p:nvSpPr>
          <p:cNvPr id="11"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pic>
        <p:nvPicPr>
          <p:cNvPr id="12" name="Picture 11" descr="01-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01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01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Event, team and product: supplied brief · P-ID P2012988948"/>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Event, team and product: supplied brief · P-ID P2012988948</a:t>
            </a:r>
          </a:p>
        </p:txBody>
      </p:sp>
      <p:pic>
        <p:nvPicPr>
          <p:cNvPr id="19" name="Picture 18" descr="01-eyebrow-17.png"/>
          <p:cNvPicPr>
            <a:picLocks noChangeAspect="1"/>
          </p:cNvPicPr>
          <p:nvPr/>
        </p:nvPicPr>
        <p:blipFill>
          <a:blip r:embed="rId4"/>
          <a:stretch>
            <a:fillRect/>
          </a:stretch>
        </p:blipFill>
        <p:spPr>
          <a:xfrm>
            <a:off x="731520" y="1417320"/>
            <a:ext cx="1727400" cy="420624"/>
          </a:xfrm>
          <a:prstGeom prst="rect">
            <a:avLst/>
          </a:prstGeom>
        </p:spPr>
      </p:pic>
      <p:sp>
        <p:nvSpPr>
          <p:cNvPr id="20" name="Native editable glass border: eyebrow"/>
          <p:cNvSpPr/>
          <p:nvPr/>
        </p:nvSpPr>
        <p:spPr>
          <a:xfrm>
            <a:off x="731520" y="1417320"/>
            <a:ext cx="1727400"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01 · VISION"/>
          <p:cNvSpPr txBox="1"/>
          <p:nvPr/>
        </p:nvSpPr>
        <p:spPr>
          <a:xfrm>
            <a:off x="1106424" y="1536192"/>
            <a:ext cx="1224480"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01 · VISION</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10528"/>
              </a:lnSpc>
              <a:spcBef>
                <a:spcPts val="0"/>
              </a:spcBef>
              <a:spcAft>
                <a:spcPts val="0"/>
              </a:spcAft>
            </a:pPr>
            <a:r>
              <a:rPr sz="11200" i="0">
                <a:solidFill>
                  <a:srgbClr val="FFFFFF"/>
                </a:solidFill>
                <a:latin typeface="Instrument Serif"/>
              </a:rPr>
              <a:t>See </a:t>
            </a:r>
            <a:r>
              <a:rPr sz="11200" i="0">
                <a:solidFill>
                  <a:srgbClr val="FFFFFF"/>
                </a:solidFill>
                <a:latin typeface="Instrument Serif"/>
              </a:rPr>
              <a:t>the </a:t>
            </a:r>
            <a:r>
              <a:rPr sz="11200" i="0">
                <a:solidFill>
                  <a:srgbClr val="FFFFFF"/>
                </a:solidFill>
                <a:latin typeface="Instrument Serif"/>
              </a:rPr>
              <a:t>shock</a:t>
            </a:r>
          </a:p>
          <a:p>
            <a:pPr>
              <a:lnSpc>
                <a:spcPts val="10528"/>
              </a:lnSpc>
              <a:spcBef>
                <a:spcPts val="0"/>
              </a:spcBef>
              <a:spcAft>
                <a:spcPts val="0"/>
              </a:spcAft>
            </a:pPr>
            <a:r>
              <a:rPr sz="11200" i="1">
                <a:solidFill>
                  <a:srgbClr val="FFB05C"/>
                </a:solidFill>
                <a:latin typeface="Instrument Serif"/>
              </a:rPr>
              <a:t>before </a:t>
            </a:r>
            <a:r>
              <a:rPr sz="11200" i="1">
                <a:solidFill>
                  <a:srgbClr val="FFB05C"/>
                </a:solidFill>
                <a:latin typeface="Instrument Serif"/>
              </a:rPr>
              <a:t>it </a:t>
            </a:r>
            <a:r>
              <a:rPr sz="11200" i="1">
                <a:solidFill>
                  <a:srgbClr val="FFB05C"/>
                </a:solidFill>
                <a:latin typeface="Instrument Serif"/>
              </a:rPr>
              <a:t>hits.</a:t>
            </a:r>
          </a:p>
        </p:txBody>
      </p:sp>
      <p:sp>
        <p:nvSpPr>
          <p:cNvPr id="24" name="single supporting sentence: See the supply shock coming; borrow the capacity to survive it."/>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See the supply shock coming; borrow the capacity to</a:t>
            </a:r>
          </a:p>
          <a:p>
            <a:pPr algn="l">
              <a:lnSpc>
                <a:spcPts val="2645"/>
              </a:lnSpc>
              <a:spcBef>
                <a:spcPts val="0"/>
              </a:spcBef>
              <a:spcAft>
                <a:spcPts val="0"/>
              </a:spcAft>
            </a:pPr>
            <a:r>
              <a:rPr sz="2300" b="0" i="0">
                <a:solidFill>
                  <a:srgbClr val="FFFFFF"/>
                </a:solidFill>
                <a:latin typeface="Inter"/>
              </a:rPr>
              <a:t>survive it.</a:t>
            </a:r>
          </a:p>
        </p:txBody>
      </p:sp>
      <p:pic>
        <p:nvPicPr>
          <p:cNvPr id="25" name="Picture 24" descr="01-product-23.png"/>
          <p:cNvPicPr>
            <a:picLocks noChangeAspect="1"/>
          </p:cNvPicPr>
          <p:nvPr/>
        </p:nvPicPr>
        <p:blipFill>
          <a:blip r:embed="rId5"/>
          <a:stretch>
            <a:fillRect/>
          </a:stretch>
        </p:blipFill>
        <p:spPr>
          <a:xfrm>
            <a:off x="777240" y="7452360"/>
            <a:ext cx="7909560" cy="1664208"/>
          </a:xfrm>
          <a:prstGeom prst="rect">
            <a:avLst/>
          </a:prstGeom>
        </p:spPr>
      </p:pic>
      <p:sp>
        <p:nvSpPr>
          <p:cNvPr id="26" name="Native editable glass border: product"/>
          <p:cNvSpPr/>
          <p:nvPr/>
        </p:nvSpPr>
        <p:spPr>
          <a:xfrm>
            <a:off x="777240" y="7452360"/>
            <a:ext cx="7909560" cy="1664208"/>
          </a:xfrm>
          <a:prstGeom prst="roundRect">
            <a:avLst>
              <a:gd name="adj" fmla="val 1373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ard label: PRODUCT"/>
          <p:cNvSpPr txBox="1"/>
          <p:nvPr/>
        </p:nvSpPr>
        <p:spPr>
          <a:xfrm>
            <a:off x="1005840" y="7635240"/>
            <a:ext cx="7406640" cy="274320"/>
          </a:xfrm>
          <a:prstGeom prst="rect">
            <a:avLst/>
          </a:prstGeom>
          <a:noFill/>
        </p:spPr>
        <p:txBody>
          <a:bodyPr wrap="square" lIns="0" rIns="0" tIns="0" bIns="0" anchor="t">
            <a:spAutoFit/>
          </a:bodyPr>
          <a:lstStyle/>
          <a:p>
            <a:pPr algn="l">
              <a:lnSpc>
                <a:spcPts val="1456"/>
              </a:lnSpc>
              <a:spcBef>
                <a:spcPts val="0"/>
              </a:spcBef>
              <a:spcAft>
                <a:spcPts val="0"/>
              </a:spcAft>
            </a:pPr>
            <a:r>
              <a:rPr sz="1300" b="0" i="0">
                <a:solidFill>
                  <a:srgbClr val="FFFFFF"/>
                </a:solidFill>
                <a:latin typeface="DM Mono"/>
              </a:rPr>
              <a:t>PRODUCT</a:t>
            </a:r>
          </a:p>
        </p:txBody>
      </p:sp>
      <p:sp>
        <p:nvSpPr>
          <p:cNvPr id="28" name="product name: ShockTwin"/>
          <p:cNvSpPr txBox="1"/>
          <p:nvPr/>
        </p:nvSpPr>
        <p:spPr>
          <a:xfrm>
            <a:off x="1005840" y="8065008"/>
            <a:ext cx="7406640" cy="521207"/>
          </a:xfrm>
          <a:prstGeom prst="rect">
            <a:avLst/>
          </a:prstGeom>
          <a:noFill/>
        </p:spPr>
        <p:txBody>
          <a:bodyPr wrap="square" lIns="0" rIns="0" tIns="0" bIns="0" anchor="t">
            <a:spAutoFit/>
          </a:bodyPr>
          <a:lstStyle/>
          <a:p>
            <a:pPr algn="l">
              <a:lnSpc>
                <a:spcPts val="4032"/>
              </a:lnSpc>
              <a:spcBef>
                <a:spcPts val="0"/>
              </a:spcBef>
              <a:spcAft>
                <a:spcPts val="0"/>
              </a:spcAft>
            </a:pPr>
            <a:r>
              <a:rPr sz="3600" b="0" i="0">
                <a:solidFill>
                  <a:srgbClr val="FFFFFF"/>
                </a:solidFill>
                <a:latin typeface="Inter"/>
              </a:rPr>
              <a:t>ShockTwin</a:t>
            </a:r>
          </a:p>
        </p:txBody>
      </p:sp>
      <p:sp>
        <p:nvSpPr>
          <p:cNvPr id="29" name="card source: Detect · Simulate · Respond · supplied brief"/>
          <p:cNvSpPr txBox="1"/>
          <p:nvPr/>
        </p:nvSpPr>
        <p:spPr>
          <a:xfrm>
            <a:off x="1005840" y="8750808"/>
            <a:ext cx="7315200" cy="365760"/>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Detect · Simulate · Respond · supplied brief</a:t>
            </a:r>
          </a:p>
        </p:txBody>
      </p:sp>
      <p:pic>
        <p:nvPicPr>
          <p:cNvPr id="30" name="Picture 29" descr="01-team-28.png"/>
          <p:cNvPicPr>
            <a:picLocks noChangeAspect="1"/>
          </p:cNvPicPr>
          <p:nvPr/>
        </p:nvPicPr>
        <p:blipFill>
          <a:blip r:embed="rId6"/>
          <a:stretch>
            <a:fillRect/>
          </a:stretch>
        </p:blipFill>
        <p:spPr>
          <a:xfrm>
            <a:off x="11018520" y="7589520"/>
            <a:ext cx="6446520" cy="1527048"/>
          </a:xfrm>
          <a:prstGeom prst="rect">
            <a:avLst/>
          </a:prstGeom>
        </p:spPr>
      </p:pic>
      <p:sp>
        <p:nvSpPr>
          <p:cNvPr id="31" name="Native editable glass border: team"/>
          <p:cNvSpPr/>
          <p:nvPr/>
        </p:nvSpPr>
        <p:spPr>
          <a:xfrm>
            <a:off x="11018520" y="7589520"/>
            <a:ext cx="6446520" cy="1527048"/>
          </a:xfrm>
          <a:prstGeom prst="roundRect">
            <a:avLst>
              <a:gd name="adj" fmla="val 1497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ard label: TEAM · RV UNIVERSITY"/>
          <p:cNvSpPr txBox="1"/>
          <p:nvPr/>
        </p:nvSpPr>
        <p:spPr>
          <a:xfrm>
            <a:off x="11247120" y="7763256"/>
            <a:ext cx="5989320" cy="274320"/>
          </a:xfrm>
          <a:prstGeom prst="rect">
            <a:avLst/>
          </a:prstGeom>
          <a:noFill/>
        </p:spPr>
        <p:txBody>
          <a:bodyPr wrap="square" lIns="0" rIns="0" tIns="0" bIns="0" anchor="t">
            <a:spAutoFit/>
          </a:bodyPr>
          <a:lstStyle/>
          <a:p>
            <a:pPr algn="l">
              <a:lnSpc>
                <a:spcPts val="1456"/>
              </a:lnSpc>
              <a:spcBef>
                <a:spcPts val="0"/>
              </a:spcBef>
              <a:spcAft>
                <a:spcPts val="0"/>
              </a:spcAft>
            </a:pPr>
            <a:r>
              <a:rPr sz="1300" b="0" i="0">
                <a:solidFill>
                  <a:srgbClr val="FFFFFF"/>
                </a:solidFill>
                <a:latin typeface="DM Mono"/>
              </a:rPr>
              <a:t>TEAM · RV UNIVERSITY</a:t>
            </a:r>
          </a:p>
        </p:txBody>
      </p:sp>
      <p:sp>
        <p:nvSpPr>
          <p:cNvPr id="33" name="team: Francis Reuben R · Avaneesh&#10;Affan · Vivek"/>
          <p:cNvSpPr txBox="1"/>
          <p:nvPr/>
        </p:nvSpPr>
        <p:spPr>
          <a:xfrm>
            <a:off x="11247120" y="8174736"/>
            <a:ext cx="5989320" cy="640080"/>
          </a:xfrm>
          <a:prstGeom prst="rect">
            <a:avLst/>
          </a:prstGeom>
          <a:noFill/>
        </p:spPr>
        <p:txBody>
          <a:bodyPr wrap="square" lIns="0" rIns="0" tIns="0" bIns="0" anchor="t">
            <a:spAutoFit/>
          </a:bodyPr>
          <a:lstStyle/>
          <a:p>
            <a:pPr algn="l">
              <a:lnSpc>
                <a:spcPts val="2464"/>
              </a:lnSpc>
              <a:spcBef>
                <a:spcPts val="0"/>
              </a:spcBef>
              <a:spcAft>
                <a:spcPts val="0"/>
              </a:spcAft>
            </a:pPr>
            <a:r>
              <a:rPr sz="2200" b="0" i="0">
                <a:solidFill>
                  <a:srgbClr val="FFFFFF"/>
                </a:solidFill>
                <a:latin typeface="Inter"/>
              </a:rPr>
              <a:t>Francis Reuben R · Avaneesh</a:t>
            </a:r>
          </a:p>
          <a:p>
            <a:pPr algn="l">
              <a:lnSpc>
                <a:spcPts val="2464"/>
              </a:lnSpc>
              <a:spcBef>
                <a:spcPts val="0"/>
              </a:spcBef>
              <a:spcAft>
                <a:spcPts val="0"/>
              </a:spcAft>
            </a:pPr>
            <a:r>
              <a:rPr sz="2200" b="0" i="0">
                <a:solidFill>
                  <a:srgbClr val="FFFFFF"/>
                </a:solidFill>
                <a:latin typeface="Inter"/>
              </a:rPr>
              <a:t>Affan · Vivek</a:t>
            </a:r>
          </a:p>
        </p:txBody>
      </p:sp>
      <p:cxnSp>
        <p:nvCxnSpPr>
          <p:cNvPr id="34" name="Connector 33"/>
          <p:cNvCxnSpPr/>
          <p:nvPr/>
        </p:nvCxnSpPr>
        <p:spPr>
          <a:xfrm flipH="1">
            <a:off x="10241280" y="4526280"/>
            <a:ext cx="3931920" cy="2496312"/>
          </a:xfrm>
          <a:prstGeom prst="line">
            <a:avLst/>
          </a:prstGeom>
          <a:ln w="19050">
            <a:solidFill>
              <a:srgbClr val="FFFFFF">
                <a:alpha val="80000"/>
              </a:srgbClr>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8485632" y="7022592"/>
            <a:ext cx="1755648" cy="548639"/>
          </a:xfrm>
          <a:prstGeom prst="line">
            <a:avLst/>
          </a:prstGeom>
          <a:ln w="19050">
            <a:solidFill>
              <a:srgbClr val="FFFFFF">
                <a:alpha val="80000"/>
              </a:srgbClr>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14077188" y="4430268"/>
            <a:ext cx="192024" cy="192024"/>
          </a:xfrm>
          <a:prstGeom prst="ellipse">
            <a:avLst/>
          </a:prstGeom>
          <a:noFill/>
          <a:ln w="15240">
            <a:solidFill>
              <a:srgbClr val="FFFFFF">
                <a:alpha val="8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4139367" y="4492447"/>
            <a:ext cx="67665" cy="67665"/>
          </a:xfrm>
          <a:prstGeom prst="ellipse">
            <a:avLst/>
          </a:pr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02.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cxnSp>
        <p:nvCxnSpPr>
          <p:cNvPr id="8" name="Connector 7"/>
          <p:cNvCxnSpPr/>
          <p:nvPr/>
        </p:nvCxnSpPr>
        <p:spPr>
          <a:xfrm>
            <a:off x="6400800" y="1014984"/>
            <a:ext cx="123444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sp>
        <p:nvSpPr>
          <p:cNvPr id="9"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sp>
        <p:nvSpPr>
          <p:cNvPr id="10"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sp>
        <p:nvSpPr>
          <p:cNvPr id="11"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pic>
        <p:nvPicPr>
          <p:cNvPr id="12" name="Picture 11" descr="02-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02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02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Reuters, Mar 2021 · AlixPartners, Sep 2021 · Overall shortage impact, "/>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Reuters, Mar 2021 · AlixPartners, Sep 2021 · Overall shortage impact, not fire-only loss</a:t>
            </a:r>
          </a:p>
        </p:txBody>
      </p:sp>
      <p:pic>
        <p:nvPicPr>
          <p:cNvPr id="19" name="Picture 18" descr="02-eyebrow-17.png"/>
          <p:cNvPicPr>
            <a:picLocks noChangeAspect="1"/>
          </p:cNvPicPr>
          <p:nvPr/>
        </p:nvPicPr>
        <p:blipFill>
          <a:blip r:embed="rId4"/>
          <a:stretch>
            <a:fillRect/>
          </a:stretch>
        </p:blipFill>
        <p:spPr>
          <a:xfrm>
            <a:off x="731520" y="1417320"/>
            <a:ext cx="1921769" cy="420624"/>
          </a:xfrm>
          <a:prstGeom prst="rect">
            <a:avLst/>
          </a:prstGeom>
        </p:spPr>
      </p:pic>
      <p:sp>
        <p:nvSpPr>
          <p:cNvPr id="20" name="Native editable glass border: eyebrow"/>
          <p:cNvSpPr/>
          <p:nvPr/>
        </p:nvSpPr>
        <p:spPr>
          <a:xfrm>
            <a:off x="731520" y="1417320"/>
            <a:ext cx="1921769"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02 · THE COST"/>
          <p:cNvSpPr txBox="1"/>
          <p:nvPr/>
        </p:nvSpPr>
        <p:spPr>
          <a:xfrm>
            <a:off x="1106424" y="1536192"/>
            <a:ext cx="1418849"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02 · THE COST</a:t>
            </a:r>
          </a:p>
        </p:txBody>
      </p:sp>
      <p:pic>
        <p:nvPicPr>
          <p:cNvPr id="23" name="Picture 22" descr="02-overall-shortage-headline-21.png"/>
          <p:cNvPicPr>
            <a:picLocks noChangeAspect="1"/>
          </p:cNvPicPr>
          <p:nvPr/>
        </p:nvPicPr>
        <p:blipFill>
          <a:blip r:embed="rId5"/>
          <a:stretch>
            <a:fillRect/>
          </a:stretch>
        </p:blipFill>
        <p:spPr>
          <a:xfrm>
            <a:off x="576072" y="1984248"/>
            <a:ext cx="8732520" cy="3456432"/>
          </a:xfrm>
          <a:prstGeom prst="rect">
            <a:avLst/>
          </a:prstGeom>
        </p:spPr>
      </p:pic>
      <p:sp>
        <p:nvSpPr>
          <p:cNvPr id="24" name="Native editable glass border: overall-shortage-headline"/>
          <p:cNvSpPr/>
          <p:nvPr/>
        </p:nvSpPr>
        <p:spPr>
          <a:xfrm>
            <a:off x="576072" y="1984248"/>
            <a:ext cx="8732520" cy="3456432"/>
          </a:xfrm>
          <a:prstGeom prst="roundRect">
            <a:avLst>
              <a:gd name="adj" fmla="val 6613"/>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eadline context: OVERALL CHIP SHORTAGE · 2021"/>
          <p:cNvSpPr txBox="1"/>
          <p:nvPr/>
        </p:nvSpPr>
        <p:spPr>
          <a:xfrm>
            <a:off x="804672" y="2157984"/>
            <a:ext cx="8046720" cy="256032"/>
          </a:xfrm>
          <a:prstGeom prst="rect">
            <a:avLst/>
          </a:prstGeom>
          <a:noFill/>
        </p:spPr>
        <p:txBody>
          <a:bodyPr wrap="square" lIns="0" rIns="0" tIns="0" bIns="0" anchor="t">
            <a:spAutoFit/>
          </a:bodyPr>
          <a:lstStyle/>
          <a:p>
            <a:pPr algn="l">
              <a:lnSpc>
                <a:spcPts val="1456"/>
              </a:lnSpc>
              <a:spcBef>
                <a:spcPts val="0"/>
              </a:spcBef>
              <a:spcAft>
                <a:spcPts val="0"/>
              </a:spcAft>
            </a:pPr>
            <a:r>
              <a:rPr sz="1300" b="0" i="0">
                <a:solidFill>
                  <a:srgbClr val="FFFFFF"/>
                </a:solidFill>
                <a:latin typeface="DM Mono"/>
              </a:rPr>
              <a:t>OVERALL CHIP SHORTAGE · 2021</a:t>
            </a:r>
          </a:p>
        </p:txBody>
      </p:sp>
      <p:sp>
        <p:nvSpPr>
          <p:cNvPr id="26" name="Editable Instrument Serif headline"/>
          <p:cNvSpPr txBox="1"/>
          <p:nvPr/>
        </p:nvSpPr>
        <p:spPr>
          <a:xfrm>
            <a:off x="731520" y="2606040"/>
            <a:ext cx="8321040" cy="3931920"/>
          </a:xfrm>
          <a:prstGeom prst="rect">
            <a:avLst/>
          </a:prstGeom>
          <a:noFill/>
        </p:spPr>
        <p:txBody>
          <a:bodyPr wrap="none" lIns="0" rIns="0" tIns="0" bIns="0">
            <a:spAutoFit/>
          </a:bodyPr>
          <a:lstStyle/>
          <a:p>
            <a:pPr>
              <a:lnSpc>
                <a:spcPts val="10152"/>
              </a:lnSpc>
              <a:spcBef>
                <a:spcPts val="0"/>
              </a:spcBef>
              <a:spcAft>
                <a:spcPts val="0"/>
              </a:spcAft>
            </a:pPr>
            <a:r>
              <a:rPr sz="10800" i="0">
                <a:solidFill>
                  <a:srgbClr val="FFFFFF"/>
                </a:solidFill>
                <a:latin typeface="Instrument Serif"/>
              </a:rPr>
              <a:t>One </a:t>
            </a:r>
            <a:r>
              <a:rPr sz="10800" i="0">
                <a:solidFill>
                  <a:srgbClr val="FFFFFF"/>
                </a:solidFill>
                <a:latin typeface="Instrument Serif"/>
              </a:rPr>
              <a:t>fire.</a:t>
            </a:r>
          </a:p>
          <a:p>
            <a:pPr>
              <a:lnSpc>
                <a:spcPts val="10152"/>
              </a:lnSpc>
              <a:spcBef>
                <a:spcPts val="0"/>
              </a:spcBef>
              <a:spcAft>
                <a:spcPts val="0"/>
              </a:spcAft>
            </a:pPr>
            <a:r>
              <a:rPr sz="10800" i="1">
                <a:solidFill>
                  <a:srgbClr val="FFB05C"/>
                </a:solidFill>
                <a:latin typeface="Instrument Serif"/>
              </a:rPr>
              <a:t>$210 </a:t>
            </a:r>
            <a:r>
              <a:rPr sz="10800" i="1">
                <a:solidFill>
                  <a:srgbClr val="FFB05C"/>
                </a:solidFill>
                <a:latin typeface="Instrument Serif"/>
              </a:rPr>
              <a:t>billion </a:t>
            </a:r>
            <a:r>
              <a:rPr sz="10800" i="1">
                <a:solidFill>
                  <a:srgbClr val="FFB05C"/>
                </a:solidFill>
                <a:latin typeface="Instrument Serif"/>
              </a:rPr>
              <a:t>lost.</a:t>
            </a:r>
          </a:p>
        </p:txBody>
      </p:sp>
      <p:sp>
        <p:nvSpPr>
          <p:cNvPr id="27" name="single supporting sentence: The total reflects the overall chip shortage in 2021, not the loss att"/>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The total reflects the overall chip shortage in 2021, not the</a:t>
            </a:r>
          </a:p>
          <a:p>
            <a:pPr algn="l">
              <a:lnSpc>
                <a:spcPts val="2645"/>
              </a:lnSpc>
              <a:spcBef>
                <a:spcPts val="0"/>
              </a:spcBef>
              <a:spcAft>
                <a:spcPts val="0"/>
              </a:spcAft>
            </a:pPr>
            <a:r>
              <a:rPr sz="2300" b="0" i="0">
                <a:solidFill>
                  <a:srgbClr val="FFFFFF"/>
                </a:solidFill>
                <a:latin typeface="Inter"/>
              </a:rPr>
              <a:t>loss attributable to one fire.</a:t>
            </a:r>
          </a:p>
        </p:txBody>
      </p:sp>
      <p:pic>
        <p:nvPicPr>
          <p:cNvPr id="28" name="Picture 27" descr="02-vehicles-not-built-26.png"/>
          <p:cNvPicPr>
            <a:picLocks noChangeAspect="1"/>
          </p:cNvPicPr>
          <p:nvPr/>
        </p:nvPicPr>
        <p:blipFill>
          <a:blip r:embed="rId6"/>
          <a:stretch>
            <a:fillRect/>
          </a:stretch>
        </p:blipFill>
        <p:spPr>
          <a:xfrm>
            <a:off x="777240" y="7452360"/>
            <a:ext cx="3858768" cy="1783080"/>
          </a:xfrm>
          <a:prstGeom prst="rect">
            <a:avLst/>
          </a:prstGeom>
        </p:spPr>
      </p:pic>
      <p:sp>
        <p:nvSpPr>
          <p:cNvPr id="29" name="Native editable glass border: vehicles-not-built"/>
          <p:cNvSpPr/>
          <p:nvPr/>
        </p:nvSpPr>
        <p:spPr>
          <a:xfrm>
            <a:off x="777240" y="7452360"/>
            <a:ext cx="3858768"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atistic label: VEHICLES NOT BUILT"/>
          <p:cNvSpPr txBox="1"/>
          <p:nvPr/>
        </p:nvSpPr>
        <p:spPr>
          <a:xfrm>
            <a:off x="987552" y="7616952"/>
            <a:ext cx="343814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VEHICLES NOT BUILT</a:t>
            </a:r>
          </a:p>
        </p:txBody>
      </p:sp>
      <p:sp>
        <p:nvSpPr>
          <p:cNvPr id="31" name="editable statistic: 7.7M"/>
          <p:cNvSpPr txBox="1"/>
          <p:nvPr/>
        </p:nvSpPr>
        <p:spPr>
          <a:xfrm>
            <a:off x="987552" y="8092440"/>
            <a:ext cx="3438144" cy="868680"/>
          </a:xfrm>
          <a:prstGeom prst="rect">
            <a:avLst/>
          </a:prstGeom>
          <a:noFill/>
        </p:spPr>
        <p:txBody>
          <a:bodyPr wrap="square" lIns="0" rIns="0" tIns="0" bIns="0" anchor="t">
            <a:spAutoFit/>
          </a:bodyPr>
          <a:lstStyle/>
          <a:p>
            <a:pPr algn="l">
              <a:lnSpc>
                <a:spcPts val="5040"/>
              </a:lnSpc>
              <a:spcBef>
                <a:spcPts val="0"/>
              </a:spcBef>
              <a:spcAft>
                <a:spcPts val="0"/>
              </a:spcAft>
            </a:pPr>
            <a:r>
              <a:rPr sz="4800" b="0" i="0">
                <a:solidFill>
                  <a:srgbClr val="FFFFFF"/>
                </a:solidFill>
                <a:latin typeface="Silkscreen"/>
              </a:rPr>
              <a:t>7.7M</a:t>
            </a:r>
          </a:p>
        </p:txBody>
      </p:sp>
      <p:sp>
        <p:nvSpPr>
          <p:cNvPr id="32" name="card source: AlixPartners, Sep 2021"/>
          <p:cNvSpPr txBox="1"/>
          <p:nvPr/>
        </p:nvSpPr>
        <p:spPr>
          <a:xfrm>
            <a:off x="987552" y="8796528"/>
            <a:ext cx="343814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AlixPartners, Sep 2021</a:t>
            </a:r>
          </a:p>
        </p:txBody>
      </p:sp>
      <p:pic>
        <p:nvPicPr>
          <p:cNvPr id="33" name="Picture 32" descr="02-automotive-mcu-share-31.png"/>
          <p:cNvPicPr>
            <a:picLocks noChangeAspect="1"/>
          </p:cNvPicPr>
          <p:nvPr/>
        </p:nvPicPr>
        <p:blipFill>
          <a:blip r:embed="rId7"/>
          <a:stretch>
            <a:fillRect/>
          </a:stretch>
        </p:blipFill>
        <p:spPr>
          <a:xfrm>
            <a:off x="4864608" y="7452360"/>
            <a:ext cx="3858768" cy="1783080"/>
          </a:xfrm>
          <a:prstGeom prst="rect">
            <a:avLst/>
          </a:prstGeom>
        </p:spPr>
      </p:pic>
      <p:sp>
        <p:nvSpPr>
          <p:cNvPr id="34" name="Native editable glass border: automotive-mcu-share"/>
          <p:cNvSpPr/>
          <p:nvPr/>
        </p:nvSpPr>
        <p:spPr>
          <a:xfrm>
            <a:off x="4864608" y="7452360"/>
            <a:ext cx="3858768"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istic label: AUTOMOTIVE MCU SHARE"/>
          <p:cNvSpPr txBox="1"/>
          <p:nvPr/>
        </p:nvSpPr>
        <p:spPr>
          <a:xfrm>
            <a:off x="5074920" y="7616952"/>
            <a:ext cx="343814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AUTOMOTIVE MCU SHARE</a:t>
            </a:r>
          </a:p>
        </p:txBody>
      </p:sp>
      <p:sp>
        <p:nvSpPr>
          <p:cNvPr id="36" name="editable statistic: ~30%"/>
          <p:cNvSpPr txBox="1"/>
          <p:nvPr/>
        </p:nvSpPr>
        <p:spPr>
          <a:xfrm>
            <a:off x="5074920" y="8092440"/>
            <a:ext cx="3438144" cy="868680"/>
          </a:xfrm>
          <a:prstGeom prst="rect">
            <a:avLst/>
          </a:prstGeom>
          <a:noFill/>
        </p:spPr>
        <p:txBody>
          <a:bodyPr wrap="square" lIns="0" rIns="0" tIns="0" bIns="0" anchor="t">
            <a:spAutoFit/>
          </a:bodyPr>
          <a:lstStyle/>
          <a:p>
            <a:pPr algn="l">
              <a:lnSpc>
                <a:spcPts val="5040"/>
              </a:lnSpc>
              <a:spcBef>
                <a:spcPts val="0"/>
              </a:spcBef>
              <a:spcAft>
                <a:spcPts val="0"/>
              </a:spcAft>
            </a:pPr>
            <a:r>
              <a:rPr sz="4800" b="0" i="0">
                <a:solidFill>
                  <a:srgbClr val="FFFFFF"/>
                </a:solidFill>
                <a:latin typeface="Silkscreen"/>
              </a:rPr>
              <a:t>~30%</a:t>
            </a:r>
          </a:p>
        </p:txBody>
      </p:sp>
      <p:sp>
        <p:nvSpPr>
          <p:cNvPr id="37" name="card source: Reuters, Mar 2021; Renesas"/>
          <p:cNvSpPr txBox="1"/>
          <p:nvPr/>
        </p:nvSpPr>
        <p:spPr>
          <a:xfrm>
            <a:off x="5074920" y="8796528"/>
            <a:ext cx="343814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Reuters, Mar 2021; Renesas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03.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cxnSp>
        <p:nvCxnSpPr>
          <p:cNvPr id="8" name="Connector 7"/>
          <p:cNvCxnSpPr/>
          <p:nvPr/>
        </p:nvCxnSpPr>
        <p:spPr>
          <a:xfrm>
            <a:off x="6400800" y="1014984"/>
            <a:ext cx="123444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sp>
        <p:nvSpPr>
          <p:cNvPr id="9"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sp>
        <p:nvSpPr>
          <p:cNvPr id="10"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sp>
        <p:nvSpPr>
          <p:cNvPr id="11"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pic>
        <p:nvPicPr>
          <p:cNvPr id="12" name="Picture 11" descr="03-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03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03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McKinsey Supply Chain Risk Survey 2024"/>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McKinsey Supply Chain Risk Survey 2024</a:t>
            </a:r>
          </a:p>
        </p:txBody>
      </p:sp>
      <p:pic>
        <p:nvPicPr>
          <p:cNvPr id="19" name="Picture 18" descr="03-eyebrow-17.png"/>
          <p:cNvPicPr>
            <a:picLocks noChangeAspect="1"/>
          </p:cNvPicPr>
          <p:nvPr/>
        </p:nvPicPr>
        <p:blipFill>
          <a:blip r:embed="rId4"/>
          <a:stretch>
            <a:fillRect/>
          </a:stretch>
        </p:blipFill>
        <p:spPr>
          <a:xfrm>
            <a:off x="731520" y="1417320"/>
            <a:ext cx="2116139" cy="420624"/>
          </a:xfrm>
          <a:prstGeom prst="rect">
            <a:avLst/>
          </a:prstGeom>
        </p:spPr>
      </p:pic>
      <p:sp>
        <p:nvSpPr>
          <p:cNvPr id="20" name="Native editable glass border: eyebrow"/>
          <p:cNvSpPr/>
          <p:nvPr/>
        </p:nvSpPr>
        <p:spPr>
          <a:xfrm>
            <a:off x="731520" y="1417320"/>
            <a:ext cx="2116139"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03 · VISIBILITY"/>
          <p:cNvSpPr txBox="1"/>
          <p:nvPr/>
        </p:nvSpPr>
        <p:spPr>
          <a:xfrm>
            <a:off x="1106424" y="1536192"/>
            <a:ext cx="1613219"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03 · VISIBILITY</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9776"/>
              </a:lnSpc>
              <a:spcBef>
                <a:spcPts val="0"/>
              </a:spcBef>
              <a:spcAft>
                <a:spcPts val="0"/>
              </a:spcAft>
            </a:pPr>
            <a:r>
              <a:rPr sz="10400" i="0">
                <a:solidFill>
                  <a:srgbClr val="FFFFFF"/>
                </a:solidFill>
                <a:latin typeface="Instrument Serif"/>
              </a:rPr>
              <a:t>Most </a:t>
            </a:r>
            <a:r>
              <a:rPr sz="10400" i="0">
                <a:solidFill>
                  <a:srgbClr val="FFFFFF"/>
                </a:solidFill>
                <a:latin typeface="Instrument Serif"/>
              </a:rPr>
              <a:t>firms </a:t>
            </a:r>
            <a:r>
              <a:rPr sz="10400" i="0">
                <a:solidFill>
                  <a:srgbClr val="FFFFFF"/>
                </a:solidFill>
                <a:latin typeface="Instrument Serif"/>
              </a:rPr>
              <a:t>can't</a:t>
            </a:r>
          </a:p>
          <a:p>
            <a:pPr>
              <a:lnSpc>
                <a:spcPts val="9776"/>
              </a:lnSpc>
              <a:spcBef>
                <a:spcPts val="0"/>
              </a:spcBef>
              <a:spcAft>
                <a:spcPts val="0"/>
              </a:spcAft>
            </a:pPr>
            <a:r>
              <a:rPr sz="10400" i="0">
                <a:solidFill>
                  <a:srgbClr val="FFFFFF"/>
                </a:solidFill>
                <a:latin typeface="Instrument Serif"/>
              </a:rPr>
              <a:t>see </a:t>
            </a:r>
            <a:r>
              <a:rPr sz="10400" i="1">
                <a:solidFill>
                  <a:srgbClr val="FFB05C"/>
                </a:solidFill>
                <a:latin typeface="Instrument Serif"/>
              </a:rPr>
              <a:t>past </a:t>
            </a:r>
            <a:r>
              <a:rPr sz="10400" i="1">
                <a:solidFill>
                  <a:srgbClr val="FFB05C"/>
                </a:solidFill>
                <a:latin typeface="Instrument Serif"/>
              </a:rPr>
              <a:t>tier </a:t>
            </a:r>
            <a:r>
              <a:rPr sz="10400" i="1">
                <a:solidFill>
                  <a:srgbClr val="FFB05C"/>
                </a:solidFill>
                <a:latin typeface="Instrument Serif"/>
              </a:rPr>
              <a:t>1.</a:t>
            </a:r>
          </a:p>
        </p:txBody>
      </p:sp>
      <p:sp>
        <p:nvSpPr>
          <p:cNvPr id="24" name="single supporting sentence: Beyond-tier-one visibility is shrinking when upstream exposure matters"/>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Beyond-tier-one visibility is shrinking when upstream</a:t>
            </a:r>
          </a:p>
          <a:p>
            <a:pPr algn="l">
              <a:lnSpc>
                <a:spcPts val="2645"/>
              </a:lnSpc>
              <a:spcBef>
                <a:spcPts val="0"/>
              </a:spcBef>
              <a:spcAft>
                <a:spcPts val="0"/>
              </a:spcAft>
            </a:pPr>
            <a:r>
              <a:rPr sz="2300" b="0" i="0">
                <a:solidFill>
                  <a:srgbClr val="FFFFFF"/>
                </a:solidFill>
                <a:latin typeface="Inter"/>
              </a:rPr>
              <a:t>exposure matters most.</a:t>
            </a:r>
          </a:p>
        </p:txBody>
      </p:sp>
      <p:pic>
        <p:nvPicPr>
          <p:cNvPr id="25" name="Picture 24" descr="03-native-visibility-chart-23.png"/>
          <p:cNvPicPr>
            <a:picLocks noChangeAspect="1"/>
          </p:cNvPicPr>
          <p:nvPr/>
        </p:nvPicPr>
        <p:blipFill>
          <a:blip r:embed="rId5"/>
          <a:stretch>
            <a:fillRect/>
          </a:stretch>
        </p:blipFill>
        <p:spPr>
          <a:xfrm>
            <a:off x="9555480" y="5166360"/>
            <a:ext cx="7909560" cy="3822191"/>
          </a:xfrm>
          <a:prstGeom prst="rect">
            <a:avLst/>
          </a:prstGeom>
        </p:spPr>
      </p:pic>
      <p:sp>
        <p:nvSpPr>
          <p:cNvPr id="26" name="Native editable glass border: native-visibility-chart"/>
          <p:cNvSpPr/>
          <p:nvPr/>
        </p:nvSpPr>
        <p:spPr>
          <a:xfrm>
            <a:off x="9555480" y="5166360"/>
            <a:ext cx="7909560" cy="3822191"/>
          </a:xfrm>
          <a:prstGeom prst="roundRect">
            <a:avLst>
              <a:gd name="adj" fmla="val 598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hart title: VISIBILITY BEYOND TIER ONE"/>
          <p:cNvSpPr txBox="1"/>
          <p:nvPr/>
        </p:nvSpPr>
        <p:spPr>
          <a:xfrm>
            <a:off x="9811512" y="5394960"/>
            <a:ext cx="7360920" cy="320040"/>
          </a:xfrm>
          <a:prstGeom prst="rect">
            <a:avLst/>
          </a:prstGeom>
          <a:noFill/>
        </p:spPr>
        <p:txBody>
          <a:bodyPr wrap="square" lIns="0" rIns="0" tIns="0" bIns="0" anchor="t">
            <a:spAutoFit/>
          </a:bodyPr>
          <a:lstStyle/>
          <a:p>
            <a:pPr algn="l">
              <a:lnSpc>
                <a:spcPts val="1568"/>
              </a:lnSpc>
              <a:spcBef>
                <a:spcPts val="0"/>
              </a:spcBef>
              <a:spcAft>
                <a:spcPts val="0"/>
              </a:spcAft>
            </a:pPr>
            <a:r>
              <a:rPr sz="1400" b="0" i="0">
                <a:solidFill>
                  <a:srgbClr val="FFFFFF"/>
                </a:solidFill>
                <a:latin typeface="DM Mono"/>
              </a:rPr>
              <a:t>VISIBILITY BEYOND TIER ONE</a:t>
            </a:r>
          </a:p>
        </p:txBody>
      </p:sp>
      <p:graphicFrame>
        <p:nvGraphicFramePr>
          <p:cNvPr id="28" name="Chart 27"/>
          <p:cNvGraphicFramePr>
            <a:graphicFrameLocks noGrp="1"/>
          </p:cNvGraphicFramePr>
          <p:nvPr/>
        </p:nvGraphicFramePr>
        <p:xfrm>
          <a:off x="9811512" y="5925312"/>
          <a:ext cx="7296912" cy="2468880"/>
        </p:xfrm>
        <a:graphic>
          <a:graphicData uri="http://schemas.openxmlformats.org/drawingml/2006/chart">
            <c:chart xmlns:c="http://schemas.openxmlformats.org/drawingml/2006/chart" r:id="rId6"/>
          </a:graphicData>
        </a:graphic>
      </p:graphicFrame>
      <p:sp>
        <p:nvSpPr>
          <p:cNvPr id="29" name="Editable amber latest visibility marker"/>
          <p:cNvSpPr/>
          <p:nvPr/>
        </p:nvSpPr>
        <p:spPr>
          <a:xfrm>
            <a:off x="15773400" y="7146036"/>
            <a:ext cx="137160" cy="137160"/>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ard source: McKinsey Supply Chain Risk Survey 2024"/>
          <p:cNvSpPr txBox="1"/>
          <p:nvPr/>
        </p:nvSpPr>
        <p:spPr>
          <a:xfrm>
            <a:off x="9811512" y="8567928"/>
            <a:ext cx="7315200" cy="365760"/>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McKinsey Supply Chain Risk Survey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04.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cxnSp>
        <p:nvCxnSpPr>
          <p:cNvPr id="8" name="Connector 7"/>
          <p:cNvCxnSpPr/>
          <p:nvPr/>
        </p:nvCxnSpPr>
        <p:spPr>
          <a:xfrm>
            <a:off x="6400800" y="1014984"/>
            <a:ext cx="123444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sp>
        <p:nvSpPr>
          <p:cNvPr id="9"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sp>
        <p:nvSpPr>
          <p:cNvPr id="10"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sp>
        <p:nvSpPr>
          <p:cNvPr id="11"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pic>
        <p:nvPicPr>
          <p:cNvPr id="12" name="Picture 11" descr="04-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04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04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McKinsey [report details VERIFY] · McKinsey 2022 · McKinsey Supply Cha"/>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McKinsey [report details VERIFY] · McKinsey 2022 · McKinsey Supply Chain Risk Survey 2024</a:t>
            </a:r>
          </a:p>
        </p:txBody>
      </p:sp>
      <p:pic>
        <p:nvPicPr>
          <p:cNvPr id="19" name="Picture 18" descr="04-eyebrow-17.png"/>
          <p:cNvPicPr>
            <a:picLocks noChangeAspect="1"/>
          </p:cNvPicPr>
          <p:nvPr/>
        </p:nvPicPr>
        <p:blipFill>
          <a:blip r:embed="rId4"/>
          <a:stretch>
            <a:fillRect/>
          </a:stretch>
        </p:blipFill>
        <p:spPr>
          <a:xfrm>
            <a:off x="731520" y="1417320"/>
            <a:ext cx="2504878" cy="420624"/>
          </a:xfrm>
          <a:prstGeom prst="rect">
            <a:avLst/>
          </a:prstGeom>
        </p:spPr>
      </p:pic>
      <p:sp>
        <p:nvSpPr>
          <p:cNvPr id="20" name="Native editable glass border: eyebrow"/>
          <p:cNvSpPr/>
          <p:nvPr/>
        </p:nvSpPr>
        <p:spPr>
          <a:xfrm>
            <a:off x="731520" y="1417320"/>
            <a:ext cx="2504878"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04 · THE BLIND SPOT"/>
          <p:cNvSpPr txBox="1"/>
          <p:nvPr/>
        </p:nvSpPr>
        <p:spPr>
          <a:xfrm>
            <a:off x="1106424" y="1536192"/>
            <a:ext cx="2001958"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04 · THE BLIND SPOT</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9400"/>
              </a:lnSpc>
              <a:spcBef>
                <a:spcPts val="0"/>
              </a:spcBef>
              <a:spcAft>
                <a:spcPts val="0"/>
              </a:spcAft>
            </a:pPr>
            <a:r>
              <a:rPr sz="10000" i="0">
                <a:solidFill>
                  <a:srgbClr val="FFFFFF"/>
                </a:solidFill>
                <a:latin typeface="Instrument Serif"/>
              </a:rPr>
              <a:t>The </a:t>
            </a:r>
            <a:r>
              <a:rPr sz="10000" i="0">
                <a:solidFill>
                  <a:srgbClr val="FFFFFF"/>
                </a:solidFill>
                <a:latin typeface="Instrument Serif"/>
              </a:rPr>
              <a:t>danger </a:t>
            </a:r>
            <a:r>
              <a:rPr sz="10000" i="0">
                <a:solidFill>
                  <a:srgbClr val="FFFFFF"/>
                </a:solidFill>
                <a:latin typeface="Instrument Serif"/>
              </a:rPr>
              <a:t>sits</a:t>
            </a:r>
          </a:p>
          <a:p>
            <a:pPr>
              <a:lnSpc>
                <a:spcPts val="9400"/>
              </a:lnSpc>
              <a:spcBef>
                <a:spcPts val="0"/>
              </a:spcBef>
              <a:spcAft>
                <a:spcPts val="0"/>
              </a:spcAft>
            </a:pPr>
            <a:r>
              <a:rPr sz="10000" i="1">
                <a:solidFill>
                  <a:srgbClr val="FFB05C"/>
                </a:solidFill>
                <a:latin typeface="Instrument Serif"/>
              </a:rPr>
              <a:t>below </a:t>
            </a:r>
            <a:r>
              <a:rPr sz="10000" i="1">
                <a:solidFill>
                  <a:srgbClr val="FFB05C"/>
                </a:solidFill>
                <a:latin typeface="Instrument Serif"/>
              </a:rPr>
              <a:t>the </a:t>
            </a:r>
            <a:r>
              <a:rPr sz="10000" i="1">
                <a:solidFill>
                  <a:srgbClr val="FFB05C"/>
                </a:solidFill>
                <a:latin typeface="Instrument Serif"/>
              </a:rPr>
              <a:t>surface.</a:t>
            </a:r>
          </a:p>
        </p:txBody>
      </p:sp>
      <p:sp>
        <p:nvSpPr>
          <p:cNvPr id="24" name="single supporting sentence: The shared dependency you cannot see can stop the production you can."/>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The shared dependency you cannot see can stop the</a:t>
            </a:r>
          </a:p>
          <a:p>
            <a:pPr algn="l">
              <a:lnSpc>
                <a:spcPts val="2645"/>
              </a:lnSpc>
              <a:spcBef>
                <a:spcPts val="0"/>
              </a:spcBef>
              <a:spcAft>
                <a:spcPts val="0"/>
              </a:spcAft>
            </a:pPr>
            <a:r>
              <a:rPr sz="2300" b="0" i="0">
                <a:solidFill>
                  <a:srgbClr val="FFFFFF"/>
                </a:solidFill>
                <a:latin typeface="Inter"/>
              </a:rPr>
              <a:t>production you can.</a:t>
            </a:r>
          </a:p>
        </p:txBody>
      </p:sp>
      <p:pic>
        <p:nvPicPr>
          <p:cNvPr id="25" name="Picture 24" descr="04-see-tier-3-23.png"/>
          <p:cNvPicPr>
            <a:picLocks noChangeAspect="1"/>
          </p:cNvPicPr>
          <p:nvPr/>
        </p:nvPicPr>
        <p:blipFill>
          <a:blip r:embed="rId5"/>
          <a:stretch>
            <a:fillRect/>
          </a:stretch>
        </p:blipFill>
        <p:spPr>
          <a:xfrm>
            <a:off x="777240" y="7452360"/>
            <a:ext cx="3858768" cy="1783080"/>
          </a:xfrm>
          <a:prstGeom prst="rect">
            <a:avLst/>
          </a:prstGeom>
        </p:spPr>
      </p:pic>
      <p:sp>
        <p:nvSpPr>
          <p:cNvPr id="26" name="Native editable glass border: see-tier-3"/>
          <p:cNvSpPr/>
          <p:nvPr/>
        </p:nvSpPr>
        <p:spPr>
          <a:xfrm>
            <a:off x="777240" y="7452360"/>
            <a:ext cx="3858768"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atistic label: SEE TIER 3"/>
          <p:cNvSpPr txBox="1"/>
          <p:nvPr/>
        </p:nvSpPr>
        <p:spPr>
          <a:xfrm>
            <a:off x="987552" y="7616952"/>
            <a:ext cx="343814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SEE TIER 3</a:t>
            </a:r>
          </a:p>
        </p:txBody>
      </p:sp>
      <p:sp>
        <p:nvSpPr>
          <p:cNvPr id="28" name="editable statistic: ~10%"/>
          <p:cNvSpPr txBox="1"/>
          <p:nvPr/>
        </p:nvSpPr>
        <p:spPr>
          <a:xfrm>
            <a:off x="987552" y="8092440"/>
            <a:ext cx="3438144" cy="868680"/>
          </a:xfrm>
          <a:prstGeom prst="rect">
            <a:avLst/>
          </a:prstGeom>
          <a:noFill/>
        </p:spPr>
        <p:txBody>
          <a:bodyPr wrap="square" lIns="0" rIns="0" tIns="0" bIns="0" anchor="t">
            <a:spAutoFit/>
          </a:bodyPr>
          <a:lstStyle/>
          <a:p>
            <a:pPr algn="l">
              <a:lnSpc>
                <a:spcPts val="4935"/>
              </a:lnSpc>
              <a:spcBef>
                <a:spcPts val="0"/>
              </a:spcBef>
              <a:spcAft>
                <a:spcPts val="0"/>
              </a:spcAft>
            </a:pPr>
            <a:r>
              <a:rPr sz="4700" b="0" i="0">
                <a:solidFill>
                  <a:srgbClr val="FFFFFF"/>
                </a:solidFill>
                <a:latin typeface="Silkscreen"/>
              </a:rPr>
              <a:t>~10%</a:t>
            </a:r>
          </a:p>
        </p:txBody>
      </p:sp>
      <p:sp>
        <p:nvSpPr>
          <p:cNvPr id="29" name="card source: McKinsey, 2022"/>
          <p:cNvSpPr txBox="1"/>
          <p:nvPr/>
        </p:nvSpPr>
        <p:spPr>
          <a:xfrm>
            <a:off x="987552" y="8796528"/>
            <a:ext cx="343814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McKinsey, 2022</a:t>
            </a:r>
          </a:p>
        </p:txBody>
      </p:sp>
      <p:pic>
        <p:nvPicPr>
          <p:cNvPr id="30" name="Picture 29" descr="04-response-time-28.png"/>
          <p:cNvPicPr>
            <a:picLocks noChangeAspect="1"/>
          </p:cNvPicPr>
          <p:nvPr/>
        </p:nvPicPr>
        <p:blipFill>
          <a:blip r:embed="rId6"/>
          <a:stretch>
            <a:fillRect/>
          </a:stretch>
        </p:blipFill>
        <p:spPr>
          <a:xfrm>
            <a:off x="4864608" y="7452360"/>
            <a:ext cx="3858768" cy="1783080"/>
          </a:xfrm>
          <a:prstGeom prst="rect">
            <a:avLst/>
          </a:prstGeom>
        </p:spPr>
      </p:pic>
      <p:sp>
        <p:nvSpPr>
          <p:cNvPr id="31" name="Native editable glass border: response-time"/>
          <p:cNvSpPr/>
          <p:nvPr/>
        </p:nvSpPr>
        <p:spPr>
          <a:xfrm>
            <a:off x="4864608" y="7452360"/>
            <a:ext cx="3858768"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istic label: RESPONSE TIME"/>
          <p:cNvSpPr txBox="1"/>
          <p:nvPr/>
        </p:nvSpPr>
        <p:spPr>
          <a:xfrm>
            <a:off x="5074920" y="7616952"/>
            <a:ext cx="343814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RESPONSE TIME</a:t>
            </a:r>
          </a:p>
        </p:txBody>
      </p:sp>
      <p:sp>
        <p:nvSpPr>
          <p:cNvPr id="33" name="editable statistic: ~2 weeks"/>
          <p:cNvSpPr txBox="1"/>
          <p:nvPr/>
        </p:nvSpPr>
        <p:spPr>
          <a:xfrm>
            <a:off x="5074920" y="8092440"/>
            <a:ext cx="3438144" cy="868680"/>
          </a:xfrm>
          <a:prstGeom prst="rect">
            <a:avLst/>
          </a:prstGeom>
          <a:noFill/>
        </p:spPr>
        <p:txBody>
          <a:bodyPr wrap="square" lIns="0" rIns="0" tIns="0" bIns="0" anchor="t">
            <a:spAutoFit/>
          </a:bodyPr>
          <a:lstStyle/>
          <a:p>
            <a:pPr algn="l">
              <a:lnSpc>
                <a:spcPts val="4095"/>
              </a:lnSpc>
              <a:spcBef>
                <a:spcPts val="0"/>
              </a:spcBef>
              <a:spcAft>
                <a:spcPts val="0"/>
              </a:spcAft>
            </a:pPr>
            <a:r>
              <a:rPr sz="3900" b="0" i="0">
                <a:solidFill>
                  <a:srgbClr val="FFFFFF"/>
                </a:solidFill>
                <a:latin typeface="Silkscreen"/>
              </a:rPr>
              <a:t>~2 weeks</a:t>
            </a:r>
          </a:p>
        </p:txBody>
      </p:sp>
      <p:sp>
        <p:nvSpPr>
          <p:cNvPr id="34" name="card source: McKinsey Supply Chain Risk Survey 2024"/>
          <p:cNvSpPr txBox="1"/>
          <p:nvPr/>
        </p:nvSpPr>
        <p:spPr>
          <a:xfrm>
            <a:off x="5074920" y="8796528"/>
            <a:ext cx="343814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McKinsey Supply Chain Risk Survey 2024</a:t>
            </a:r>
          </a:p>
        </p:txBody>
      </p:sp>
      <p:pic>
        <p:nvPicPr>
          <p:cNvPr id="35" name="Picture 34" descr="04-disruptions-at-tier-2--33.png"/>
          <p:cNvPicPr>
            <a:picLocks noChangeAspect="1"/>
          </p:cNvPicPr>
          <p:nvPr/>
        </p:nvPicPr>
        <p:blipFill>
          <a:blip r:embed="rId7"/>
          <a:stretch>
            <a:fillRect/>
          </a:stretch>
        </p:blipFill>
        <p:spPr>
          <a:xfrm>
            <a:off x="9555480" y="6949440"/>
            <a:ext cx="4663440" cy="2240280"/>
          </a:xfrm>
          <a:prstGeom prst="rect">
            <a:avLst/>
          </a:prstGeom>
        </p:spPr>
      </p:pic>
      <p:sp>
        <p:nvSpPr>
          <p:cNvPr id="36" name="Native editable glass border: disruptions-at-tier-2+"/>
          <p:cNvSpPr/>
          <p:nvPr/>
        </p:nvSpPr>
        <p:spPr>
          <a:xfrm>
            <a:off x="9555480" y="6949440"/>
            <a:ext cx="4663440" cy="2240280"/>
          </a:xfrm>
          <a:prstGeom prst="roundRect">
            <a:avLst>
              <a:gd name="adj" fmla="val 10204"/>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istic label: DISRUPTIONS AT TIER 2+"/>
          <p:cNvSpPr txBox="1"/>
          <p:nvPr/>
        </p:nvSpPr>
        <p:spPr>
          <a:xfrm>
            <a:off x="9765792" y="7114031"/>
            <a:ext cx="4242816"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DISRUPTIONS AT TIER 2+</a:t>
            </a:r>
          </a:p>
        </p:txBody>
      </p:sp>
      <p:sp>
        <p:nvSpPr>
          <p:cNvPr id="38" name="editable statistic: ~2/3"/>
          <p:cNvSpPr txBox="1"/>
          <p:nvPr/>
        </p:nvSpPr>
        <p:spPr>
          <a:xfrm>
            <a:off x="9765792" y="7589519"/>
            <a:ext cx="4242816" cy="1325880"/>
          </a:xfrm>
          <a:prstGeom prst="rect">
            <a:avLst/>
          </a:prstGeom>
          <a:noFill/>
        </p:spPr>
        <p:txBody>
          <a:bodyPr wrap="square" lIns="0" rIns="0" tIns="0" bIns="0" anchor="t">
            <a:spAutoFit/>
          </a:bodyPr>
          <a:lstStyle/>
          <a:p>
            <a:pPr algn="l">
              <a:lnSpc>
                <a:spcPts val="6720"/>
              </a:lnSpc>
              <a:spcBef>
                <a:spcPts val="0"/>
              </a:spcBef>
              <a:spcAft>
                <a:spcPts val="0"/>
              </a:spcAft>
            </a:pPr>
            <a:r>
              <a:rPr sz="6400" b="0" i="0">
                <a:solidFill>
                  <a:srgbClr val="FFFFFF"/>
                </a:solidFill>
                <a:latin typeface="Silkscreen"/>
              </a:rPr>
              <a:t>~2/3</a:t>
            </a:r>
          </a:p>
        </p:txBody>
      </p:sp>
      <p:sp>
        <p:nvSpPr>
          <p:cNvPr id="39" name="card source: McKinsey [exact report VERIFY]"/>
          <p:cNvSpPr txBox="1"/>
          <p:nvPr/>
        </p:nvSpPr>
        <p:spPr>
          <a:xfrm>
            <a:off x="9765792" y="8750808"/>
            <a:ext cx="4242816"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McKinsey [exact report VERIFY]</a:t>
            </a:r>
          </a:p>
        </p:txBody>
      </p:sp>
      <p:cxnSp>
        <p:nvCxnSpPr>
          <p:cNvPr id="40" name="Connector 39"/>
          <p:cNvCxnSpPr/>
          <p:nvPr/>
        </p:nvCxnSpPr>
        <p:spPr>
          <a:xfrm flipH="1">
            <a:off x="14996159" y="6263640"/>
            <a:ext cx="822961" cy="365760"/>
          </a:xfrm>
          <a:prstGeom prst="line">
            <a:avLst/>
          </a:prstGeom>
          <a:ln w="19050">
            <a:solidFill>
              <a:srgbClr val="FFFFFF">
                <a:alpha val="80000"/>
              </a:srgbClr>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14036040" y="6629400"/>
            <a:ext cx="960119" cy="594360"/>
          </a:xfrm>
          <a:prstGeom prst="line">
            <a:avLst/>
          </a:prstGeom>
          <a:ln w="19050">
            <a:solidFill>
              <a:srgbClr val="FFFFFF">
                <a:alpha val="80000"/>
              </a:srgbClr>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15723108" y="6167627"/>
            <a:ext cx="192024" cy="192024"/>
          </a:xfrm>
          <a:prstGeom prst="ellipse">
            <a:avLst/>
          </a:prstGeom>
          <a:noFill/>
          <a:ln w="15240">
            <a:solidFill>
              <a:srgbClr val="FFFFFF">
                <a:alpha val="8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5785287" y="6229807"/>
            <a:ext cx="67665" cy="67665"/>
          </a:xfrm>
          <a:prstGeom prst="ellipse">
            <a:avLst/>
          </a:pr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05.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cxnSp>
        <p:nvCxnSpPr>
          <p:cNvPr id="8" name="Connector 7"/>
          <p:cNvCxnSpPr/>
          <p:nvPr/>
        </p:nvCxnSpPr>
        <p:spPr>
          <a:xfrm>
            <a:off x="6400800" y="1014984"/>
            <a:ext cx="123444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sp>
        <p:nvSpPr>
          <p:cNvPr id="9"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sp>
        <p:nvSpPr>
          <p:cNvPr id="10"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sp>
        <p:nvSpPr>
          <p:cNvPr id="11"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pic>
        <p:nvPicPr>
          <p:cNvPr id="12" name="Picture 11" descr="05-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05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05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Reuters, Jan 2024 · UNCTAD, 2024 · Different measures and periods"/>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Reuters, Jan 2024 · UNCTAD, 2024 · Different measures and periods</a:t>
            </a:r>
          </a:p>
        </p:txBody>
      </p:sp>
      <p:pic>
        <p:nvPicPr>
          <p:cNvPr id="19" name="Picture 18" descr="05-eyebrow-17.png"/>
          <p:cNvPicPr>
            <a:picLocks noChangeAspect="1"/>
          </p:cNvPicPr>
          <p:nvPr/>
        </p:nvPicPr>
        <p:blipFill>
          <a:blip r:embed="rId4"/>
          <a:stretch>
            <a:fillRect/>
          </a:stretch>
        </p:blipFill>
        <p:spPr>
          <a:xfrm>
            <a:off x="731520" y="1417320"/>
            <a:ext cx="2116139" cy="420624"/>
          </a:xfrm>
          <a:prstGeom prst="rect">
            <a:avLst/>
          </a:prstGeom>
        </p:spPr>
      </p:pic>
      <p:sp>
        <p:nvSpPr>
          <p:cNvPr id="20" name="Native editable glass border: eyebrow"/>
          <p:cNvSpPr/>
          <p:nvPr/>
        </p:nvSpPr>
        <p:spPr>
          <a:xfrm>
            <a:off x="731520" y="1417320"/>
            <a:ext cx="2116139"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05 · ROUTE RISK"/>
          <p:cNvSpPr txBox="1"/>
          <p:nvPr/>
        </p:nvSpPr>
        <p:spPr>
          <a:xfrm>
            <a:off x="1106424" y="1536192"/>
            <a:ext cx="1613219"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05 · ROUTE RISK</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10152"/>
              </a:lnSpc>
              <a:spcBef>
                <a:spcPts val="0"/>
              </a:spcBef>
              <a:spcAft>
                <a:spcPts val="0"/>
              </a:spcAft>
            </a:pPr>
            <a:r>
              <a:rPr sz="10800" i="0">
                <a:solidFill>
                  <a:srgbClr val="FFFFFF"/>
                </a:solidFill>
                <a:latin typeface="Instrument Serif"/>
              </a:rPr>
              <a:t>The </a:t>
            </a:r>
            <a:r>
              <a:rPr sz="10800" i="0">
                <a:solidFill>
                  <a:srgbClr val="FFFFFF"/>
                </a:solidFill>
                <a:latin typeface="Instrument Serif"/>
              </a:rPr>
              <a:t>Red </a:t>
            </a:r>
            <a:r>
              <a:rPr sz="10800" i="0">
                <a:solidFill>
                  <a:srgbClr val="FFFFFF"/>
                </a:solidFill>
                <a:latin typeface="Instrument Serif"/>
              </a:rPr>
              <a:t>Sea</a:t>
            </a:r>
          </a:p>
          <a:p>
            <a:pPr>
              <a:lnSpc>
                <a:spcPts val="10152"/>
              </a:lnSpc>
              <a:spcBef>
                <a:spcPts val="0"/>
              </a:spcBef>
              <a:spcAft>
                <a:spcPts val="0"/>
              </a:spcAft>
            </a:pPr>
            <a:r>
              <a:rPr sz="10800" i="0">
                <a:solidFill>
                  <a:srgbClr val="FFFFFF"/>
                </a:solidFill>
                <a:latin typeface="Instrument Serif"/>
              </a:rPr>
              <a:t>closed.</a:t>
            </a:r>
          </a:p>
          <a:p>
            <a:pPr>
              <a:lnSpc>
                <a:spcPts val="10152"/>
              </a:lnSpc>
              <a:spcBef>
                <a:spcPts val="0"/>
              </a:spcBef>
              <a:spcAft>
                <a:spcPts val="0"/>
              </a:spcAft>
            </a:pPr>
            <a:r>
              <a:rPr sz="10800" i="1">
                <a:solidFill>
                  <a:srgbClr val="FFB05C"/>
                </a:solidFill>
                <a:latin typeface="Instrument Serif"/>
              </a:rPr>
              <a:t>India </a:t>
            </a:r>
            <a:r>
              <a:rPr sz="10800" i="1">
                <a:solidFill>
                  <a:srgbClr val="FFB05C"/>
                </a:solidFill>
                <a:latin typeface="Instrument Serif"/>
              </a:rPr>
              <a:t>paid.</a:t>
            </a:r>
          </a:p>
        </p:txBody>
      </p:sp>
      <p:sp>
        <p:nvSpPr>
          <p:cNvPr id="24" name="single supporting sentence: Disrupted shipping routes transmitted cost pressure to Indian supply c"/>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Disrupted shipping routes transmitted cost pressure to</a:t>
            </a:r>
          </a:p>
          <a:p>
            <a:pPr algn="l">
              <a:lnSpc>
                <a:spcPts val="2645"/>
              </a:lnSpc>
              <a:spcBef>
                <a:spcPts val="0"/>
              </a:spcBef>
              <a:spcAft>
                <a:spcPts val="0"/>
              </a:spcAft>
            </a:pPr>
            <a:r>
              <a:rPr sz="2300" b="0" i="0">
                <a:solidFill>
                  <a:srgbClr val="FFFFFF"/>
                </a:solidFill>
                <a:latin typeface="Inter"/>
              </a:rPr>
              <a:t>Indian supply chains; the sea was not literally closed.</a:t>
            </a:r>
          </a:p>
        </p:txBody>
      </p:sp>
      <p:pic>
        <p:nvPicPr>
          <p:cNvPr id="25" name="Picture 24" descr="05-suez-traffic-23.png"/>
          <p:cNvPicPr>
            <a:picLocks noChangeAspect="1"/>
          </p:cNvPicPr>
          <p:nvPr/>
        </p:nvPicPr>
        <p:blipFill>
          <a:blip r:embed="rId5"/>
          <a:stretch>
            <a:fillRect/>
          </a:stretch>
        </p:blipFill>
        <p:spPr>
          <a:xfrm>
            <a:off x="777240" y="7452360"/>
            <a:ext cx="3858768" cy="1783080"/>
          </a:xfrm>
          <a:prstGeom prst="rect">
            <a:avLst/>
          </a:prstGeom>
        </p:spPr>
      </p:pic>
      <p:sp>
        <p:nvSpPr>
          <p:cNvPr id="26" name="Native editable glass border: suez-traffic"/>
          <p:cNvSpPr/>
          <p:nvPr/>
        </p:nvSpPr>
        <p:spPr>
          <a:xfrm>
            <a:off x="777240" y="7452360"/>
            <a:ext cx="3858768"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atistic label: SUEZ TRAFFIC"/>
          <p:cNvSpPr txBox="1"/>
          <p:nvPr/>
        </p:nvSpPr>
        <p:spPr>
          <a:xfrm>
            <a:off x="987552" y="7616952"/>
            <a:ext cx="343814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SUEZ TRAFFIC</a:t>
            </a:r>
          </a:p>
        </p:txBody>
      </p:sp>
      <p:sp>
        <p:nvSpPr>
          <p:cNvPr id="28" name="editable statistic: -57%"/>
          <p:cNvSpPr txBox="1"/>
          <p:nvPr/>
        </p:nvSpPr>
        <p:spPr>
          <a:xfrm>
            <a:off x="987552" y="8092440"/>
            <a:ext cx="3438144" cy="868680"/>
          </a:xfrm>
          <a:prstGeom prst="rect">
            <a:avLst/>
          </a:prstGeom>
          <a:noFill/>
        </p:spPr>
        <p:txBody>
          <a:bodyPr wrap="square" lIns="0" rIns="0" tIns="0" bIns="0" anchor="t">
            <a:spAutoFit/>
          </a:bodyPr>
          <a:lstStyle/>
          <a:p>
            <a:pPr algn="l">
              <a:lnSpc>
                <a:spcPts val="5040"/>
              </a:lnSpc>
              <a:spcBef>
                <a:spcPts val="0"/>
              </a:spcBef>
              <a:spcAft>
                <a:spcPts val="0"/>
              </a:spcAft>
            </a:pPr>
            <a:r>
              <a:rPr sz="4800" b="0" i="0">
                <a:solidFill>
                  <a:srgbClr val="FFFFFF"/>
                </a:solidFill>
                <a:latin typeface="Silkscreen"/>
              </a:rPr>
              <a:t>-57%</a:t>
            </a:r>
          </a:p>
        </p:txBody>
      </p:sp>
      <p:sp>
        <p:nvSpPr>
          <p:cNvPr id="29" name="card source: UNCTAD; from peak to Oct 2024"/>
          <p:cNvSpPr txBox="1"/>
          <p:nvPr/>
        </p:nvSpPr>
        <p:spPr>
          <a:xfrm>
            <a:off x="987552" y="8796528"/>
            <a:ext cx="343814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UNCTAD; from peak to Oct 2024</a:t>
            </a:r>
          </a:p>
        </p:txBody>
      </p:sp>
      <p:pic>
        <p:nvPicPr>
          <p:cNvPr id="30" name="Picture 29" descr="05-shanghai-europe-spot-28.png"/>
          <p:cNvPicPr>
            <a:picLocks noChangeAspect="1"/>
          </p:cNvPicPr>
          <p:nvPr/>
        </p:nvPicPr>
        <p:blipFill>
          <a:blip r:embed="rId6"/>
          <a:stretch>
            <a:fillRect/>
          </a:stretch>
        </p:blipFill>
        <p:spPr>
          <a:xfrm>
            <a:off x="4864608" y="7452360"/>
            <a:ext cx="3858768" cy="1783080"/>
          </a:xfrm>
          <a:prstGeom prst="rect">
            <a:avLst/>
          </a:prstGeom>
        </p:spPr>
      </p:pic>
      <p:sp>
        <p:nvSpPr>
          <p:cNvPr id="31" name="Native editable glass border: shanghai–europe-spot"/>
          <p:cNvSpPr/>
          <p:nvPr/>
        </p:nvSpPr>
        <p:spPr>
          <a:xfrm>
            <a:off x="4864608" y="7452360"/>
            <a:ext cx="3858768"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istic label: SHANGHAI–EUROPE SPOT"/>
          <p:cNvSpPr txBox="1"/>
          <p:nvPr/>
        </p:nvSpPr>
        <p:spPr>
          <a:xfrm>
            <a:off x="5074920" y="7616952"/>
            <a:ext cx="343814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SHANGHAI–EUROPE SPOT</a:t>
            </a:r>
          </a:p>
        </p:txBody>
      </p:sp>
      <p:sp>
        <p:nvSpPr>
          <p:cNvPr id="33" name="editable statistic: +256%"/>
          <p:cNvSpPr txBox="1"/>
          <p:nvPr/>
        </p:nvSpPr>
        <p:spPr>
          <a:xfrm>
            <a:off x="5074920" y="8092440"/>
            <a:ext cx="3438144" cy="868680"/>
          </a:xfrm>
          <a:prstGeom prst="rect">
            <a:avLst/>
          </a:prstGeom>
          <a:noFill/>
        </p:spPr>
        <p:txBody>
          <a:bodyPr wrap="square" lIns="0" rIns="0" tIns="0" bIns="0" anchor="t">
            <a:spAutoFit/>
          </a:bodyPr>
          <a:lstStyle/>
          <a:p>
            <a:pPr algn="l">
              <a:lnSpc>
                <a:spcPts val="4830"/>
              </a:lnSpc>
              <a:spcBef>
                <a:spcPts val="0"/>
              </a:spcBef>
              <a:spcAft>
                <a:spcPts val="0"/>
              </a:spcAft>
            </a:pPr>
            <a:r>
              <a:rPr sz="4600" b="0" i="0">
                <a:solidFill>
                  <a:srgbClr val="FFFFFF"/>
                </a:solidFill>
                <a:latin typeface="Silkscreen"/>
              </a:rPr>
              <a:t>+256%</a:t>
            </a:r>
          </a:p>
        </p:txBody>
      </p:sp>
      <p:sp>
        <p:nvSpPr>
          <p:cNvPr id="34" name="card source: UNCTAD, 2024"/>
          <p:cNvSpPr txBox="1"/>
          <p:nvPr/>
        </p:nvSpPr>
        <p:spPr>
          <a:xfrm>
            <a:off x="5074920" y="8796528"/>
            <a:ext cx="343814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UNCTAD, 2024</a:t>
            </a:r>
          </a:p>
        </p:txBody>
      </p:sp>
      <p:pic>
        <p:nvPicPr>
          <p:cNvPr id="35" name="Picture 34" descr="05-native-container-cost-chart-33.png"/>
          <p:cNvPicPr>
            <a:picLocks noChangeAspect="1"/>
          </p:cNvPicPr>
          <p:nvPr/>
        </p:nvPicPr>
        <p:blipFill>
          <a:blip r:embed="rId7"/>
          <a:stretch>
            <a:fillRect/>
          </a:stretch>
        </p:blipFill>
        <p:spPr>
          <a:xfrm>
            <a:off x="9555480" y="5166360"/>
            <a:ext cx="7909560" cy="3822191"/>
          </a:xfrm>
          <a:prstGeom prst="rect">
            <a:avLst/>
          </a:prstGeom>
        </p:spPr>
      </p:pic>
      <p:sp>
        <p:nvSpPr>
          <p:cNvPr id="36" name="Native editable glass border: native-container-cost-chart"/>
          <p:cNvSpPr/>
          <p:nvPr/>
        </p:nvSpPr>
        <p:spPr>
          <a:xfrm>
            <a:off x="9555480" y="5166360"/>
            <a:ext cx="7909560" cy="3822191"/>
          </a:xfrm>
          <a:prstGeom prst="roundRect">
            <a:avLst>
              <a:gd name="adj" fmla="val 598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hart title: INDIA–EUROPE CONTAINER COST"/>
          <p:cNvSpPr txBox="1"/>
          <p:nvPr/>
        </p:nvSpPr>
        <p:spPr>
          <a:xfrm>
            <a:off x="9811512" y="5394960"/>
            <a:ext cx="7315200" cy="320040"/>
          </a:xfrm>
          <a:prstGeom prst="rect">
            <a:avLst/>
          </a:prstGeom>
          <a:noFill/>
        </p:spPr>
        <p:txBody>
          <a:bodyPr wrap="square" lIns="0" rIns="0" tIns="0" bIns="0" anchor="t">
            <a:spAutoFit/>
          </a:bodyPr>
          <a:lstStyle/>
          <a:p>
            <a:pPr algn="l">
              <a:lnSpc>
                <a:spcPts val="1568"/>
              </a:lnSpc>
              <a:spcBef>
                <a:spcPts val="0"/>
              </a:spcBef>
              <a:spcAft>
                <a:spcPts val="0"/>
              </a:spcAft>
            </a:pPr>
            <a:r>
              <a:rPr sz="1400" b="0" i="0">
                <a:solidFill>
                  <a:srgbClr val="FFFFFF"/>
                </a:solidFill>
                <a:latin typeface="DM Mono"/>
              </a:rPr>
              <a:t>INDIA–EUROPE CONTAINER COST</a:t>
            </a:r>
          </a:p>
        </p:txBody>
      </p:sp>
      <p:graphicFrame>
        <p:nvGraphicFramePr>
          <p:cNvPr id="38" name="Chart 37"/>
          <p:cNvGraphicFramePr>
            <a:graphicFrameLocks noGrp="1"/>
          </p:cNvGraphicFramePr>
          <p:nvPr/>
        </p:nvGraphicFramePr>
        <p:xfrm>
          <a:off x="9811512" y="5925312"/>
          <a:ext cx="7296912" cy="2468880"/>
        </p:xfrm>
        <a:graphic>
          <a:graphicData uri="http://schemas.openxmlformats.org/drawingml/2006/chart">
            <c:chart xmlns:c="http://schemas.openxmlformats.org/drawingml/2006/chart" r:id="rId8"/>
          </a:graphicData>
        </a:graphic>
      </p:graphicFrame>
      <p:sp>
        <p:nvSpPr>
          <p:cNvPr id="39" name="direct native bar value: $600"/>
          <p:cNvSpPr txBox="1"/>
          <p:nvPr/>
        </p:nvSpPr>
        <p:spPr>
          <a:xfrm>
            <a:off x="11064240" y="7040880"/>
            <a:ext cx="2194560" cy="420624"/>
          </a:xfrm>
          <a:prstGeom prst="rect">
            <a:avLst/>
          </a:prstGeom>
          <a:noFill/>
        </p:spPr>
        <p:txBody>
          <a:bodyPr wrap="square" lIns="0" rIns="0" tIns="0" bIns="0" anchor="t">
            <a:spAutoFit/>
          </a:bodyPr>
          <a:lstStyle/>
          <a:p>
            <a:pPr algn="ctr">
              <a:lnSpc>
                <a:spcPts val="2800"/>
              </a:lnSpc>
              <a:spcBef>
                <a:spcPts val="0"/>
              </a:spcBef>
              <a:spcAft>
                <a:spcPts val="0"/>
              </a:spcAft>
            </a:pPr>
            <a:r>
              <a:rPr sz="2500" b="0" i="0">
                <a:solidFill>
                  <a:srgbClr val="FFFFFF"/>
                </a:solidFill>
                <a:latin typeface="Silkscreen"/>
              </a:rPr>
              <a:t>$600</a:t>
            </a:r>
          </a:p>
        </p:txBody>
      </p:sp>
      <p:sp>
        <p:nvSpPr>
          <p:cNvPr id="40" name="direct native bar value: $1,500"/>
          <p:cNvSpPr txBox="1"/>
          <p:nvPr/>
        </p:nvSpPr>
        <p:spPr>
          <a:xfrm>
            <a:off x="14036040" y="6153912"/>
            <a:ext cx="2743200" cy="420624"/>
          </a:xfrm>
          <a:prstGeom prst="rect">
            <a:avLst/>
          </a:prstGeom>
          <a:noFill/>
        </p:spPr>
        <p:txBody>
          <a:bodyPr wrap="square" lIns="0" rIns="0" tIns="0" bIns="0" anchor="t">
            <a:spAutoFit/>
          </a:bodyPr>
          <a:lstStyle/>
          <a:p>
            <a:pPr algn="ctr">
              <a:lnSpc>
                <a:spcPts val="2800"/>
              </a:lnSpc>
              <a:spcBef>
                <a:spcPts val="0"/>
              </a:spcBef>
              <a:spcAft>
                <a:spcPts val="0"/>
              </a:spcAft>
            </a:pPr>
            <a:r>
              <a:rPr sz="2500" b="0" i="0">
                <a:solidFill>
                  <a:srgbClr val="FFB05C"/>
                </a:solidFill>
                <a:latin typeface="Silkscreen"/>
              </a:rPr>
              <a:t>$1,500</a:t>
            </a:r>
          </a:p>
        </p:txBody>
      </p:sp>
      <p:sp>
        <p:nvSpPr>
          <p:cNvPr id="41" name="card source: Reuters, Jan 2024 · approximate costs"/>
          <p:cNvSpPr txBox="1"/>
          <p:nvPr/>
        </p:nvSpPr>
        <p:spPr>
          <a:xfrm>
            <a:off x="9811512" y="8567928"/>
            <a:ext cx="7315200" cy="365760"/>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Reuters, Jan 2024 · approximate costs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06.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cxnSp>
        <p:nvCxnSpPr>
          <p:cNvPr id="8" name="Connector 7"/>
          <p:cNvCxnSpPr/>
          <p:nvPr/>
        </p:nvCxnSpPr>
        <p:spPr>
          <a:xfrm>
            <a:off x="6400800" y="1014984"/>
            <a:ext cx="123444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sp>
        <p:nvSpPr>
          <p:cNvPr id="9"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sp>
        <p:nvSpPr>
          <p:cNvPr id="10"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sp>
        <p:nvSpPr>
          <p:cNvPr id="11"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pic>
        <p:nvPicPr>
          <p:cNvPr id="12" name="Picture 11" descr="06-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06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06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Bloomberg, Apr 2021 · Fortune, Jan 2022"/>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Bloomberg, Apr 2021 · Fortune, Jan 2022</a:t>
            </a:r>
          </a:p>
        </p:txBody>
      </p:sp>
      <p:pic>
        <p:nvPicPr>
          <p:cNvPr id="19" name="Picture 18" descr="06-eyebrow-17.png"/>
          <p:cNvPicPr>
            <a:picLocks noChangeAspect="1"/>
          </p:cNvPicPr>
          <p:nvPr/>
        </p:nvPicPr>
        <p:blipFill>
          <a:blip r:embed="rId4"/>
          <a:stretch>
            <a:fillRect/>
          </a:stretch>
        </p:blipFill>
        <p:spPr>
          <a:xfrm>
            <a:off x="731520" y="1417320"/>
            <a:ext cx="2893617" cy="420624"/>
          </a:xfrm>
          <a:prstGeom prst="rect">
            <a:avLst/>
          </a:prstGeom>
        </p:spPr>
      </p:pic>
      <p:sp>
        <p:nvSpPr>
          <p:cNvPr id="20" name="Native editable glass border: eyebrow"/>
          <p:cNvSpPr/>
          <p:nvPr/>
        </p:nvSpPr>
        <p:spPr>
          <a:xfrm>
            <a:off x="731520" y="1417320"/>
            <a:ext cx="2893617"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06 · THE COUNTEREXAMPLE"/>
          <p:cNvSpPr txBox="1"/>
          <p:nvPr/>
        </p:nvSpPr>
        <p:spPr>
          <a:xfrm>
            <a:off x="1106424" y="1536192"/>
            <a:ext cx="2390697"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06 · THE COUNTEREXAMPLE</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9588"/>
              </a:lnSpc>
              <a:spcBef>
                <a:spcPts val="0"/>
              </a:spcBef>
              <a:spcAft>
                <a:spcPts val="0"/>
              </a:spcAft>
            </a:pPr>
            <a:r>
              <a:rPr sz="10200" i="0">
                <a:solidFill>
                  <a:srgbClr val="FFFFFF"/>
                </a:solidFill>
                <a:latin typeface="Instrument Serif"/>
              </a:rPr>
              <a:t>Toyota </a:t>
            </a:r>
            <a:r>
              <a:rPr sz="10200" i="0">
                <a:solidFill>
                  <a:srgbClr val="FFFFFF"/>
                </a:solidFill>
                <a:latin typeface="Instrument Serif"/>
              </a:rPr>
              <a:t>survived</a:t>
            </a:r>
          </a:p>
          <a:p>
            <a:pPr>
              <a:lnSpc>
                <a:spcPts val="9588"/>
              </a:lnSpc>
              <a:spcBef>
                <a:spcPts val="0"/>
              </a:spcBef>
              <a:spcAft>
                <a:spcPts val="0"/>
              </a:spcAft>
            </a:pPr>
            <a:r>
              <a:rPr sz="10200" i="0">
                <a:solidFill>
                  <a:srgbClr val="FFFFFF"/>
                </a:solidFill>
                <a:latin typeface="Instrument Serif"/>
              </a:rPr>
              <a:t>because </a:t>
            </a:r>
            <a:r>
              <a:rPr sz="10200" i="0">
                <a:solidFill>
                  <a:srgbClr val="FFFFFF"/>
                </a:solidFill>
                <a:latin typeface="Instrument Serif"/>
              </a:rPr>
              <a:t>it</a:t>
            </a:r>
          </a:p>
          <a:p>
            <a:pPr>
              <a:lnSpc>
                <a:spcPts val="9588"/>
              </a:lnSpc>
              <a:spcBef>
                <a:spcPts val="0"/>
              </a:spcBef>
              <a:spcAft>
                <a:spcPts val="0"/>
              </a:spcAft>
            </a:pPr>
            <a:r>
              <a:rPr sz="10200" i="1">
                <a:solidFill>
                  <a:srgbClr val="FFB05C"/>
                </a:solidFill>
                <a:latin typeface="Instrument Serif"/>
              </a:rPr>
              <a:t>had </a:t>
            </a:r>
            <a:r>
              <a:rPr sz="10200" i="1">
                <a:solidFill>
                  <a:srgbClr val="FFB05C"/>
                </a:solidFill>
                <a:latin typeface="Instrument Serif"/>
              </a:rPr>
              <a:t>a </a:t>
            </a:r>
            <a:r>
              <a:rPr sz="10200" i="1">
                <a:solidFill>
                  <a:srgbClr val="FFB05C"/>
                </a:solidFill>
                <a:latin typeface="Instrument Serif"/>
              </a:rPr>
              <a:t>map.</a:t>
            </a:r>
          </a:p>
        </p:txBody>
      </p:sp>
      <p:sp>
        <p:nvSpPr>
          <p:cNvPr id="24" name="single supporting sentence: Mapping upstream dependencies can turn a hidden concentration into a d"/>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Mapping upstream dependencies can turn a hidden</a:t>
            </a:r>
          </a:p>
          <a:p>
            <a:pPr algn="l">
              <a:lnSpc>
                <a:spcPts val="2645"/>
              </a:lnSpc>
              <a:spcBef>
                <a:spcPts val="0"/>
              </a:spcBef>
              <a:spcAft>
                <a:spcPts val="0"/>
              </a:spcAft>
            </a:pPr>
            <a:r>
              <a:rPr sz="2300" b="0" i="0">
                <a:solidFill>
                  <a:srgbClr val="FFFFFF"/>
                </a:solidFill>
                <a:latin typeface="Inter"/>
              </a:rPr>
              <a:t>concentration into a decision.</a:t>
            </a:r>
          </a:p>
        </p:txBody>
      </p:sp>
      <p:pic>
        <p:nvPicPr>
          <p:cNvPr id="25" name="Picture 24" descr="06-critical-parts-mapped-23.png"/>
          <p:cNvPicPr>
            <a:picLocks noChangeAspect="1"/>
          </p:cNvPicPr>
          <p:nvPr/>
        </p:nvPicPr>
        <p:blipFill>
          <a:blip r:embed="rId5"/>
          <a:stretch>
            <a:fillRect/>
          </a:stretch>
        </p:blipFill>
        <p:spPr>
          <a:xfrm>
            <a:off x="777240" y="7360920"/>
            <a:ext cx="5413248" cy="1874519"/>
          </a:xfrm>
          <a:prstGeom prst="rect">
            <a:avLst/>
          </a:prstGeom>
        </p:spPr>
      </p:pic>
      <p:sp>
        <p:nvSpPr>
          <p:cNvPr id="26" name="Native editable glass border: critical-parts-mapped"/>
          <p:cNvSpPr/>
          <p:nvPr/>
        </p:nvSpPr>
        <p:spPr>
          <a:xfrm>
            <a:off x="777240" y="7360920"/>
            <a:ext cx="5413248" cy="1874519"/>
          </a:xfrm>
          <a:prstGeom prst="roundRect">
            <a:avLst>
              <a:gd name="adj" fmla="val 12195"/>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atistic label: CRITICAL PARTS MAPPED"/>
          <p:cNvSpPr txBox="1"/>
          <p:nvPr/>
        </p:nvSpPr>
        <p:spPr>
          <a:xfrm>
            <a:off x="987552" y="7525512"/>
            <a:ext cx="499262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CRITICAL PARTS MAPPED</a:t>
            </a:r>
          </a:p>
        </p:txBody>
      </p:sp>
      <p:sp>
        <p:nvSpPr>
          <p:cNvPr id="28" name="editable statistic: ~1,500"/>
          <p:cNvSpPr txBox="1"/>
          <p:nvPr/>
        </p:nvSpPr>
        <p:spPr>
          <a:xfrm>
            <a:off x="987552" y="8001000"/>
            <a:ext cx="4992624" cy="960119"/>
          </a:xfrm>
          <a:prstGeom prst="rect">
            <a:avLst/>
          </a:prstGeom>
          <a:noFill/>
        </p:spPr>
        <p:txBody>
          <a:bodyPr wrap="square" lIns="0" rIns="0" tIns="0" bIns="0" anchor="t">
            <a:spAutoFit/>
          </a:bodyPr>
          <a:lstStyle/>
          <a:p>
            <a:pPr algn="l">
              <a:lnSpc>
                <a:spcPts val="5040"/>
              </a:lnSpc>
              <a:spcBef>
                <a:spcPts val="0"/>
              </a:spcBef>
              <a:spcAft>
                <a:spcPts val="0"/>
              </a:spcAft>
            </a:pPr>
            <a:r>
              <a:rPr sz="4800" b="0" i="0">
                <a:solidFill>
                  <a:srgbClr val="FFFFFF"/>
                </a:solidFill>
                <a:latin typeface="Silkscreen"/>
              </a:rPr>
              <a:t>~1,500</a:t>
            </a:r>
          </a:p>
        </p:txBody>
      </p:sp>
      <p:sp>
        <p:nvSpPr>
          <p:cNvPr id="29" name="card source: Bloomberg Apr 2021 / Fortune Jan 2022"/>
          <p:cNvSpPr txBox="1"/>
          <p:nvPr/>
        </p:nvSpPr>
        <p:spPr>
          <a:xfrm>
            <a:off x="987552" y="8796528"/>
            <a:ext cx="499262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Bloomberg Apr 2021 / Fortune Jan 2022</a:t>
            </a:r>
          </a:p>
        </p:txBody>
      </p:sp>
      <p:pic>
        <p:nvPicPr>
          <p:cNvPr id="30" name="Picture 29" descr="06-us-output-kept-28.png"/>
          <p:cNvPicPr>
            <a:picLocks noChangeAspect="1"/>
          </p:cNvPicPr>
          <p:nvPr/>
        </p:nvPicPr>
        <p:blipFill>
          <a:blip r:embed="rId6"/>
          <a:stretch>
            <a:fillRect/>
          </a:stretch>
        </p:blipFill>
        <p:spPr>
          <a:xfrm>
            <a:off x="6419088" y="7360920"/>
            <a:ext cx="5413248" cy="1874519"/>
          </a:xfrm>
          <a:prstGeom prst="rect">
            <a:avLst/>
          </a:prstGeom>
        </p:spPr>
      </p:pic>
      <p:sp>
        <p:nvSpPr>
          <p:cNvPr id="31" name="Native editable glass border: us-output-kept"/>
          <p:cNvSpPr/>
          <p:nvPr/>
        </p:nvSpPr>
        <p:spPr>
          <a:xfrm>
            <a:off x="6419088" y="7360920"/>
            <a:ext cx="5413248" cy="1874519"/>
          </a:xfrm>
          <a:prstGeom prst="roundRect">
            <a:avLst>
              <a:gd name="adj" fmla="val 12195"/>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istic label: US OUTPUT KEPT"/>
          <p:cNvSpPr txBox="1"/>
          <p:nvPr/>
        </p:nvSpPr>
        <p:spPr>
          <a:xfrm>
            <a:off x="6629400" y="7525512"/>
            <a:ext cx="499262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US OUTPUT KEPT</a:t>
            </a:r>
          </a:p>
        </p:txBody>
      </p:sp>
      <p:sp>
        <p:nvSpPr>
          <p:cNvPr id="33" name="editable statistic: ~90%"/>
          <p:cNvSpPr txBox="1"/>
          <p:nvPr/>
        </p:nvSpPr>
        <p:spPr>
          <a:xfrm>
            <a:off x="6629400" y="8001000"/>
            <a:ext cx="4992624" cy="960119"/>
          </a:xfrm>
          <a:prstGeom prst="rect">
            <a:avLst/>
          </a:prstGeom>
          <a:noFill/>
        </p:spPr>
        <p:txBody>
          <a:bodyPr wrap="square" lIns="0" rIns="0" tIns="0" bIns="0" anchor="t">
            <a:spAutoFit/>
          </a:bodyPr>
          <a:lstStyle/>
          <a:p>
            <a:pPr algn="l">
              <a:lnSpc>
                <a:spcPts val="5040"/>
              </a:lnSpc>
              <a:spcBef>
                <a:spcPts val="0"/>
              </a:spcBef>
              <a:spcAft>
                <a:spcPts val="0"/>
              </a:spcAft>
            </a:pPr>
            <a:r>
              <a:rPr sz="4800" b="0" i="0">
                <a:solidFill>
                  <a:srgbClr val="FFFFFF"/>
                </a:solidFill>
                <a:latin typeface="Silkscreen"/>
              </a:rPr>
              <a:t>~90%</a:t>
            </a:r>
          </a:p>
        </p:txBody>
      </p:sp>
      <p:sp>
        <p:nvSpPr>
          <p:cNvPr id="34" name="card source: Bloomberg Apr 2021 / Fortune Jan 2022"/>
          <p:cNvSpPr txBox="1"/>
          <p:nvPr/>
        </p:nvSpPr>
        <p:spPr>
          <a:xfrm>
            <a:off x="6629400" y="8796528"/>
            <a:ext cx="499262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Bloomberg Apr 2021 / Fortune Jan 2022</a:t>
            </a:r>
          </a:p>
        </p:txBody>
      </p:sp>
      <p:pic>
        <p:nvPicPr>
          <p:cNvPr id="35" name="Picture 34" descr="06-gm-units-cut-33.png"/>
          <p:cNvPicPr>
            <a:picLocks noChangeAspect="1"/>
          </p:cNvPicPr>
          <p:nvPr/>
        </p:nvPicPr>
        <p:blipFill>
          <a:blip r:embed="rId7"/>
          <a:stretch>
            <a:fillRect/>
          </a:stretch>
        </p:blipFill>
        <p:spPr>
          <a:xfrm>
            <a:off x="12060936" y="7360920"/>
            <a:ext cx="5413248" cy="1874519"/>
          </a:xfrm>
          <a:prstGeom prst="rect">
            <a:avLst/>
          </a:prstGeom>
        </p:spPr>
      </p:pic>
      <p:sp>
        <p:nvSpPr>
          <p:cNvPr id="36" name="Native editable glass border: gm-units-cut"/>
          <p:cNvSpPr/>
          <p:nvPr/>
        </p:nvSpPr>
        <p:spPr>
          <a:xfrm>
            <a:off x="12060936" y="7360920"/>
            <a:ext cx="5413248" cy="1874519"/>
          </a:xfrm>
          <a:prstGeom prst="roundRect">
            <a:avLst>
              <a:gd name="adj" fmla="val 12195"/>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istic label: GM UNITS CUT"/>
          <p:cNvSpPr txBox="1"/>
          <p:nvPr/>
        </p:nvSpPr>
        <p:spPr>
          <a:xfrm>
            <a:off x="12271248" y="7525512"/>
            <a:ext cx="499262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GM UNITS CUT</a:t>
            </a:r>
          </a:p>
        </p:txBody>
      </p:sp>
      <p:sp>
        <p:nvSpPr>
          <p:cNvPr id="38" name="editable statistic: ~278,000"/>
          <p:cNvSpPr txBox="1"/>
          <p:nvPr/>
        </p:nvSpPr>
        <p:spPr>
          <a:xfrm>
            <a:off x="12271248" y="8001000"/>
            <a:ext cx="4992624" cy="960119"/>
          </a:xfrm>
          <a:prstGeom prst="rect">
            <a:avLst/>
          </a:prstGeom>
          <a:noFill/>
        </p:spPr>
        <p:txBody>
          <a:bodyPr wrap="square" lIns="0" rIns="0" tIns="0" bIns="0" anchor="t">
            <a:spAutoFit/>
          </a:bodyPr>
          <a:lstStyle/>
          <a:p>
            <a:pPr algn="l">
              <a:lnSpc>
                <a:spcPts val="5040"/>
              </a:lnSpc>
              <a:spcBef>
                <a:spcPts val="0"/>
              </a:spcBef>
              <a:spcAft>
                <a:spcPts val="0"/>
              </a:spcAft>
            </a:pPr>
            <a:r>
              <a:rPr sz="4800" b="0" i="0">
                <a:solidFill>
                  <a:srgbClr val="FFFFFF"/>
                </a:solidFill>
                <a:latin typeface="Silkscreen"/>
              </a:rPr>
              <a:t>~278,000</a:t>
            </a:r>
          </a:p>
        </p:txBody>
      </p:sp>
      <p:sp>
        <p:nvSpPr>
          <p:cNvPr id="39" name="card source: Bloomberg Apr 2021 / Fortune Jan 2022"/>
          <p:cNvSpPr txBox="1"/>
          <p:nvPr/>
        </p:nvSpPr>
        <p:spPr>
          <a:xfrm>
            <a:off x="12271248" y="8796528"/>
            <a:ext cx="499262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Bloomberg Apr 2021 / Fortune Jan 2022</a:t>
            </a:r>
          </a:p>
        </p:txBody>
      </p:sp>
      <p:cxnSp>
        <p:nvCxnSpPr>
          <p:cNvPr id="40" name="Connector 39"/>
          <p:cNvCxnSpPr/>
          <p:nvPr/>
        </p:nvCxnSpPr>
        <p:spPr>
          <a:xfrm flipH="1">
            <a:off x="9326880" y="4572000"/>
            <a:ext cx="4480560" cy="2157984"/>
          </a:xfrm>
          <a:prstGeom prst="line">
            <a:avLst/>
          </a:prstGeom>
          <a:ln w="19050">
            <a:solidFill>
              <a:srgbClr val="FFFFFF">
                <a:alpha val="80000"/>
              </a:srgbClr>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5943600" y="6729984"/>
            <a:ext cx="3383280" cy="749808"/>
          </a:xfrm>
          <a:prstGeom prst="line">
            <a:avLst/>
          </a:prstGeom>
          <a:ln w="19050">
            <a:solidFill>
              <a:srgbClr val="FFFFFF">
                <a:alpha val="80000"/>
              </a:srgbClr>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13711428" y="4475988"/>
            <a:ext cx="192024" cy="192024"/>
          </a:xfrm>
          <a:prstGeom prst="ellipse">
            <a:avLst/>
          </a:prstGeom>
          <a:noFill/>
          <a:ln w="15240">
            <a:solidFill>
              <a:srgbClr val="FFFFFF">
                <a:alpha val="8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773607" y="4538167"/>
            <a:ext cx="67665" cy="67665"/>
          </a:xfrm>
          <a:prstGeom prst="ellipse">
            <a:avLst/>
          </a:pr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07.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sp>
        <p:nvSpPr>
          <p:cNvPr id="8"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cxnSp>
        <p:nvCxnSpPr>
          <p:cNvPr id="9" name="Connector 8"/>
          <p:cNvCxnSpPr/>
          <p:nvPr/>
        </p:nvCxnSpPr>
        <p:spPr>
          <a:xfrm>
            <a:off x="8092440" y="1014984"/>
            <a:ext cx="160020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sp>
        <p:nvSpPr>
          <p:cNvPr id="10"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sp>
        <p:nvSpPr>
          <p:cNvPr id="11"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pic>
        <p:nvPicPr>
          <p:cNvPr id="12" name="Picture 11" descr="07-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07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07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Product workflow: supplied brief · Implementation: repository"/>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Product workflow: supplied brief · Implementation: repository</a:t>
            </a:r>
          </a:p>
        </p:txBody>
      </p:sp>
      <p:pic>
        <p:nvPicPr>
          <p:cNvPr id="19" name="Picture 18" descr="07-eyebrow-17.png"/>
          <p:cNvPicPr>
            <a:picLocks noChangeAspect="1"/>
          </p:cNvPicPr>
          <p:nvPr/>
        </p:nvPicPr>
        <p:blipFill>
          <a:blip r:embed="rId4"/>
          <a:stretch>
            <a:fillRect/>
          </a:stretch>
        </p:blipFill>
        <p:spPr>
          <a:xfrm>
            <a:off x="731520" y="1417320"/>
            <a:ext cx="3768280" cy="420624"/>
          </a:xfrm>
          <a:prstGeom prst="rect">
            <a:avLst/>
          </a:prstGeom>
        </p:spPr>
      </p:pic>
      <p:sp>
        <p:nvSpPr>
          <p:cNvPr id="20" name="Native editable glass border: eyebrow"/>
          <p:cNvSpPr/>
          <p:nvPr/>
        </p:nvSpPr>
        <p:spPr>
          <a:xfrm>
            <a:off x="731520" y="1417320"/>
            <a:ext cx="3768280"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07 · DETECT · SIMULATE · RESPOND"/>
          <p:cNvSpPr txBox="1"/>
          <p:nvPr/>
        </p:nvSpPr>
        <p:spPr>
          <a:xfrm>
            <a:off x="1106424" y="1536192"/>
            <a:ext cx="3265360"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07 · DETECT · SIMULATE · RESPOND</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13723"/>
              </a:lnSpc>
              <a:spcBef>
                <a:spcPts val="0"/>
              </a:spcBef>
              <a:spcAft>
                <a:spcPts val="0"/>
              </a:spcAft>
            </a:pPr>
            <a:r>
              <a:rPr sz="14600" i="0">
                <a:solidFill>
                  <a:srgbClr val="FFFFFF"/>
                </a:solidFill>
                <a:latin typeface="Instrument Serif"/>
              </a:rPr>
              <a:t>Meet</a:t>
            </a:r>
          </a:p>
          <a:p>
            <a:pPr>
              <a:lnSpc>
                <a:spcPts val="13723"/>
              </a:lnSpc>
              <a:spcBef>
                <a:spcPts val="0"/>
              </a:spcBef>
              <a:spcAft>
                <a:spcPts val="0"/>
              </a:spcAft>
            </a:pPr>
            <a:r>
              <a:rPr sz="14600" i="1">
                <a:solidFill>
                  <a:srgbClr val="FFB05C"/>
                </a:solidFill>
                <a:latin typeface="Instrument Serif"/>
              </a:rPr>
              <a:t>ShockTwin.</a:t>
            </a:r>
          </a:p>
        </p:txBody>
      </p:sp>
      <p:sp>
        <p:nvSpPr>
          <p:cNvPr id="24" name="single supporting sentence: One connected loop: Detect, Simulate, Respond."/>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One connected loop: Detect, Simulate, Respond.</a:t>
            </a:r>
          </a:p>
        </p:txBody>
      </p:sp>
      <p:pic>
        <p:nvPicPr>
          <p:cNvPr id="25" name="Picture 24" descr="07-product-phase-23.png"/>
          <p:cNvPicPr>
            <a:picLocks noChangeAspect="1"/>
          </p:cNvPicPr>
          <p:nvPr/>
        </p:nvPicPr>
        <p:blipFill>
          <a:blip r:embed="rId5"/>
          <a:stretch>
            <a:fillRect/>
          </a:stretch>
        </p:blipFill>
        <p:spPr>
          <a:xfrm>
            <a:off x="777240" y="7315200"/>
            <a:ext cx="5413248" cy="1920240"/>
          </a:xfrm>
          <a:prstGeom prst="rect">
            <a:avLst/>
          </a:prstGeom>
        </p:spPr>
      </p:pic>
      <p:sp>
        <p:nvSpPr>
          <p:cNvPr id="26" name="Native editable glass border: product-phase"/>
          <p:cNvSpPr/>
          <p:nvPr/>
        </p:nvSpPr>
        <p:spPr>
          <a:xfrm>
            <a:off x="777240" y="7315200"/>
            <a:ext cx="5413248" cy="1920240"/>
          </a:xfrm>
          <a:prstGeom prst="roundRect">
            <a:avLst>
              <a:gd name="adj" fmla="val 11904"/>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roduct ordinal: 01"/>
          <p:cNvSpPr txBox="1"/>
          <p:nvPr/>
        </p:nvSpPr>
        <p:spPr>
          <a:xfrm>
            <a:off x="1014983" y="7543800"/>
            <a:ext cx="4937760" cy="365760"/>
          </a:xfrm>
          <a:prstGeom prst="rect">
            <a:avLst/>
          </a:prstGeom>
          <a:noFill/>
        </p:spPr>
        <p:txBody>
          <a:bodyPr wrap="square" lIns="0" rIns="0" tIns="0" bIns="0" anchor="t">
            <a:spAutoFit/>
          </a:bodyPr>
          <a:lstStyle/>
          <a:p>
            <a:pPr algn="l">
              <a:lnSpc>
                <a:spcPts val="2464"/>
              </a:lnSpc>
              <a:spcBef>
                <a:spcPts val="0"/>
              </a:spcBef>
              <a:spcAft>
                <a:spcPts val="0"/>
              </a:spcAft>
            </a:pPr>
            <a:r>
              <a:rPr sz="2200" b="0" i="0">
                <a:solidFill>
                  <a:srgbClr val="FFFFFF"/>
                </a:solidFill>
                <a:latin typeface="Silkscreen"/>
              </a:rPr>
              <a:t>01</a:t>
            </a:r>
          </a:p>
        </p:txBody>
      </p:sp>
      <p:sp>
        <p:nvSpPr>
          <p:cNvPr id="28" name="product phase: Detect"/>
          <p:cNvSpPr txBox="1"/>
          <p:nvPr/>
        </p:nvSpPr>
        <p:spPr>
          <a:xfrm>
            <a:off x="1014983" y="8092440"/>
            <a:ext cx="4937760" cy="640080"/>
          </a:xfrm>
          <a:prstGeom prst="rect">
            <a:avLst/>
          </a:prstGeom>
          <a:noFill/>
        </p:spPr>
        <p:txBody>
          <a:bodyPr wrap="square" lIns="0" rIns="0" tIns="0" bIns="0" anchor="t">
            <a:spAutoFit/>
          </a:bodyPr>
          <a:lstStyle/>
          <a:p>
            <a:pPr algn="l">
              <a:lnSpc>
                <a:spcPts val="3920"/>
              </a:lnSpc>
              <a:spcBef>
                <a:spcPts val="0"/>
              </a:spcBef>
              <a:spcAft>
                <a:spcPts val="0"/>
              </a:spcAft>
            </a:pPr>
            <a:r>
              <a:rPr sz="3500" b="0" i="0">
                <a:solidFill>
                  <a:srgbClr val="FFFFFF"/>
                </a:solidFill>
                <a:latin typeface="Inter"/>
              </a:rPr>
              <a:t>Detect</a:t>
            </a:r>
          </a:p>
        </p:txBody>
      </p:sp>
      <p:sp>
        <p:nvSpPr>
          <p:cNvPr id="29" name="card source: Supplied product loop"/>
          <p:cNvSpPr txBox="1"/>
          <p:nvPr/>
        </p:nvSpPr>
        <p:spPr>
          <a:xfrm>
            <a:off x="1014983" y="8823960"/>
            <a:ext cx="4846320" cy="365760"/>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Supplied product loop</a:t>
            </a:r>
          </a:p>
        </p:txBody>
      </p:sp>
      <p:pic>
        <p:nvPicPr>
          <p:cNvPr id="30" name="Picture 29" descr="07-product-phase-28.png"/>
          <p:cNvPicPr>
            <a:picLocks noChangeAspect="1"/>
          </p:cNvPicPr>
          <p:nvPr/>
        </p:nvPicPr>
        <p:blipFill>
          <a:blip r:embed="rId6"/>
          <a:stretch>
            <a:fillRect/>
          </a:stretch>
        </p:blipFill>
        <p:spPr>
          <a:xfrm>
            <a:off x="6419088" y="7315200"/>
            <a:ext cx="5413248" cy="1920240"/>
          </a:xfrm>
          <a:prstGeom prst="rect">
            <a:avLst/>
          </a:prstGeom>
        </p:spPr>
      </p:pic>
      <p:sp>
        <p:nvSpPr>
          <p:cNvPr id="31" name="Native editable glass border: product-phase"/>
          <p:cNvSpPr/>
          <p:nvPr/>
        </p:nvSpPr>
        <p:spPr>
          <a:xfrm>
            <a:off x="6419088" y="7315200"/>
            <a:ext cx="5413248" cy="1920240"/>
          </a:xfrm>
          <a:prstGeom prst="roundRect">
            <a:avLst>
              <a:gd name="adj" fmla="val 11904"/>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roduct ordinal: 02"/>
          <p:cNvSpPr txBox="1"/>
          <p:nvPr/>
        </p:nvSpPr>
        <p:spPr>
          <a:xfrm>
            <a:off x="6656831" y="7543800"/>
            <a:ext cx="4937760" cy="365760"/>
          </a:xfrm>
          <a:prstGeom prst="rect">
            <a:avLst/>
          </a:prstGeom>
          <a:noFill/>
        </p:spPr>
        <p:txBody>
          <a:bodyPr wrap="square" lIns="0" rIns="0" tIns="0" bIns="0" anchor="t">
            <a:spAutoFit/>
          </a:bodyPr>
          <a:lstStyle/>
          <a:p>
            <a:pPr algn="l">
              <a:lnSpc>
                <a:spcPts val="2464"/>
              </a:lnSpc>
              <a:spcBef>
                <a:spcPts val="0"/>
              </a:spcBef>
              <a:spcAft>
                <a:spcPts val="0"/>
              </a:spcAft>
            </a:pPr>
            <a:r>
              <a:rPr sz="2200" b="0" i="0">
                <a:solidFill>
                  <a:srgbClr val="FFFFFF"/>
                </a:solidFill>
                <a:latin typeface="Silkscreen"/>
              </a:rPr>
              <a:t>02</a:t>
            </a:r>
          </a:p>
        </p:txBody>
      </p:sp>
      <p:sp>
        <p:nvSpPr>
          <p:cNvPr id="33" name="product phase: Simulate"/>
          <p:cNvSpPr txBox="1"/>
          <p:nvPr/>
        </p:nvSpPr>
        <p:spPr>
          <a:xfrm>
            <a:off x="6656831" y="8092440"/>
            <a:ext cx="4937760" cy="640080"/>
          </a:xfrm>
          <a:prstGeom prst="rect">
            <a:avLst/>
          </a:prstGeom>
          <a:noFill/>
        </p:spPr>
        <p:txBody>
          <a:bodyPr wrap="square" lIns="0" rIns="0" tIns="0" bIns="0" anchor="t">
            <a:spAutoFit/>
          </a:bodyPr>
          <a:lstStyle/>
          <a:p>
            <a:pPr algn="l">
              <a:lnSpc>
                <a:spcPts val="3920"/>
              </a:lnSpc>
              <a:spcBef>
                <a:spcPts val="0"/>
              </a:spcBef>
              <a:spcAft>
                <a:spcPts val="0"/>
              </a:spcAft>
            </a:pPr>
            <a:r>
              <a:rPr sz="3500" b="0" i="0">
                <a:solidFill>
                  <a:srgbClr val="FFFFFF"/>
                </a:solidFill>
                <a:latin typeface="Inter"/>
              </a:rPr>
              <a:t>Simulate</a:t>
            </a:r>
          </a:p>
        </p:txBody>
      </p:sp>
      <p:sp>
        <p:nvSpPr>
          <p:cNvPr id="34" name="card source: Supplied product loop"/>
          <p:cNvSpPr txBox="1"/>
          <p:nvPr/>
        </p:nvSpPr>
        <p:spPr>
          <a:xfrm>
            <a:off x="6656831" y="8823960"/>
            <a:ext cx="4846320" cy="365760"/>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Supplied product loop</a:t>
            </a:r>
          </a:p>
        </p:txBody>
      </p:sp>
      <p:pic>
        <p:nvPicPr>
          <p:cNvPr id="35" name="Picture 34" descr="07-product-phase-33.png"/>
          <p:cNvPicPr>
            <a:picLocks noChangeAspect="1"/>
          </p:cNvPicPr>
          <p:nvPr/>
        </p:nvPicPr>
        <p:blipFill>
          <a:blip r:embed="rId7"/>
          <a:stretch>
            <a:fillRect/>
          </a:stretch>
        </p:blipFill>
        <p:spPr>
          <a:xfrm>
            <a:off x="12060936" y="7315200"/>
            <a:ext cx="5413248" cy="1920240"/>
          </a:xfrm>
          <a:prstGeom prst="rect">
            <a:avLst/>
          </a:prstGeom>
        </p:spPr>
      </p:pic>
      <p:sp>
        <p:nvSpPr>
          <p:cNvPr id="36" name="Native editable glass border: product-phase"/>
          <p:cNvSpPr/>
          <p:nvPr/>
        </p:nvSpPr>
        <p:spPr>
          <a:xfrm>
            <a:off x="12060936" y="7315200"/>
            <a:ext cx="5413248" cy="1920240"/>
          </a:xfrm>
          <a:prstGeom prst="roundRect">
            <a:avLst>
              <a:gd name="adj" fmla="val 11904"/>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roduct ordinal: 03"/>
          <p:cNvSpPr txBox="1"/>
          <p:nvPr/>
        </p:nvSpPr>
        <p:spPr>
          <a:xfrm>
            <a:off x="12298680" y="7543800"/>
            <a:ext cx="4937760" cy="365760"/>
          </a:xfrm>
          <a:prstGeom prst="rect">
            <a:avLst/>
          </a:prstGeom>
          <a:noFill/>
        </p:spPr>
        <p:txBody>
          <a:bodyPr wrap="square" lIns="0" rIns="0" tIns="0" bIns="0" anchor="t">
            <a:spAutoFit/>
          </a:bodyPr>
          <a:lstStyle/>
          <a:p>
            <a:pPr algn="l">
              <a:lnSpc>
                <a:spcPts val="2464"/>
              </a:lnSpc>
              <a:spcBef>
                <a:spcPts val="0"/>
              </a:spcBef>
              <a:spcAft>
                <a:spcPts val="0"/>
              </a:spcAft>
            </a:pPr>
            <a:r>
              <a:rPr sz="2200" b="0" i="0">
                <a:solidFill>
                  <a:srgbClr val="FFFFFF"/>
                </a:solidFill>
                <a:latin typeface="Silkscreen"/>
              </a:rPr>
              <a:t>03</a:t>
            </a:r>
          </a:p>
        </p:txBody>
      </p:sp>
      <p:sp>
        <p:nvSpPr>
          <p:cNvPr id="38" name="product phase: Respond"/>
          <p:cNvSpPr txBox="1"/>
          <p:nvPr/>
        </p:nvSpPr>
        <p:spPr>
          <a:xfrm>
            <a:off x="12298680" y="8092440"/>
            <a:ext cx="4937760" cy="640080"/>
          </a:xfrm>
          <a:prstGeom prst="rect">
            <a:avLst/>
          </a:prstGeom>
          <a:noFill/>
        </p:spPr>
        <p:txBody>
          <a:bodyPr wrap="square" lIns="0" rIns="0" tIns="0" bIns="0" anchor="t">
            <a:spAutoFit/>
          </a:bodyPr>
          <a:lstStyle/>
          <a:p>
            <a:pPr algn="l">
              <a:lnSpc>
                <a:spcPts val="3920"/>
              </a:lnSpc>
              <a:spcBef>
                <a:spcPts val="0"/>
              </a:spcBef>
              <a:spcAft>
                <a:spcPts val="0"/>
              </a:spcAft>
            </a:pPr>
            <a:r>
              <a:rPr sz="3500" b="0" i="0">
                <a:solidFill>
                  <a:srgbClr val="FFFFFF"/>
                </a:solidFill>
                <a:latin typeface="Inter"/>
              </a:rPr>
              <a:t>Respond</a:t>
            </a:r>
          </a:p>
        </p:txBody>
      </p:sp>
      <p:sp>
        <p:nvSpPr>
          <p:cNvPr id="39" name="card source: Supplied product loop"/>
          <p:cNvSpPr txBox="1"/>
          <p:nvPr/>
        </p:nvSpPr>
        <p:spPr>
          <a:xfrm>
            <a:off x="12298680" y="8823960"/>
            <a:ext cx="4846320" cy="365760"/>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Supplied product loop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08.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sp>
        <p:nvSpPr>
          <p:cNvPr id="8"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cxnSp>
        <p:nvCxnSpPr>
          <p:cNvPr id="9" name="Connector 8"/>
          <p:cNvCxnSpPr/>
          <p:nvPr/>
        </p:nvCxnSpPr>
        <p:spPr>
          <a:xfrm>
            <a:off x="8092440" y="1014984"/>
            <a:ext cx="160020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sp>
        <p:nvSpPr>
          <p:cNvPr id="10"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sp>
        <p:nvSpPr>
          <p:cNvPr id="11"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pic>
        <p:nvPicPr>
          <p:cNvPr id="12" name="Picture 11" descr="08-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08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08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Illustrative local demo · Synthetic GraphSAGE scores · Kosasih &amp; Brint"/>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Illustrative local demo · Synthetic GraphSAGE scores · Kosasih &amp; Brintrup, IJPR 2022</a:t>
            </a:r>
          </a:p>
        </p:txBody>
      </p:sp>
      <p:pic>
        <p:nvPicPr>
          <p:cNvPr id="19" name="Picture 18" descr="08-eyebrow-17.png"/>
          <p:cNvPicPr>
            <a:picLocks noChangeAspect="1"/>
          </p:cNvPicPr>
          <p:nvPr/>
        </p:nvPicPr>
        <p:blipFill>
          <a:blip r:embed="rId4"/>
          <a:stretch>
            <a:fillRect/>
          </a:stretch>
        </p:blipFill>
        <p:spPr>
          <a:xfrm>
            <a:off x="731520" y="1417320"/>
            <a:ext cx="2213324" cy="420624"/>
          </a:xfrm>
          <a:prstGeom prst="rect">
            <a:avLst/>
          </a:prstGeom>
        </p:spPr>
      </p:pic>
      <p:sp>
        <p:nvSpPr>
          <p:cNvPr id="20" name="Native editable glass border: eyebrow"/>
          <p:cNvSpPr/>
          <p:nvPr/>
        </p:nvSpPr>
        <p:spPr>
          <a:xfrm>
            <a:off x="731520" y="1417320"/>
            <a:ext cx="2213324"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08 · 01 · DETECT"/>
          <p:cNvSpPr txBox="1"/>
          <p:nvPr/>
        </p:nvSpPr>
        <p:spPr>
          <a:xfrm>
            <a:off x="1106424" y="1536192"/>
            <a:ext cx="1710404"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08 · 01 · DETECT</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9400"/>
              </a:lnSpc>
              <a:spcBef>
                <a:spcPts val="0"/>
              </a:spcBef>
              <a:spcAft>
                <a:spcPts val="0"/>
              </a:spcAft>
            </a:pPr>
            <a:r>
              <a:rPr sz="10000" i="0">
                <a:solidFill>
                  <a:srgbClr val="FFFFFF"/>
                </a:solidFill>
                <a:latin typeface="Instrument Serif"/>
              </a:rPr>
              <a:t>Find </a:t>
            </a:r>
            <a:r>
              <a:rPr sz="10000" i="0">
                <a:solidFill>
                  <a:srgbClr val="FFFFFF"/>
                </a:solidFill>
                <a:latin typeface="Instrument Serif"/>
              </a:rPr>
              <a:t>the </a:t>
            </a:r>
            <a:r>
              <a:rPr sz="10000" i="0">
                <a:solidFill>
                  <a:srgbClr val="FFFFFF"/>
                </a:solidFill>
                <a:latin typeface="Instrument Serif"/>
              </a:rPr>
              <a:t>suppliers</a:t>
            </a:r>
          </a:p>
          <a:p>
            <a:pPr>
              <a:lnSpc>
                <a:spcPts val="9400"/>
              </a:lnSpc>
              <a:spcBef>
                <a:spcPts val="0"/>
              </a:spcBef>
              <a:spcAft>
                <a:spcPts val="0"/>
              </a:spcAft>
            </a:pPr>
            <a:r>
              <a:rPr sz="10000" i="1">
                <a:solidFill>
                  <a:srgbClr val="FFB05C"/>
                </a:solidFill>
                <a:latin typeface="Instrument Serif"/>
              </a:rPr>
              <a:t>you </a:t>
            </a:r>
            <a:r>
              <a:rPr sz="10000" i="1">
                <a:solidFill>
                  <a:srgbClr val="FFB05C"/>
                </a:solidFill>
                <a:latin typeface="Instrument Serif"/>
              </a:rPr>
              <a:t>never </a:t>
            </a:r>
            <a:r>
              <a:rPr sz="10000" i="1">
                <a:solidFill>
                  <a:srgbClr val="FFB05C"/>
                </a:solidFill>
                <a:latin typeface="Instrument Serif"/>
              </a:rPr>
              <a:t>knew.</a:t>
            </a:r>
          </a:p>
        </p:txBody>
      </p:sp>
      <p:sp>
        <p:nvSpPr>
          <p:cNvPr id="24" name="single supporting sentence: Illustrative: three immediate suppliers share one hidden resin plant."/>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Illustrative: three immediate suppliers share one hidden resin</a:t>
            </a:r>
          </a:p>
          <a:p>
            <a:pPr algn="l">
              <a:lnSpc>
                <a:spcPts val="2645"/>
              </a:lnSpc>
              <a:spcBef>
                <a:spcPts val="0"/>
              </a:spcBef>
              <a:spcAft>
                <a:spcPts val="0"/>
              </a:spcAft>
            </a:pPr>
            <a:r>
              <a:rPr sz="2300" b="0" i="0">
                <a:solidFill>
                  <a:srgbClr val="FFFFFF"/>
                </a:solidFill>
                <a:latin typeface="Inter"/>
              </a:rPr>
              <a:t>plant.</a:t>
            </a:r>
          </a:p>
        </p:txBody>
      </p:sp>
      <p:pic>
        <p:nvPicPr>
          <p:cNvPr id="25" name="Picture 24" descr="08-real-app-device-23.png"/>
          <p:cNvPicPr>
            <a:picLocks noChangeAspect="1"/>
          </p:cNvPicPr>
          <p:nvPr/>
        </p:nvPicPr>
        <p:blipFill>
          <a:blip r:embed="rId5"/>
          <a:stretch>
            <a:fillRect/>
          </a:stretch>
        </p:blipFill>
        <p:spPr>
          <a:xfrm>
            <a:off x="9555480" y="2103120"/>
            <a:ext cx="7909560" cy="4572000"/>
          </a:xfrm>
          <a:prstGeom prst="rect">
            <a:avLst/>
          </a:prstGeom>
        </p:spPr>
      </p:pic>
      <p:sp>
        <p:nvSpPr>
          <p:cNvPr id="26" name="Native editable glass border: real-app-device"/>
          <p:cNvSpPr/>
          <p:nvPr/>
        </p:nvSpPr>
        <p:spPr>
          <a:xfrm>
            <a:off x="9555480" y="2103120"/>
            <a:ext cx="7909560" cy="4572000"/>
          </a:xfrm>
          <a:prstGeom prst="roundRect">
            <a:avLst>
              <a:gd name="adj" fmla="val 500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al screenshot label: DETECT · REAL APP · ILLUSTRATIVE"/>
          <p:cNvSpPr txBox="1"/>
          <p:nvPr/>
        </p:nvSpPr>
        <p:spPr>
          <a:xfrm>
            <a:off x="9774936" y="2286000"/>
            <a:ext cx="7470648" cy="320040"/>
          </a:xfrm>
          <a:prstGeom prst="rect">
            <a:avLst/>
          </a:prstGeom>
          <a:noFill/>
        </p:spPr>
        <p:txBody>
          <a:bodyPr wrap="square" lIns="0" rIns="0" tIns="0" bIns="0" anchor="t">
            <a:spAutoFit/>
          </a:bodyPr>
          <a:lstStyle/>
          <a:p>
            <a:pPr algn="l">
              <a:lnSpc>
                <a:spcPts val="1456"/>
              </a:lnSpc>
              <a:spcBef>
                <a:spcPts val="0"/>
              </a:spcBef>
              <a:spcAft>
                <a:spcPts val="0"/>
              </a:spcAft>
            </a:pPr>
            <a:r>
              <a:rPr sz="1300" b="0" i="0">
                <a:solidFill>
                  <a:srgbClr val="FFFFFF"/>
                </a:solidFill>
                <a:latin typeface="DM Mono"/>
              </a:rPr>
              <a:t>DETECT · REAL APP · ILLUSTRATIVE</a:t>
            </a:r>
          </a:p>
        </p:txBody>
      </p:sp>
      <p:pic>
        <p:nvPicPr>
          <p:cNvPr id="28" name="Picture 27" descr="slide-08-real-risk-map.png"/>
          <p:cNvPicPr>
            <a:picLocks noChangeAspect="1"/>
          </p:cNvPicPr>
          <p:nvPr/>
        </p:nvPicPr>
        <p:blipFill>
          <a:blip r:embed="rId6"/>
          <a:stretch>
            <a:fillRect/>
          </a:stretch>
        </p:blipFill>
        <p:spPr>
          <a:xfrm>
            <a:off x="9756648" y="2908933"/>
            <a:ext cx="7507224" cy="3070101"/>
          </a:xfrm>
          <a:prstGeom prst="rect">
            <a:avLst/>
          </a:prstGeom>
        </p:spPr>
      </p:pic>
      <p:sp>
        <p:nvSpPr>
          <p:cNvPr id="29" name="card source: Illustrative local app · actual browser capture"/>
          <p:cNvSpPr txBox="1"/>
          <p:nvPr/>
        </p:nvSpPr>
        <p:spPr>
          <a:xfrm>
            <a:off x="9774936" y="6318504"/>
            <a:ext cx="7470648" cy="256032"/>
          </a:xfrm>
          <a:prstGeom prst="rect">
            <a:avLst/>
          </a:prstGeom>
          <a:noFill/>
        </p:spPr>
        <p:txBody>
          <a:bodyPr wrap="square" lIns="0" rIns="0" tIns="0" bIns="0" anchor="t">
            <a:spAutoFit/>
          </a:bodyPr>
          <a:lstStyle/>
          <a:p>
            <a:pPr algn="l">
              <a:lnSpc>
                <a:spcPts val="1030"/>
              </a:lnSpc>
              <a:spcBef>
                <a:spcPts val="0"/>
              </a:spcBef>
              <a:spcAft>
                <a:spcPts val="0"/>
              </a:spcAft>
            </a:pPr>
            <a:r>
              <a:rPr sz="919" b="0" i="0">
                <a:solidFill>
                  <a:srgbClr val="E5EBE9"/>
                </a:solidFill>
                <a:latin typeface="DM Mono"/>
              </a:rPr>
              <a:t>Illustrative local app · actual browser capture</a:t>
            </a:r>
          </a:p>
        </p:txBody>
      </p:sp>
      <p:pic>
        <p:nvPicPr>
          <p:cNvPr id="30" name="Picture 29" descr="08-immediate-suppliers-28.png"/>
          <p:cNvPicPr>
            <a:picLocks noChangeAspect="1"/>
          </p:cNvPicPr>
          <p:nvPr/>
        </p:nvPicPr>
        <p:blipFill>
          <a:blip r:embed="rId7"/>
          <a:stretch>
            <a:fillRect/>
          </a:stretch>
        </p:blipFill>
        <p:spPr>
          <a:xfrm>
            <a:off x="777240" y="7452360"/>
            <a:ext cx="2523744" cy="1783080"/>
          </a:xfrm>
          <a:prstGeom prst="rect">
            <a:avLst/>
          </a:prstGeom>
        </p:spPr>
      </p:pic>
      <p:sp>
        <p:nvSpPr>
          <p:cNvPr id="31" name="Native editable glass border: immediate-suppliers"/>
          <p:cNvSpPr/>
          <p:nvPr/>
        </p:nvSpPr>
        <p:spPr>
          <a:xfrm>
            <a:off x="777240" y="7452360"/>
            <a:ext cx="2523744"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istic label: IMMEDIATE&#10;SUPPLIERS"/>
          <p:cNvSpPr txBox="1"/>
          <p:nvPr/>
        </p:nvSpPr>
        <p:spPr>
          <a:xfrm>
            <a:off x="987552" y="7616952"/>
            <a:ext cx="2103120"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IMMEDIATE</a:t>
            </a:r>
          </a:p>
          <a:p>
            <a:pPr algn="l">
              <a:lnSpc>
                <a:spcPts val="1391"/>
              </a:lnSpc>
              <a:spcBef>
                <a:spcPts val="0"/>
              </a:spcBef>
              <a:spcAft>
                <a:spcPts val="0"/>
              </a:spcAft>
            </a:pPr>
            <a:r>
              <a:rPr sz="1300" b="0" i="0">
                <a:solidFill>
                  <a:srgbClr val="FFFFFF"/>
                </a:solidFill>
                <a:latin typeface="DM Mono"/>
              </a:rPr>
              <a:t>SUPPLIERS</a:t>
            </a:r>
          </a:p>
        </p:txBody>
      </p:sp>
      <p:sp>
        <p:nvSpPr>
          <p:cNvPr id="33" name="editable statistic: 5"/>
          <p:cNvSpPr txBox="1"/>
          <p:nvPr/>
        </p:nvSpPr>
        <p:spPr>
          <a:xfrm>
            <a:off x="987552" y="8092440"/>
            <a:ext cx="2103120" cy="868680"/>
          </a:xfrm>
          <a:prstGeom prst="rect">
            <a:avLst/>
          </a:prstGeom>
          <a:noFill/>
        </p:spPr>
        <p:txBody>
          <a:bodyPr wrap="square" lIns="0" rIns="0" tIns="0" bIns="0" anchor="t">
            <a:spAutoFit/>
          </a:bodyPr>
          <a:lstStyle/>
          <a:p>
            <a:pPr algn="l">
              <a:lnSpc>
                <a:spcPts val="4515"/>
              </a:lnSpc>
              <a:spcBef>
                <a:spcPts val="0"/>
              </a:spcBef>
              <a:spcAft>
                <a:spcPts val="0"/>
              </a:spcAft>
            </a:pPr>
            <a:r>
              <a:rPr sz="4300" b="0" i="0">
                <a:solidFill>
                  <a:srgbClr val="FFFFFF"/>
                </a:solidFill>
                <a:latin typeface="Silkscreen"/>
              </a:rPr>
              <a:t>5</a:t>
            </a:r>
          </a:p>
        </p:txBody>
      </p:sp>
      <p:sp>
        <p:nvSpPr>
          <p:cNvPr id="34" name="card source: Illustrative seed"/>
          <p:cNvSpPr txBox="1"/>
          <p:nvPr/>
        </p:nvSpPr>
        <p:spPr>
          <a:xfrm>
            <a:off x="987552" y="8796528"/>
            <a:ext cx="2103120" cy="356616"/>
          </a:xfrm>
          <a:prstGeom prst="rect">
            <a:avLst/>
          </a:prstGeom>
          <a:noFill/>
        </p:spPr>
        <p:txBody>
          <a:bodyPr wrap="square" lIns="0" rIns="0" tIns="0" bIns="0" anchor="t">
            <a:spAutoFit/>
          </a:bodyPr>
          <a:lstStyle/>
          <a:p>
            <a:pPr algn="l">
              <a:lnSpc>
                <a:spcPts val="952"/>
              </a:lnSpc>
              <a:spcBef>
                <a:spcPts val="0"/>
              </a:spcBef>
              <a:spcAft>
                <a:spcPts val="0"/>
              </a:spcAft>
            </a:pPr>
            <a:r>
              <a:rPr sz="850" b="0" i="0">
                <a:solidFill>
                  <a:srgbClr val="E5EBE9"/>
                </a:solidFill>
                <a:latin typeface="DM Mono"/>
              </a:rPr>
              <a:t>Illustrative seed</a:t>
            </a:r>
          </a:p>
        </p:txBody>
      </p:sp>
      <p:pic>
        <p:nvPicPr>
          <p:cNvPr id="35" name="Picture 34" descr="08-shared-upstream-plant-33.png"/>
          <p:cNvPicPr>
            <a:picLocks noChangeAspect="1"/>
          </p:cNvPicPr>
          <p:nvPr/>
        </p:nvPicPr>
        <p:blipFill>
          <a:blip r:embed="rId8"/>
          <a:stretch>
            <a:fillRect/>
          </a:stretch>
        </p:blipFill>
        <p:spPr>
          <a:xfrm>
            <a:off x="3502152" y="7452360"/>
            <a:ext cx="2523744" cy="1783080"/>
          </a:xfrm>
          <a:prstGeom prst="rect">
            <a:avLst/>
          </a:prstGeom>
        </p:spPr>
      </p:pic>
      <p:sp>
        <p:nvSpPr>
          <p:cNvPr id="36" name="Native editable glass border: shared-upstream-plant"/>
          <p:cNvSpPr/>
          <p:nvPr/>
        </p:nvSpPr>
        <p:spPr>
          <a:xfrm>
            <a:off x="3502152" y="7452360"/>
            <a:ext cx="2523744"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istic label: SHARED&#10;UPSTREAM PLANT"/>
          <p:cNvSpPr txBox="1"/>
          <p:nvPr/>
        </p:nvSpPr>
        <p:spPr>
          <a:xfrm>
            <a:off x="3712464" y="7616952"/>
            <a:ext cx="2103120"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SHARED</a:t>
            </a:r>
          </a:p>
          <a:p>
            <a:pPr algn="l">
              <a:lnSpc>
                <a:spcPts val="1391"/>
              </a:lnSpc>
              <a:spcBef>
                <a:spcPts val="0"/>
              </a:spcBef>
              <a:spcAft>
                <a:spcPts val="0"/>
              </a:spcAft>
            </a:pPr>
            <a:r>
              <a:rPr sz="1300" b="0" i="0">
                <a:solidFill>
                  <a:srgbClr val="FFFFFF"/>
                </a:solidFill>
                <a:latin typeface="DM Mono"/>
              </a:rPr>
              <a:t>UPSTREAM PLANT</a:t>
            </a:r>
          </a:p>
        </p:txBody>
      </p:sp>
      <p:sp>
        <p:nvSpPr>
          <p:cNvPr id="38" name="editable statistic: 1"/>
          <p:cNvSpPr txBox="1"/>
          <p:nvPr/>
        </p:nvSpPr>
        <p:spPr>
          <a:xfrm>
            <a:off x="3712464" y="8092440"/>
            <a:ext cx="2103120" cy="868680"/>
          </a:xfrm>
          <a:prstGeom prst="rect">
            <a:avLst/>
          </a:prstGeom>
          <a:noFill/>
        </p:spPr>
        <p:txBody>
          <a:bodyPr wrap="square" lIns="0" rIns="0" tIns="0" bIns="0" anchor="t">
            <a:spAutoFit/>
          </a:bodyPr>
          <a:lstStyle/>
          <a:p>
            <a:pPr algn="l">
              <a:lnSpc>
                <a:spcPts val="4515"/>
              </a:lnSpc>
              <a:spcBef>
                <a:spcPts val="0"/>
              </a:spcBef>
              <a:spcAft>
                <a:spcPts val="0"/>
              </a:spcAft>
            </a:pPr>
            <a:r>
              <a:rPr sz="4300" b="0" i="0">
                <a:solidFill>
                  <a:srgbClr val="FFFFFF"/>
                </a:solidFill>
                <a:latin typeface="Silkscreen"/>
              </a:rPr>
              <a:t>1</a:t>
            </a:r>
          </a:p>
        </p:txBody>
      </p:sp>
      <p:sp>
        <p:nvSpPr>
          <p:cNvPr id="39" name="card source: Illustrative seed"/>
          <p:cNvSpPr txBox="1"/>
          <p:nvPr/>
        </p:nvSpPr>
        <p:spPr>
          <a:xfrm>
            <a:off x="3712464" y="8796528"/>
            <a:ext cx="2103120" cy="356616"/>
          </a:xfrm>
          <a:prstGeom prst="rect">
            <a:avLst/>
          </a:prstGeom>
          <a:noFill/>
        </p:spPr>
        <p:txBody>
          <a:bodyPr wrap="square" lIns="0" rIns="0" tIns="0" bIns="0" anchor="t">
            <a:spAutoFit/>
          </a:bodyPr>
          <a:lstStyle/>
          <a:p>
            <a:pPr algn="l">
              <a:lnSpc>
                <a:spcPts val="952"/>
              </a:lnSpc>
              <a:spcBef>
                <a:spcPts val="0"/>
              </a:spcBef>
              <a:spcAft>
                <a:spcPts val="0"/>
              </a:spcAft>
            </a:pPr>
            <a:r>
              <a:rPr sz="850" b="0" i="0">
                <a:solidFill>
                  <a:srgbClr val="E5EBE9"/>
                </a:solidFill>
                <a:latin typeface="DM Mono"/>
              </a:rPr>
              <a:t>Illustrative seed</a:t>
            </a:r>
          </a:p>
        </p:txBody>
      </p:sp>
      <p:pic>
        <p:nvPicPr>
          <p:cNvPr id="40" name="Picture 39" descr="08-dependent-suppliers-38.png"/>
          <p:cNvPicPr>
            <a:picLocks noChangeAspect="1"/>
          </p:cNvPicPr>
          <p:nvPr/>
        </p:nvPicPr>
        <p:blipFill>
          <a:blip r:embed="rId9"/>
          <a:stretch>
            <a:fillRect/>
          </a:stretch>
        </p:blipFill>
        <p:spPr>
          <a:xfrm>
            <a:off x="6227064" y="7452360"/>
            <a:ext cx="2523744" cy="1783080"/>
          </a:xfrm>
          <a:prstGeom prst="rect">
            <a:avLst/>
          </a:prstGeom>
        </p:spPr>
      </p:pic>
      <p:sp>
        <p:nvSpPr>
          <p:cNvPr id="41" name="Native editable glass border: dependent-suppliers"/>
          <p:cNvSpPr/>
          <p:nvPr/>
        </p:nvSpPr>
        <p:spPr>
          <a:xfrm>
            <a:off x="6227064" y="7452360"/>
            <a:ext cx="2523744"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atistic label: DEPENDENT&#10;SUPPLIERS"/>
          <p:cNvSpPr txBox="1"/>
          <p:nvPr/>
        </p:nvSpPr>
        <p:spPr>
          <a:xfrm>
            <a:off x="6437376" y="7616952"/>
            <a:ext cx="2103120"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DEPENDENT</a:t>
            </a:r>
          </a:p>
          <a:p>
            <a:pPr algn="l">
              <a:lnSpc>
                <a:spcPts val="1391"/>
              </a:lnSpc>
              <a:spcBef>
                <a:spcPts val="0"/>
              </a:spcBef>
              <a:spcAft>
                <a:spcPts val="0"/>
              </a:spcAft>
            </a:pPr>
            <a:r>
              <a:rPr sz="1300" b="0" i="0">
                <a:solidFill>
                  <a:srgbClr val="FFFFFF"/>
                </a:solidFill>
                <a:latin typeface="DM Mono"/>
              </a:rPr>
              <a:t>SUPPLIERS</a:t>
            </a:r>
          </a:p>
        </p:txBody>
      </p:sp>
      <p:sp>
        <p:nvSpPr>
          <p:cNvPr id="43" name="editable statistic: 3 of 5"/>
          <p:cNvSpPr txBox="1"/>
          <p:nvPr/>
        </p:nvSpPr>
        <p:spPr>
          <a:xfrm>
            <a:off x="6437376" y="8092440"/>
            <a:ext cx="2103120" cy="868680"/>
          </a:xfrm>
          <a:prstGeom prst="rect">
            <a:avLst/>
          </a:prstGeom>
          <a:noFill/>
        </p:spPr>
        <p:txBody>
          <a:bodyPr wrap="square" lIns="0" rIns="0" tIns="0" bIns="0" anchor="t">
            <a:spAutoFit/>
          </a:bodyPr>
          <a:lstStyle/>
          <a:p>
            <a:pPr algn="l">
              <a:lnSpc>
                <a:spcPts val="4410"/>
              </a:lnSpc>
              <a:spcBef>
                <a:spcPts val="0"/>
              </a:spcBef>
              <a:spcAft>
                <a:spcPts val="0"/>
              </a:spcAft>
            </a:pPr>
            <a:r>
              <a:rPr sz="4200" b="0" i="0">
                <a:solidFill>
                  <a:srgbClr val="FFFFFF"/>
                </a:solidFill>
                <a:latin typeface="Silkscreen"/>
              </a:rPr>
              <a:t>3 of 5</a:t>
            </a:r>
          </a:p>
        </p:txBody>
      </p:sp>
      <p:sp>
        <p:nvSpPr>
          <p:cNvPr id="44" name="card source: Illustrative seed"/>
          <p:cNvSpPr txBox="1"/>
          <p:nvPr/>
        </p:nvSpPr>
        <p:spPr>
          <a:xfrm>
            <a:off x="6437376" y="8796528"/>
            <a:ext cx="2103120" cy="356616"/>
          </a:xfrm>
          <a:prstGeom prst="rect">
            <a:avLst/>
          </a:prstGeom>
          <a:noFill/>
        </p:spPr>
        <p:txBody>
          <a:bodyPr wrap="square" lIns="0" rIns="0" tIns="0" bIns="0" anchor="t">
            <a:spAutoFit/>
          </a:bodyPr>
          <a:lstStyle/>
          <a:p>
            <a:pPr algn="l">
              <a:lnSpc>
                <a:spcPts val="952"/>
              </a:lnSpc>
              <a:spcBef>
                <a:spcPts val="0"/>
              </a:spcBef>
              <a:spcAft>
                <a:spcPts val="0"/>
              </a:spcAft>
            </a:pPr>
            <a:r>
              <a:rPr sz="850" b="0" i="0">
                <a:solidFill>
                  <a:srgbClr val="E5EBE9"/>
                </a:solidFill>
                <a:latin typeface="DM Mono"/>
              </a:rPr>
              <a:t>Illustrative seed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09.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sp>
        <p:nvSpPr>
          <p:cNvPr id="8"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cxnSp>
        <p:nvCxnSpPr>
          <p:cNvPr id="9" name="Connector 8"/>
          <p:cNvCxnSpPr/>
          <p:nvPr/>
        </p:nvCxnSpPr>
        <p:spPr>
          <a:xfrm>
            <a:off x="8092440" y="1014984"/>
            <a:ext cx="160020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sp>
        <p:nvSpPr>
          <p:cNvPr id="10"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sp>
        <p:nvSpPr>
          <p:cNvPr id="11"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pic>
        <p:nvPicPr>
          <p:cNvPr id="12" name="Picture 11" descr="09-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09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09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Illustrative local simulation · Assumptions and real app result in scr"/>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Illustrative local simulation · Assumptions and real app result in screenshot</a:t>
            </a:r>
          </a:p>
        </p:txBody>
      </p:sp>
      <p:pic>
        <p:nvPicPr>
          <p:cNvPr id="19" name="Picture 18" descr="09-eyebrow-17.png"/>
          <p:cNvPicPr>
            <a:picLocks noChangeAspect="1"/>
          </p:cNvPicPr>
          <p:nvPr/>
        </p:nvPicPr>
        <p:blipFill>
          <a:blip r:embed="rId4"/>
          <a:stretch>
            <a:fillRect/>
          </a:stretch>
        </p:blipFill>
        <p:spPr>
          <a:xfrm>
            <a:off x="731520" y="1417320"/>
            <a:ext cx="2407693" cy="420624"/>
          </a:xfrm>
          <a:prstGeom prst="rect">
            <a:avLst/>
          </a:prstGeom>
        </p:spPr>
      </p:pic>
      <p:sp>
        <p:nvSpPr>
          <p:cNvPr id="20" name="Native editable glass border: eyebrow"/>
          <p:cNvSpPr/>
          <p:nvPr/>
        </p:nvSpPr>
        <p:spPr>
          <a:xfrm>
            <a:off x="731520" y="1417320"/>
            <a:ext cx="2407693"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09 · 02 · SIMULATE"/>
          <p:cNvSpPr txBox="1"/>
          <p:nvPr/>
        </p:nvSpPr>
        <p:spPr>
          <a:xfrm>
            <a:off x="1106424" y="1536192"/>
            <a:ext cx="1904773"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09 · 02 · SIMULATE</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9400"/>
              </a:lnSpc>
              <a:spcBef>
                <a:spcPts val="0"/>
              </a:spcBef>
              <a:spcAft>
                <a:spcPts val="0"/>
              </a:spcAft>
            </a:pPr>
            <a:r>
              <a:rPr sz="10000" i="0">
                <a:solidFill>
                  <a:srgbClr val="FFFFFF"/>
                </a:solidFill>
                <a:latin typeface="Instrument Serif"/>
              </a:rPr>
              <a:t>War-game</a:t>
            </a:r>
          </a:p>
          <a:p>
            <a:pPr>
              <a:lnSpc>
                <a:spcPts val="9400"/>
              </a:lnSpc>
              <a:spcBef>
                <a:spcPts val="0"/>
              </a:spcBef>
              <a:spcAft>
                <a:spcPts val="0"/>
              </a:spcAft>
            </a:pPr>
            <a:r>
              <a:rPr sz="10000" i="0">
                <a:solidFill>
                  <a:srgbClr val="FFFFFF"/>
                </a:solidFill>
                <a:latin typeface="Instrument Serif"/>
              </a:rPr>
              <a:t>the </a:t>
            </a:r>
            <a:r>
              <a:rPr sz="10000" i="0">
                <a:solidFill>
                  <a:srgbClr val="FFFFFF"/>
                </a:solidFill>
                <a:latin typeface="Instrument Serif"/>
              </a:rPr>
              <a:t>storm</a:t>
            </a:r>
          </a:p>
          <a:p>
            <a:pPr>
              <a:lnSpc>
                <a:spcPts val="9400"/>
              </a:lnSpc>
              <a:spcBef>
                <a:spcPts val="0"/>
              </a:spcBef>
              <a:spcAft>
                <a:spcPts val="0"/>
              </a:spcAft>
            </a:pPr>
            <a:r>
              <a:rPr sz="10000" i="1">
                <a:solidFill>
                  <a:srgbClr val="FFB05C"/>
                </a:solidFill>
                <a:latin typeface="Instrument Serif"/>
              </a:rPr>
              <a:t>before </a:t>
            </a:r>
            <a:r>
              <a:rPr sz="10000" i="1">
                <a:solidFill>
                  <a:srgbClr val="FFB05C"/>
                </a:solidFill>
                <a:latin typeface="Instrument Serif"/>
              </a:rPr>
              <a:t>it </a:t>
            </a:r>
            <a:r>
              <a:rPr sz="10000" i="1">
                <a:solidFill>
                  <a:srgbClr val="FFB05C"/>
                </a:solidFill>
                <a:latin typeface="Instrument Serif"/>
              </a:rPr>
              <a:t>lands.</a:t>
            </a:r>
          </a:p>
        </p:txBody>
      </p:sp>
      <p:sp>
        <p:nvSpPr>
          <p:cNvPr id="24" name="single supporting sentence: Illustrative: a day-three replacement switch avoids a line stop throug"/>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Illustrative: a day-three replacement switch avoids a line</a:t>
            </a:r>
          </a:p>
          <a:p>
            <a:pPr algn="l">
              <a:lnSpc>
                <a:spcPts val="2645"/>
              </a:lnSpc>
              <a:spcBef>
                <a:spcPts val="0"/>
              </a:spcBef>
              <a:spcAft>
                <a:spcPts val="0"/>
              </a:spcAft>
            </a:pPr>
            <a:r>
              <a:rPr sz="2300" b="0" i="0">
                <a:solidFill>
                  <a:srgbClr val="FFFFFF"/>
                </a:solidFill>
                <a:latin typeface="Inter"/>
              </a:rPr>
              <a:t>stop through the displayed simulation horizon.</a:t>
            </a:r>
          </a:p>
        </p:txBody>
      </p:sp>
      <p:pic>
        <p:nvPicPr>
          <p:cNvPr id="25" name="Picture 24" descr="09-real-app-device-23.png"/>
          <p:cNvPicPr>
            <a:picLocks noChangeAspect="1"/>
          </p:cNvPicPr>
          <p:nvPr/>
        </p:nvPicPr>
        <p:blipFill>
          <a:blip r:embed="rId5"/>
          <a:stretch>
            <a:fillRect/>
          </a:stretch>
        </p:blipFill>
        <p:spPr>
          <a:xfrm>
            <a:off x="9555480" y="2103120"/>
            <a:ext cx="7909560" cy="5852160"/>
          </a:xfrm>
          <a:prstGeom prst="rect">
            <a:avLst/>
          </a:prstGeom>
        </p:spPr>
      </p:pic>
      <p:sp>
        <p:nvSpPr>
          <p:cNvPr id="26" name="Native editable glass border: real-app-device"/>
          <p:cNvSpPr/>
          <p:nvPr/>
        </p:nvSpPr>
        <p:spPr>
          <a:xfrm>
            <a:off x="9555480" y="2103120"/>
            <a:ext cx="7909560" cy="5852160"/>
          </a:xfrm>
          <a:prstGeom prst="roundRect">
            <a:avLst>
              <a:gd name="adj" fmla="val 390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al screenshot label: SIMULATE · REAL APP · ILLUSTRATIVE"/>
          <p:cNvSpPr txBox="1"/>
          <p:nvPr/>
        </p:nvSpPr>
        <p:spPr>
          <a:xfrm>
            <a:off x="9774936" y="2286000"/>
            <a:ext cx="7470648" cy="320040"/>
          </a:xfrm>
          <a:prstGeom prst="rect">
            <a:avLst/>
          </a:prstGeom>
          <a:noFill/>
        </p:spPr>
        <p:txBody>
          <a:bodyPr wrap="square" lIns="0" rIns="0" tIns="0" bIns="0" anchor="t">
            <a:spAutoFit/>
          </a:bodyPr>
          <a:lstStyle/>
          <a:p>
            <a:pPr algn="l">
              <a:lnSpc>
                <a:spcPts val="1456"/>
              </a:lnSpc>
              <a:spcBef>
                <a:spcPts val="0"/>
              </a:spcBef>
              <a:spcAft>
                <a:spcPts val="0"/>
              </a:spcAft>
            </a:pPr>
            <a:r>
              <a:rPr sz="1300" b="0" i="0">
                <a:solidFill>
                  <a:srgbClr val="FFFFFF"/>
                </a:solidFill>
                <a:latin typeface="DM Mono"/>
              </a:rPr>
              <a:t>SIMULATE · REAL APP · ILLUSTRATIVE</a:t>
            </a:r>
          </a:p>
        </p:txBody>
      </p:sp>
      <p:pic>
        <p:nvPicPr>
          <p:cNvPr id="28" name="Picture 27" descr="slide-09-real-simulator.png"/>
          <p:cNvPicPr>
            <a:picLocks noChangeAspect="1"/>
          </p:cNvPicPr>
          <p:nvPr/>
        </p:nvPicPr>
        <p:blipFill>
          <a:blip r:embed="rId6"/>
          <a:stretch>
            <a:fillRect/>
          </a:stretch>
        </p:blipFill>
        <p:spPr>
          <a:xfrm>
            <a:off x="9756648" y="2972657"/>
            <a:ext cx="7507224" cy="4222813"/>
          </a:xfrm>
          <a:prstGeom prst="rect">
            <a:avLst/>
          </a:prstGeom>
        </p:spPr>
      </p:pic>
      <p:sp>
        <p:nvSpPr>
          <p:cNvPr id="29" name="card source: Illustrative local app · actual browser capture"/>
          <p:cNvSpPr txBox="1"/>
          <p:nvPr/>
        </p:nvSpPr>
        <p:spPr>
          <a:xfrm>
            <a:off x="9774936" y="7598663"/>
            <a:ext cx="7470648" cy="256032"/>
          </a:xfrm>
          <a:prstGeom prst="rect">
            <a:avLst/>
          </a:prstGeom>
          <a:noFill/>
        </p:spPr>
        <p:txBody>
          <a:bodyPr wrap="square" lIns="0" rIns="0" tIns="0" bIns="0" anchor="t">
            <a:spAutoFit/>
          </a:bodyPr>
          <a:lstStyle/>
          <a:p>
            <a:pPr algn="l">
              <a:lnSpc>
                <a:spcPts val="1030"/>
              </a:lnSpc>
              <a:spcBef>
                <a:spcPts val="0"/>
              </a:spcBef>
              <a:spcAft>
                <a:spcPts val="0"/>
              </a:spcAft>
            </a:pPr>
            <a:r>
              <a:rPr sz="919" b="0" i="0">
                <a:solidFill>
                  <a:srgbClr val="E5EBE9"/>
                </a:solidFill>
                <a:latin typeface="DM Mono"/>
              </a:rPr>
              <a:t>Illustrative local app · actual browser capture</a:t>
            </a:r>
          </a:p>
        </p:txBody>
      </p:sp>
      <p:pic>
        <p:nvPicPr>
          <p:cNvPr id="30" name="Picture 29" descr="09-native-real-simulation-chart-28.png"/>
          <p:cNvPicPr>
            <a:picLocks noChangeAspect="1"/>
          </p:cNvPicPr>
          <p:nvPr/>
        </p:nvPicPr>
        <p:blipFill>
          <a:blip r:embed="rId7"/>
          <a:stretch>
            <a:fillRect/>
          </a:stretch>
        </p:blipFill>
        <p:spPr>
          <a:xfrm>
            <a:off x="777240" y="7296912"/>
            <a:ext cx="7909560" cy="2048256"/>
          </a:xfrm>
          <a:prstGeom prst="rect">
            <a:avLst/>
          </a:prstGeom>
        </p:spPr>
      </p:pic>
      <p:sp>
        <p:nvSpPr>
          <p:cNvPr id="31" name="Native editable glass border: native-real-simulation-chart"/>
          <p:cNvSpPr/>
          <p:nvPr/>
        </p:nvSpPr>
        <p:spPr>
          <a:xfrm>
            <a:off x="777240" y="7296912"/>
            <a:ext cx="7909560" cy="2048256"/>
          </a:xfrm>
          <a:prstGeom prst="roundRect">
            <a:avLst>
              <a:gd name="adj" fmla="val 1116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hart title: RESIN STOCK LEFT · ILLUSTRATIVE"/>
          <p:cNvSpPr txBox="1"/>
          <p:nvPr/>
        </p:nvSpPr>
        <p:spPr>
          <a:xfrm>
            <a:off x="960120" y="7406640"/>
            <a:ext cx="7543800" cy="246888"/>
          </a:xfrm>
          <a:prstGeom prst="rect">
            <a:avLst/>
          </a:prstGeom>
          <a:noFill/>
        </p:spPr>
        <p:txBody>
          <a:bodyPr wrap="square" lIns="0" rIns="0" tIns="0" bIns="0" anchor="t">
            <a:spAutoFit/>
          </a:bodyPr>
          <a:lstStyle/>
          <a:p>
            <a:pPr algn="l">
              <a:lnSpc>
                <a:spcPts val="1344"/>
              </a:lnSpc>
              <a:spcBef>
                <a:spcPts val="0"/>
              </a:spcBef>
              <a:spcAft>
                <a:spcPts val="0"/>
              </a:spcAft>
            </a:pPr>
            <a:r>
              <a:rPr sz="1200" b="0" i="0">
                <a:solidFill>
                  <a:srgbClr val="FFFFFF"/>
                </a:solidFill>
                <a:latin typeface="DM Mono"/>
              </a:rPr>
              <a:t>RESIN STOCK LEFT · ILLUSTRATIVE</a:t>
            </a:r>
          </a:p>
        </p:txBody>
      </p:sp>
      <p:graphicFrame>
        <p:nvGraphicFramePr>
          <p:cNvPr id="33" name="Chart 32"/>
          <p:cNvGraphicFramePr>
            <a:graphicFrameLocks noGrp="1"/>
          </p:cNvGraphicFramePr>
          <p:nvPr/>
        </p:nvGraphicFramePr>
        <p:xfrm>
          <a:off x="923544" y="7735824"/>
          <a:ext cx="7616952" cy="1325880"/>
        </p:xfrm>
        <a:graphic>
          <a:graphicData uri="http://schemas.openxmlformats.org/drawingml/2006/chart">
            <c:chart xmlns:c="http://schemas.openxmlformats.org/drawingml/2006/chart" r:id="rId8"/>
          </a:graphicData>
        </a:graphic>
      </p:graphicFrame>
      <p:sp>
        <p:nvSpPr>
          <p:cNvPr id="34" name="native editable sparse day tick: 0"/>
          <p:cNvSpPr txBox="1"/>
          <p:nvPr/>
        </p:nvSpPr>
        <p:spPr>
          <a:xfrm>
            <a:off x="1515087" y="8878824"/>
            <a:ext cx="256032" cy="201168"/>
          </a:xfrm>
          <a:prstGeom prst="rect">
            <a:avLst/>
          </a:prstGeom>
          <a:noFill/>
        </p:spPr>
        <p:txBody>
          <a:bodyPr wrap="square" lIns="0" rIns="0" tIns="0" bIns="0" anchor="t">
            <a:spAutoFit/>
          </a:bodyPr>
          <a:lstStyle/>
          <a:p>
            <a:pPr algn="ctr">
              <a:lnSpc>
                <a:spcPts val="1008"/>
              </a:lnSpc>
              <a:spcBef>
                <a:spcPts val="0"/>
              </a:spcBef>
              <a:spcAft>
                <a:spcPts val="0"/>
              </a:spcAft>
            </a:pPr>
            <a:r>
              <a:rPr sz="900" b="0" i="0">
                <a:solidFill>
                  <a:srgbClr val="FFFFFF"/>
                </a:solidFill>
                <a:latin typeface="DM Mono"/>
              </a:rPr>
              <a:t>0</a:t>
            </a:r>
          </a:p>
        </p:txBody>
      </p:sp>
      <p:sp>
        <p:nvSpPr>
          <p:cNvPr id="35" name="native editable sparse day tick: 6"/>
          <p:cNvSpPr txBox="1"/>
          <p:nvPr/>
        </p:nvSpPr>
        <p:spPr>
          <a:xfrm>
            <a:off x="2841910" y="8878824"/>
            <a:ext cx="256032" cy="201168"/>
          </a:xfrm>
          <a:prstGeom prst="rect">
            <a:avLst/>
          </a:prstGeom>
          <a:noFill/>
        </p:spPr>
        <p:txBody>
          <a:bodyPr wrap="square" lIns="0" rIns="0" tIns="0" bIns="0" anchor="t">
            <a:spAutoFit/>
          </a:bodyPr>
          <a:lstStyle/>
          <a:p>
            <a:pPr algn="ctr">
              <a:lnSpc>
                <a:spcPts val="1008"/>
              </a:lnSpc>
              <a:spcBef>
                <a:spcPts val="0"/>
              </a:spcBef>
              <a:spcAft>
                <a:spcPts val="0"/>
              </a:spcAft>
            </a:pPr>
            <a:r>
              <a:rPr sz="900" b="0" i="0">
                <a:solidFill>
                  <a:srgbClr val="FFFFFF"/>
                </a:solidFill>
                <a:latin typeface="DM Mono"/>
              </a:rPr>
              <a:t>6</a:t>
            </a:r>
          </a:p>
        </p:txBody>
      </p:sp>
      <p:sp>
        <p:nvSpPr>
          <p:cNvPr id="36" name="native editable sparse day tick: 12"/>
          <p:cNvSpPr txBox="1"/>
          <p:nvPr/>
        </p:nvSpPr>
        <p:spPr>
          <a:xfrm>
            <a:off x="4168734" y="8878824"/>
            <a:ext cx="256032" cy="201168"/>
          </a:xfrm>
          <a:prstGeom prst="rect">
            <a:avLst/>
          </a:prstGeom>
          <a:noFill/>
        </p:spPr>
        <p:txBody>
          <a:bodyPr wrap="square" lIns="0" rIns="0" tIns="0" bIns="0" anchor="t">
            <a:spAutoFit/>
          </a:bodyPr>
          <a:lstStyle/>
          <a:p>
            <a:pPr algn="ctr">
              <a:lnSpc>
                <a:spcPts val="1008"/>
              </a:lnSpc>
              <a:spcBef>
                <a:spcPts val="0"/>
              </a:spcBef>
              <a:spcAft>
                <a:spcPts val="0"/>
              </a:spcAft>
            </a:pPr>
            <a:r>
              <a:rPr sz="900" b="0" i="0">
                <a:solidFill>
                  <a:srgbClr val="FFFFFF"/>
                </a:solidFill>
                <a:latin typeface="DM Mono"/>
              </a:rPr>
              <a:t>12</a:t>
            </a:r>
          </a:p>
        </p:txBody>
      </p:sp>
      <p:sp>
        <p:nvSpPr>
          <p:cNvPr id="37" name="native editable sparse day tick: 18"/>
          <p:cNvSpPr txBox="1"/>
          <p:nvPr/>
        </p:nvSpPr>
        <p:spPr>
          <a:xfrm>
            <a:off x="5495558" y="8878824"/>
            <a:ext cx="256032" cy="201168"/>
          </a:xfrm>
          <a:prstGeom prst="rect">
            <a:avLst/>
          </a:prstGeom>
          <a:noFill/>
        </p:spPr>
        <p:txBody>
          <a:bodyPr wrap="square" lIns="0" rIns="0" tIns="0" bIns="0" anchor="t">
            <a:spAutoFit/>
          </a:bodyPr>
          <a:lstStyle/>
          <a:p>
            <a:pPr algn="ctr">
              <a:lnSpc>
                <a:spcPts val="1008"/>
              </a:lnSpc>
              <a:spcBef>
                <a:spcPts val="0"/>
              </a:spcBef>
              <a:spcAft>
                <a:spcPts val="0"/>
              </a:spcAft>
            </a:pPr>
            <a:r>
              <a:rPr sz="900" b="0" i="0">
                <a:solidFill>
                  <a:srgbClr val="FFFFFF"/>
                </a:solidFill>
                <a:latin typeface="DM Mono"/>
              </a:rPr>
              <a:t>18</a:t>
            </a:r>
          </a:p>
        </p:txBody>
      </p:sp>
      <p:sp>
        <p:nvSpPr>
          <p:cNvPr id="38" name="native editable sparse day tick: 24"/>
          <p:cNvSpPr txBox="1"/>
          <p:nvPr/>
        </p:nvSpPr>
        <p:spPr>
          <a:xfrm>
            <a:off x="6822382" y="8878824"/>
            <a:ext cx="256032" cy="201168"/>
          </a:xfrm>
          <a:prstGeom prst="rect">
            <a:avLst/>
          </a:prstGeom>
          <a:noFill/>
        </p:spPr>
        <p:txBody>
          <a:bodyPr wrap="square" lIns="0" rIns="0" tIns="0" bIns="0" anchor="t">
            <a:spAutoFit/>
          </a:bodyPr>
          <a:lstStyle/>
          <a:p>
            <a:pPr algn="ctr">
              <a:lnSpc>
                <a:spcPts val="1008"/>
              </a:lnSpc>
              <a:spcBef>
                <a:spcPts val="0"/>
              </a:spcBef>
              <a:spcAft>
                <a:spcPts val="0"/>
              </a:spcAft>
            </a:pPr>
            <a:r>
              <a:rPr sz="900" b="0" i="0">
                <a:solidFill>
                  <a:srgbClr val="FFFFFF"/>
                </a:solidFill>
                <a:latin typeface="DM Mono"/>
              </a:rPr>
              <a:t>24</a:t>
            </a:r>
          </a:p>
        </p:txBody>
      </p:sp>
      <p:sp>
        <p:nvSpPr>
          <p:cNvPr id="39" name="native editable sparse day tick: 30"/>
          <p:cNvSpPr txBox="1"/>
          <p:nvPr/>
        </p:nvSpPr>
        <p:spPr>
          <a:xfrm>
            <a:off x="8149206" y="8878824"/>
            <a:ext cx="256032" cy="201168"/>
          </a:xfrm>
          <a:prstGeom prst="rect">
            <a:avLst/>
          </a:prstGeom>
          <a:noFill/>
        </p:spPr>
        <p:txBody>
          <a:bodyPr wrap="square" lIns="0" rIns="0" tIns="0" bIns="0" anchor="t">
            <a:spAutoFit/>
          </a:bodyPr>
          <a:lstStyle/>
          <a:p>
            <a:pPr algn="ctr">
              <a:lnSpc>
                <a:spcPts val="1008"/>
              </a:lnSpc>
              <a:spcBef>
                <a:spcPts val="0"/>
              </a:spcBef>
              <a:spcAft>
                <a:spcPts val="0"/>
              </a:spcAft>
            </a:pPr>
            <a:r>
              <a:rPr sz="900" b="0" i="0">
                <a:solidFill>
                  <a:srgbClr val="FFFFFF"/>
                </a:solidFill>
                <a:latin typeface="DM Mono"/>
              </a:rPr>
              <a:t>30</a:t>
            </a:r>
          </a:p>
        </p:txBody>
      </p:sp>
      <p:sp>
        <p:nvSpPr>
          <p:cNvPr id="40" name="native failure readout: DAY 18"/>
          <p:cNvSpPr txBox="1"/>
          <p:nvPr/>
        </p:nvSpPr>
        <p:spPr>
          <a:xfrm>
            <a:off x="6903720" y="7406640"/>
            <a:ext cx="1463040" cy="292608"/>
          </a:xfrm>
          <a:prstGeom prst="rect">
            <a:avLst/>
          </a:prstGeom>
          <a:noFill/>
        </p:spPr>
        <p:txBody>
          <a:bodyPr wrap="square" lIns="0" rIns="0" tIns="0" bIns="0" anchor="t">
            <a:spAutoFit/>
          </a:bodyPr>
          <a:lstStyle/>
          <a:p>
            <a:pPr algn="r">
              <a:lnSpc>
                <a:spcPts val="2016"/>
              </a:lnSpc>
              <a:spcBef>
                <a:spcPts val="0"/>
              </a:spcBef>
              <a:spcAft>
                <a:spcPts val="0"/>
              </a:spcAft>
            </a:pPr>
            <a:r>
              <a:rPr sz="1800" b="0" i="0">
                <a:solidFill>
                  <a:srgbClr val="FFB05C"/>
                </a:solidFill>
                <a:latin typeface="Silkscreen"/>
              </a:rPr>
              <a:t>DAY 18</a:t>
            </a:r>
          </a:p>
        </p:txBody>
      </p:sp>
      <p:sp>
        <p:nvSpPr>
          <p:cNvPr id="41" name="direct curve label: DAY-3 SWITCH"/>
          <p:cNvSpPr txBox="1"/>
          <p:nvPr/>
        </p:nvSpPr>
        <p:spPr>
          <a:xfrm>
            <a:off x="5394960" y="7772400"/>
            <a:ext cx="2743200" cy="228600"/>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FFFFFF"/>
                </a:solidFill>
                <a:latin typeface="DM Mono"/>
              </a:rPr>
              <a:t>DAY-3 SWITCH</a:t>
            </a:r>
          </a:p>
        </p:txBody>
      </p:sp>
      <p:sp>
        <p:nvSpPr>
          <p:cNvPr id="42" name="direct failure label: DAY 18 · STOCK-OUT"/>
          <p:cNvSpPr txBox="1"/>
          <p:nvPr/>
        </p:nvSpPr>
        <p:spPr>
          <a:xfrm>
            <a:off x="4800600" y="8458200"/>
            <a:ext cx="3566160" cy="228600"/>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FFB05C"/>
                </a:solidFill>
                <a:latin typeface="DM Mono"/>
              </a:rPr>
              <a:t>DAY 18 · STOCK-OUT</a:t>
            </a:r>
          </a:p>
        </p:txBody>
      </p:sp>
      <p:sp>
        <p:nvSpPr>
          <p:cNvPr id="43" name="Editable amber day-18 failure marker"/>
          <p:cNvSpPr/>
          <p:nvPr/>
        </p:nvSpPr>
        <p:spPr>
          <a:xfrm>
            <a:off x="5577840" y="8750807"/>
            <a:ext cx="91440" cy="91440"/>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ard source: Real local API · 100 units/day · 30-day horizon"/>
          <p:cNvSpPr txBox="1"/>
          <p:nvPr/>
        </p:nvSpPr>
        <p:spPr>
          <a:xfrm>
            <a:off x="960120" y="9116568"/>
            <a:ext cx="7543800" cy="201168"/>
          </a:xfrm>
          <a:prstGeom prst="rect">
            <a:avLst/>
          </a:prstGeom>
          <a:noFill/>
        </p:spPr>
        <p:txBody>
          <a:bodyPr wrap="square" lIns="0" rIns="0" tIns="0" bIns="0" anchor="t">
            <a:spAutoFit/>
          </a:bodyPr>
          <a:lstStyle/>
          <a:p>
            <a:pPr algn="l">
              <a:lnSpc>
                <a:spcPts val="952"/>
              </a:lnSpc>
              <a:spcBef>
                <a:spcPts val="0"/>
              </a:spcBef>
              <a:spcAft>
                <a:spcPts val="0"/>
              </a:spcAft>
            </a:pPr>
            <a:r>
              <a:rPr sz="850" b="0" i="0">
                <a:solidFill>
                  <a:srgbClr val="E5EBE9"/>
                </a:solidFill>
                <a:latin typeface="DM Mono"/>
              </a:rPr>
              <a:t>Real local API · 100 units/day · 30-day horizon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10.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sp>
        <p:nvSpPr>
          <p:cNvPr id="8"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cxnSp>
        <p:nvCxnSpPr>
          <p:cNvPr id="9" name="Connector 8"/>
          <p:cNvCxnSpPr/>
          <p:nvPr/>
        </p:nvCxnSpPr>
        <p:spPr>
          <a:xfrm>
            <a:off x="8092440" y="1014984"/>
            <a:ext cx="160020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sp>
        <p:nvSpPr>
          <p:cNvPr id="10"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sp>
        <p:nvSpPr>
          <p:cNvPr id="11"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pic>
        <p:nvPicPr>
          <p:cNvPr id="12" name="Picture 11" descr="10-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10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10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DPIIT–NCAER 2025 · RBI OBICUS Q1 2026–27 [VERIFY] · COVID case source "/>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DPIIT–NCAER 2025 · RBI OBICUS Q1 2026–27 [VERIFY] · COVID case source [VERIFY]</a:t>
            </a:r>
          </a:p>
        </p:txBody>
      </p:sp>
      <p:pic>
        <p:nvPicPr>
          <p:cNvPr id="19" name="Picture 18" descr="10-eyebrow-17.png"/>
          <p:cNvPicPr>
            <a:picLocks noChangeAspect="1"/>
          </p:cNvPicPr>
          <p:nvPr/>
        </p:nvPicPr>
        <p:blipFill>
          <a:blip r:embed="rId4"/>
          <a:stretch>
            <a:fillRect/>
          </a:stretch>
        </p:blipFill>
        <p:spPr>
          <a:xfrm>
            <a:off x="731520" y="1417320"/>
            <a:ext cx="3768280" cy="420624"/>
          </a:xfrm>
          <a:prstGeom prst="rect">
            <a:avLst/>
          </a:prstGeom>
        </p:spPr>
      </p:pic>
      <p:sp>
        <p:nvSpPr>
          <p:cNvPr id="20" name="Native editable glass border: eyebrow"/>
          <p:cNvSpPr/>
          <p:nvPr/>
        </p:nvSpPr>
        <p:spPr>
          <a:xfrm>
            <a:off x="731520" y="1417320"/>
            <a:ext cx="3768280"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10 · 03 · RESPOND · CAPACITYMESH"/>
          <p:cNvSpPr txBox="1"/>
          <p:nvPr/>
        </p:nvSpPr>
        <p:spPr>
          <a:xfrm>
            <a:off x="1106424" y="1536192"/>
            <a:ext cx="3265360"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10 · 03 · RESPOND · CAPACITYMESH</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9776"/>
              </a:lnSpc>
              <a:spcBef>
                <a:spcPts val="0"/>
              </a:spcBef>
              <a:spcAft>
                <a:spcPts val="0"/>
              </a:spcAft>
            </a:pPr>
            <a:r>
              <a:rPr sz="10400" i="0">
                <a:solidFill>
                  <a:srgbClr val="FFFFFF"/>
                </a:solidFill>
                <a:latin typeface="Instrument Serif"/>
              </a:rPr>
              <a:t>Borrow </a:t>
            </a:r>
            <a:r>
              <a:rPr sz="10400" i="0">
                <a:solidFill>
                  <a:srgbClr val="FFFFFF"/>
                </a:solidFill>
                <a:latin typeface="Instrument Serif"/>
              </a:rPr>
              <a:t>capacity</a:t>
            </a:r>
          </a:p>
          <a:p>
            <a:pPr>
              <a:lnSpc>
                <a:spcPts val="9776"/>
              </a:lnSpc>
              <a:spcBef>
                <a:spcPts val="0"/>
              </a:spcBef>
              <a:spcAft>
                <a:spcPts val="0"/>
              </a:spcAft>
            </a:pPr>
            <a:r>
              <a:rPr sz="10400" i="1">
                <a:solidFill>
                  <a:srgbClr val="FFB05C"/>
                </a:solidFill>
                <a:latin typeface="Instrument Serif"/>
              </a:rPr>
              <a:t>in </a:t>
            </a:r>
            <a:r>
              <a:rPr sz="10400" i="1">
                <a:solidFill>
                  <a:srgbClr val="FFB05C"/>
                </a:solidFill>
                <a:latin typeface="Instrument Serif"/>
              </a:rPr>
              <a:t>minutes,</a:t>
            </a:r>
          </a:p>
          <a:p>
            <a:pPr>
              <a:lnSpc>
                <a:spcPts val="9776"/>
              </a:lnSpc>
              <a:spcBef>
                <a:spcPts val="0"/>
              </a:spcBef>
              <a:spcAft>
                <a:spcPts val="0"/>
              </a:spcAft>
            </a:pPr>
            <a:r>
              <a:rPr sz="10400" i="0">
                <a:solidFill>
                  <a:srgbClr val="FFFFFF"/>
                </a:solidFill>
                <a:latin typeface="Instrument Serif"/>
              </a:rPr>
              <a:t>not </a:t>
            </a:r>
            <a:r>
              <a:rPr sz="10400" i="0">
                <a:solidFill>
                  <a:srgbClr val="FFFFFF"/>
                </a:solidFill>
                <a:latin typeface="Instrument Serif"/>
              </a:rPr>
              <a:t>weeks.</a:t>
            </a:r>
          </a:p>
        </p:txBody>
      </p:sp>
      <p:sp>
        <p:nvSpPr>
          <p:cNvPr id="24" name="single supporting sentence: CapacityMesh turns a qualified match into a human-approved draft; minu"/>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CapacityMesh turns a qualified match into a</a:t>
            </a:r>
          </a:p>
          <a:p>
            <a:pPr algn="l">
              <a:lnSpc>
                <a:spcPts val="2645"/>
              </a:lnSpc>
              <a:spcBef>
                <a:spcPts val="0"/>
              </a:spcBef>
              <a:spcAft>
                <a:spcPts val="0"/>
              </a:spcAft>
            </a:pPr>
            <a:r>
              <a:rPr sz="2300" b="0" i="0">
                <a:solidFill>
                  <a:srgbClr val="FFFFFF"/>
                </a:solidFill>
                <a:latin typeface="Inter"/>
              </a:rPr>
              <a:t>human-approved draft; minutes describes the demo</a:t>
            </a:r>
          </a:p>
          <a:p>
            <a:pPr algn="l">
              <a:lnSpc>
                <a:spcPts val="2645"/>
              </a:lnSpc>
              <a:spcBef>
                <a:spcPts val="0"/>
              </a:spcBef>
              <a:spcAft>
                <a:spcPts val="0"/>
              </a:spcAft>
            </a:pPr>
            <a:r>
              <a:rPr sz="2300" b="0" i="0">
                <a:solidFill>
                  <a:srgbClr val="FFFFFF"/>
                </a:solidFill>
                <a:latin typeface="Inter"/>
              </a:rPr>
              <a:t>workflow, not physical activation.</a:t>
            </a:r>
          </a:p>
        </p:txBody>
      </p:sp>
      <p:pic>
        <p:nvPicPr>
          <p:cNvPr id="25" name="Picture 24" descr="10-real-app-device-23.png"/>
          <p:cNvPicPr>
            <a:picLocks noChangeAspect="1"/>
          </p:cNvPicPr>
          <p:nvPr/>
        </p:nvPicPr>
        <p:blipFill>
          <a:blip r:embed="rId5"/>
          <a:stretch>
            <a:fillRect/>
          </a:stretch>
        </p:blipFill>
        <p:spPr>
          <a:xfrm>
            <a:off x="9555480" y="2103120"/>
            <a:ext cx="7909560" cy="3337560"/>
          </a:xfrm>
          <a:prstGeom prst="rect">
            <a:avLst/>
          </a:prstGeom>
        </p:spPr>
      </p:pic>
      <p:sp>
        <p:nvSpPr>
          <p:cNvPr id="26" name="Native editable glass border: real-app-device"/>
          <p:cNvSpPr/>
          <p:nvPr/>
        </p:nvSpPr>
        <p:spPr>
          <a:xfrm>
            <a:off x="9555480" y="2103120"/>
            <a:ext cx="7909560" cy="3337560"/>
          </a:xfrm>
          <a:prstGeom prst="roundRect">
            <a:avLst>
              <a:gd name="adj" fmla="val 6849"/>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al screenshot label: RANKED CAPACITY · ILLUSTRATIVE"/>
          <p:cNvSpPr txBox="1"/>
          <p:nvPr/>
        </p:nvSpPr>
        <p:spPr>
          <a:xfrm>
            <a:off x="9774936" y="2286000"/>
            <a:ext cx="7470648" cy="320040"/>
          </a:xfrm>
          <a:prstGeom prst="rect">
            <a:avLst/>
          </a:prstGeom>
          <a:noFill/>
        </p:spPr>
        <p:txBody>
          <a:bodyPr wrap="square" lIns="0" rIns="0" tIns="0" bIns="0" anchor="t">
            <a:spAutoFit/>
          </a:bodyPr>
          <a:lstStyle/>
          <a:p>
            <a:pPr algn="l">
              <a:lnSpc>
                <a:spcPts val="1456"/>
              </a:lnSpc>
              <a:spcBef>
                <a:spcPts val="0"/>
              </a:spcBef>
              <a:spcAft>
                <a:spcPts val="0"/>
              </a:spcAft>
            </a:pPr>
            <a:r>
              <a:rPr sz="1300" b="0" i="0">
                <a:solidFill>
                  <a:srgbClr val="FFFFFF"/>
                </a:solidFill>
                <a:latin typeface="DM Mono"/>
              </a:rPr>
              <a:t>RANKED CAPACITY · ILLUSTRATIVE</a:t>
            </a:r>
          </a:p>
        </p:txBody>
      </p:sp>
      <p:pic>
        <p:nvPicPr>
          <p:cNvPr id="28" name="Picture 27" descr="slide-10-real-capacitymesh.png"/>
          <p:cNvPicPr>
            <a:picLocks noChangeAspect="1"/>
          </p:cNvPicPr>
          <p:nvPr/>
        </p:nvPicPr>
        <p:blipFill>
          <a:blip r:embed="rId6"/>
          <a:stretch>
            <a:fillRect/>
          </a:stretch>
        </p:blipFill>
        <p:spPr>
          <a:xfrm>
            <a:off x="10688442" y="2743200"/>
            <a:ext cx="5643635" cy="2167128"/>
          </a:xfrm>
          <a:prstGeom prst="rect">
            <a:avLst/>
          </a:prstGeom>
        </p:spPr>
      </p:pic>
      <p:sp>
        <p:nvSpPr>
          <p:cNvPr id="29" name="card source: Illustrative local app · actual browser capture"/>
          <p:cNvSpPr txBox="1"/>
          <p:nvPr/>
        </p:nvSpPr>
        <p:spPr>
          <a:xfrm>
            <a:off x="9774936" y="5084064"/>
            <a:ext cx="7470648" cy="256032"/>
          </a:xfrm>
          <a:prstGeom prst="rect">
            <a:avLst/>
          </a:prstGeom>
          <a:noFill/>
        </p:spPr>
        <p:txBody>
          <a:bodyPr wrap="square" lIns="0" rIns="0" tIns="0" bIns="0" anchor="t">
            <a:spAutoFit/>
          </a:bodyPr>
          <a:lstStyle/>
          <a:p>
            <a:pPr algn="l">
              <a:lnSpc>
                <a:spcPts val="1030"/>
              </a:lnSpc>
              <a:spcBef>
                <a:spcPts val="0"/>
              </a:spcBef>
              <a:spcAft>
                <a:spcPts val="0"/>
              </a:spcAft>
            </a:pPr>
            <a:r>
              <a:rPr sz="919" b="0" i="0">
                <a:solidFill>
                  <a:srgbClr val="E5EBE9"/>
                </a:solidFill>
                <a:latin typeface="DM Mono"/>
              </a:rPr>
              <a:t>Illustrative local app · actual browser capture</a:t>
            </a:r>
          </a:p>
        </p:txBody>
      </p:sp>
      <p:pic>
        <p:nvPicPr>
          <p:cNvPr id="30" name="Picture 29" descr="10-real-app-device-28.png"/>
          <p:cNvPicPr>
            <a:picLocks noChangeAspect="1"/>
          </p:cNvPicPr>
          <p:nvPr/>
        </p:nvPicPr>
        <p:blipFill>
          <a:blip r:embed="rId7"/>
          <a:stretch>
            <a:fillRect/>
          </a:stretch>
        </p:blipFill>
        <p:spPr>
          <a:xfrm>
            <a:off x="9555480" y="5669280"/>
            <a:ext cx="7909560" cy="3337560"/>
          </a:xfrm>
          <a:prstGeom prst="rect">
            <a:avLst/>
          </a:prstGeom>
        </p:spPr>
      </p:pic>
      <p:sp>
        <p:nvSpPr>
          <p:cNvPr id="31" name="Native editable glass border: real-app-device"/>
          <p:cNvSpPr/>
          <p:nvPr/>
        </p:nvSpPr>
        <p:spPr>
          <a:xfrm>
            <a:off x="9555480" y="5669280"/>
            <a:ext cx="7909560" cy="3337560"/>
          </a:xfrm>
          <a:prstGeom prst="roundRect">
            <a:avLst>
              <a:gd name="adj" fmla="val 6849"/>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al screenshot label: HUMAN APPROVED · MOCK ERP"/>
          <p:cNvSpPr txBox="1"/>
          <p:nvPr/>
        </p:nvSpPr>
        <p:spPr>
          <a:xfrm>
            <a:off x="9774936" y="5852160"/>
            <a:ext cx="7470648" cy="320040"/>
          </a:xfrm>
          <a:prstGeom prst="rect">
            <a:avLst/>
          </a:prstGeom>
          <a:noFill/>
        </p:spPr>
        <p:txBody>
          <a:bodyPr wrap="square" lIns="0" rIns="0" tIns="0" bIns="0" anchor="t">
            <a:spAutoFit/>
          </a:bodyPr>
          <a:lstStyle/>
          <a:p>
            <a:pPr algn="l">
              <a:lnSpc>
                <a:spcPts val="1456"/>
              </a:lnSpc>
              <a:spcBef>
                <a:spcPts val="0"/>
              </a:spcBef>
              <a:spcAft>
                <a:spcPts val="0"/>
              </a:spcAft>
            </a:pPr>
            <a:r>
              <a:rPr sz="1300" b="0" i="0">
                <a:solidFill>
                  <a:srgbClr val="FFFFFF"/>
                </a:solidFill>
                <a:latin typeface="DM Mono"/>
              </a:rPr>
              <a:t>HUMAN APPROVED · MOCK ERP</a:t>
            </a:r>
          </a:p>
        </p:txBody>
      </p:sp>
      <p:pic>
        <p:nvPicPr>
          <p:cNvPr id="33" name="Picture 32" descr="slide-10-real-approval.png"/>
          <p:cNvPicPr>
            <a:picLocks noChangeAspect="1"/>
          </p:cNvPicPr>
          <p:nvPr/>
        </p:nvPicPr>
        <p:blipFill>
          <a:blip r:embed="rId8"/>
          <a:stretch>
            <a:fillRect/>
          </a:stretch>
        </p:blipFill>
        <p:spPr>
          <a:xfrm>
            <a:off x="10509048" y="6309360"/>
            <a:ext cx="6002423" cy="2167128"/>
          </a:xfrm>
          <a:prstGeom prst="rect">
            <a:avLst/>
          </a:prstGeom>
        </p:spPr>
      </p:pic>
      <p:sp>
        <p:nvSpPr>
          <p:cNvPr id="34" name="card source: Illustrative local app · actual browser capture"/>
          <p:cNvSpPr txBox="1"/>
          <p:nvPr/>
        </p:nvSpPr>
        <p:spPr>
          <a:xfrm>
            <a:off x="9774936" y="8650224"/>
            <a:ext cx="7470648" cy="256032"/>
          </a:xfrm>
          <a:prstGeom prst="rect">
            <a:avLst/>
          </a:prstGeom>
          <a:noFill/>
        </p:spPr>
        <p:txBody>
          <a:bodyPr wrap="square" lIns="0" rIns="0" tIns="0" bIns="0" anchor="t">
            <a:spAutoFit/>
          </a:bodyPr>
          <a:lstStyle/>
          <a:p>
            <a:pPr algn="l">
              <a:lnSpc>
                <a:spcPts val="1030"/>
              </a:lnSpc>
              <a:spcBef>
                <a:spcPts val="0"/>
              </a:spcBef>
              <a:spcAft>
                <a:spcPts val="0"/>
              </a:spcAft>
            </a:pPr>
            <a:r>
              <a:rPr sz="919" b="0" i="0">
                <a:solidFill>
                  <a:srgbClr val="E5EBE9"/>
                </a:solidFill>
                <a:latin typeface="DM Mono"/>
              </a:rPr>
              <a:t>Illustrative local app · actual browser capture</a:t>
            </a:r>
          </a:p>
        </p:txBody>
      </p:sp>
      <p:pic>
        <p:nvPicPr>
          <p:cNvPr id="35" name="Picture 34" descr="10-truck-empty-running-33.png"/>
          <p:cNvPicPr>
            <a:picLocks noChangeAspect="1"/>
          </p:cNvPicPr>
          <p:nvPr/>
        </p:nvPicPr>
        <p:blipFill>
          <a:blip r:embed="rId9"/>
          <a:stretch>
            <a:fillRect/>
          </a:stretch>
        </p:blipFill>
        <p:spPr>
          <a:xfrm>
            <a:off x="777240" y="7452360"/>
            <a:ext cx="2523744" cy="1783080"/>
          </a:xfrm>
          <a:prstGeom prst="rect">
            <a:avLst/>
          </a:prstGeom>
        </p:spPr>
      </p:pic>
      <p:sp>
        <p:nvSpPr>
          <p:cNvPr id="36" name="Native editable glass border: truck-empty-running"/>
          <p:cNvSpPr/>
          <p:nvPr/>
        </p:nvSpPr>
        <p:spPr>
          <a:xfrm>
            <a:off x="777240" y="7452360"/>
            <a:ext cx="2523744"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istic label: UP TO · EMPTY RUNNING"/>
          <p:cNvSpPr txBox="1"/>
          <p:nvPr/>
        </p:nvSpPr>
        <p:spPr>
          <a:xfrm>
            <a:off x="987552" y="7616952"/>
            <a:ext cx="2103120"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UP TO · EMPTY RUNNING</a:t>
            </a:r>
          </a:p>
        </p:txBody>
      </p:sp>
      <p:sp>
        <p:nvSpPr>
          <p:cNvPr id="38" name="editable statistic: 40%"/>
          <p:cNvSpPr txBox="1"/>
          <p:nvPr/>
        </p:nvSpPr>
        <p:spPr>
          <a:xfrm>
            <a:off x="987552" y="8092440"/>
            <a:ext cx="2103120" cy="868680"/>
          </a:xfrm>
          <a:prstGeom prst="rect">
            <a:avLst/>
          </a:prstGeom>
          <a:noFill/>
        </p:spPr>
        <p:txBody>
          <a:bodyPr wrap="square" lIns="0" rIns="0" tIns="0" bIns="0" anchor="t">
            <a:spAutoFit/>
          </a:bodyPr>
          <a:lstStyle/>
          <a:p>
            <a:pPr algn="l">
              <a:lnSpc>
                <a:spcPts val="3780"/>
              </a:lnSpc>
              <a:spcBef>
                <a:spcPts val="0"/>
              </a:spcBef>
              <a:spcAft>
                <a:spcPts val="0"/>
              </a:spcAft>
            </a:pPr>
            <a:r>
              <a:rPr sz="3600" b="0" i="0">
                <a:solidFill>
                  <a:srgbClr val="FFFFFF"/>
                </a:solidFill>
                <a:latin typeface="Silkscreen"/>
              </a:rPr>
              <a:t>40%</a:t>
            </a:r>
          </a:p>
        </p:txBody>
      </p:sp>
      <p:sp>
        <p:nvSpPr>
          <p:cNvPr id="39" name="card source: DPIIT–NCAER, 2025"/>
          <p:cNvSpPr txBox="1"/>
          <p:nvPr/>
        </p:nvSpPr>
        <p:spPr>
          <a:xfrm>
            <a:off x="987552" y="8796528"/>
            <a:ext cx="2103120" cy="356616"/>
          </a:xfrm>
          <a:prstGeom prst="rect">
            <a:avLst/>
          </a:prstGeom>
          <a:noFill/>
        </p:spPr>
        <p:txBody>
          <a:bodyPr wrap="square" lIns="0" rIns="0" tIns="0" bIns="0" anchor="t">
            <a:spAutoFit/>
          </a:bodyPr>
          <a:lstStyle/>
          <a:p>
            <a:pPr algn="l">
              <a:lnSpc>
                <a:spcPts val="952"/>
              </a:lnSpc>
              <a:spcBef>
                <a:spcPts val="0"/>
              </a:spcBef>
              <a:spcAft>
                <a:spcPts val="0"/>
              </a:spcAft>
            </a:pPr>
            <a:r>
              <a:rPr sz="850" b="0" i="0">
                <a:solidFill>
                  <a:srgbClr val="E5EBE9"/>
                </a:solidFill>
                <a:latin typeface="DM Mono"/>
              </a:rPr>
              <a:t>DPIIT–NCAER, 2025</a:t>
            </a:r>
          </a:p>
        </p:txBody>
      </p:sp>
      <p:pic>
        <p:nvPicPr>
          <p:cNvPr id="40" name="Picture 39" descr="10-manufacturing-utilisation-38.png"/>
          <p:cNvPicPr>
            <a:picLocks noChangeAspect="1"/>
          </p:cNvPicPr>
          <p:nvPr/>
        </p:nvPicPr>
        <p:blipFill>
          <a:blip r:embed="rId10"/>
          <a:stretch>
            <a:fillRect/>
          </a:stretch>
        </p:blipFill>
        <p:spPr>
          <a:xfrm>
            <a:off x="3502152" y="7452360"/>
            <a:ext cx="2523744" cy="1783080"/>
          </a:xfrm>
          <a:prstGeom prst="rect">
            <a:avLst/>
          </a:prstGeom>
        </p:spPr>
      </p:pic>
      <p:sp>
        <p:nvSpPr>
          <p:cNvPr id="41" name="Native editable glass border: manufacturing-utilisation"/>
          <p:cNvSpPr/>
          <p:nvPr/>
        </p:nvSpPr>
        <p:spPr>
          <a:xfrm>
            <a:off x="3502152" y="7452360"/>
            <a:ext cx="2523744"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atistic label: CAPACITY UTILISATION"/>
          <p:cNvSpPr txBox="1"/>
          <p:nvPr/>
        </p:nvSpPr>
        <p:spPr>
          <a:xfrm>
            <a:off x="3712464" y="7616952"/>
            <a:ext cx="2103120"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CAPACITY UTILISATION</a:t>
            </a:r>
          </a:p>
        </p:txBody>
      </p:sp>
      <p:sp>
        <p:nvSpPr>
          <p:cNvPr id="43" name="editable statistic: 74.6%"/>
          <p:cNvSpPr txBox="1"/>
          <p:nvPr/>
        </p:nvSpPr>
        <p:spPr>
          <a:xfrm>
            <a:off x="3712464" y="8092440"/>
            <a:ext cx="2103120" cy="868680"/>
          </a:xfrm>
          <a:prstGeom prst="rect">
            <a:avLst/>
          </a:prstGeom>
          <a:noFill/>
        </p:spPr>
        <p:txBody>
          <a:bodyPr wrap="square" lIns="0" rIns="0" tIns="0" bIns="0" anchor="t">
            <a:spAutoFit/>
          </a:bodyPr>
          <a:lstStyle/>
          <a:p>
            <a:pPr algn="l">
              <a:lnSpc>
                <a:spcPts val="3780"/>
              </a:lnSpc>
              <a:spcBef>
                <a:spcPts val="0"/>
              </a:spcBef>
              <a:spcAft>
                <a:spcPts val="0"/>
              </a:spcAft>
            </a:pPr>
            <a:r>
              <a:rPr sz="3600" b="0" i="0">
                <a:solidFill>
                  <a:srgbClr val="FFFFFF"/>
                </a:solidFill>
                <a:latin typeface="Silkscreen"/>
              </a:rPr>
              <a:t>74.6%</a:t>
            </a:r>
          </a:p>
        </p:txBody>
      </p:sp>
      <p:sp>
        <p:nvSpPr>
          <p:cNvPr id="44" name="card source: RBI OBICUS Q1 2026–27 [VERIFY]"/>
          <p:cNvSpPr txBox="1"/>
          <p:nvPr/>
        </p:nvSpPr>
        <p:spPr>
          <a:xfrm>
            <a:off x="3712464" y="8796528"/>
            <a:ext cx="2103120" cy="356616"/>
          </a:xfrm>
          <a:prstGeom prst="rect">
            <a:avLst/>
          </a:prstGeom>
          <a:noFill/>
        </p:spPr>
        <p:txBody>
          <a:bodyPr wrap="square" lIns="0" rIns="0" tIns="0" bIns="0" anchor="t">
            <a:spAutoFit/>
          </a:bodyPr>
          <a:lstStyle/>
          <a:p>
            <a:pPr algn="l">
              <a:lnSpc>
                <a:spcPts val="952"/>
              </a:lnSpc>
              <a:spcBef>
                <a:spcPts val="0"/>
              </a:spcBef>
              <a:spcAft>
                <a:spcPts val="0"/>
              </a:spcAft>
            </a:pPr>
            <a:r>
              <a:rPr sz="850" b="0" i="0">
                <a:solidFill>
                  <a:srgbClr val="E5EBE9"/>
                </a:solidFill>
                <a:latin typeface="DM Mono"/>
              </a:rPr>
              <a:t>RBI OBICUS Q1 2026–27 [VERIFY]</a:t>
            </a:r>
          </a:p>
        </p:txBody>
      </p:sp>
      <p:pic>
        <p:nvPicPr>
          <p:cNvPr id="45" name="Picture 44" descr="10-ventilators---time-43.png"/>
          <p:cNvPicPr>
            <a:picLocks noChangeAspect="1"/>
          </p:cNvPicPr>
          <p:nvPr/>
        </p:nvPicPr>
        <p:blipFill>
          <a:blip r:embed="rId11"/>
          <a:stretch>
            <a:fillRect/>
          </a:stretch>
        </p:blipFill>
        <p:spPr>
          <a:xfrm>
            <a:off x="6227064" y="7452360"/>
            <a:ext cx="2523744" cy="1783080"/>
          </a:xfrm>
          <a:prstGeom prst="rect">
            <a:avLst/>
          </a:prstGeom>
        </p:spPr>
      </p:pic>
      <p:sp>
        <p:nvSpPr>
          <p:cNvPr id="46" name="Native editable glass border: ventilators-/-time"/>
          <p:cNvSpPr/>
          <p:nvPr/>
        </p:nvSpPr>
        <p:spPr>
          <a:xfrm>
            <a:off x="6227064" y="7452360"/>
            <a:ext cx="2523744"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tistic label: VENTILATORS · ~3 MONTHS"/>
          <p:cNvSpPr txBox="1"/>
          <p:nvPr/>
        </p:nvSpPr>
        <p:spPr>
          <a:xfrm>
            <a:off x="6437376" y="7616952"/>
            <a:ext cx="2103120"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VENTILATORS · ~3</a:t>
            </a:r>
          </a:p>
          <a:p>
            <a:pPr algn="l">
              <a:lnSpc>
                <a:spcPts val="1391"/>
              </a:lnSpc>
              <a:spcBef>
                <a:spcPts val="0"/>
              </a:spcBef>
              <a:spcAft>
                <a:spcPts val="0"/>
              </a:spcAft>
            </a:pPr>
            <a:r>
              <a:rPr sz="1300" b="0" i="0">
                <a:solidFill>
                  <a:srgbClr val="FFFFFF"/>
                </a:solidFill>
                <a:latin typeface="DM Mono"/>
              </a:rPr>
              <a:t>MONTHS</a:t>
            </a:r>
          </a:p>
        </p:txBody>
      </p:sp>
      <p:sp>
        <p:nvSpPr>
          <p:cNvPr id="48" name="editable statistic: ~60,000"/>
          <p:cNvSpPr txBox="1"/>
          <p:nvPr/>
        </p:nvSpPr>
        <p:spPr>
          <a:xfrm>
            <a:off x="6437376" y="8092440"/>
            <a:ext cx="2103120" cy="868680"/>
          </a:xfrm>
          <a:prstGeom prst="rect">
            <a:avLst/>
          </a:prstGeom>
          <a:noFill/>
        </p:spPr>
        <p:txBody>
          <a:bodyPr wrap="square" lIns="0" rIns="0" tIns="0" bIns="0" anchor="t">
            <a:spAutoFit/>
          </a:bodyPr>
          <a:lstStyle/>
          <a:p>
            <a:pPr algn="l">
              <a:lnSpc>
                <a:spcPts val="3465"/>
              </a:lnSpc>
              <a:spcBef>
                <a:spcPts val="0"/>
              </a:spcBef>
              <a:spcAft>
                <a:spcPts val="0"/>
              </a:spcAft>
            </a:pPr>
            <a:r>
              <a:rPr sz="3300" b="0" i="0">
                <a:solidFill>
                  <a:srgbClr val="FFFFFF"/>
                </a:solidFill>
                <a:latin typeface="Silkscreen"/>
              </a:rPr>
              <a:t>~60,000</a:t>
            </a:r>
          </a:p>
        </p:txBody>
      </p:sp>
      <p:sp>
        <p:nvSpPr>
          <p:cNvPr id="49" name="card source: COVID sharing case [source VERIFY]"/>
          <p:cNvSpPr txBox="1"/>
          <p:nvPr/>
        </p:nvSpPr>
        <p:spPr>
          <a:xfrm>
            <a:off x="6437376" y="8796528"/>
            <a:ext cx="2103120" cy="356616"/>
          </a:xfrm>
          <a:prstGeom prst="rect">
            <a:avLst/>
          </a:prstGeom>
          <a:noFill/>
        </p:spPr>
        <p:txBody>
          <a:bodyPr wrap="square" lIns="0" rIns="0" tIns="0" bIns="0" anchor="t">
            <a:spAutoFit/>
          </a:bodyPr>
          <a:lstStyle/>
          <a:p>
            <a:pPr algn="l">
              <a:lnSpc>
                <a:spcPts val="952"/>
              </a:lnSpc>
              <a:spcBef>
                <a:spcPts val="0"/>
              </a:spcBef>
              <a:spcAft>
                <a:spcPts val="0"/>
              </a:spcAft>
            </a:pPr>
            <a:r>
              <a:rPr sz="850" b="0" i="0">
                <a:solidFill>
                  <a:srgbClr val="E5EBE9"/>
                </a:solidFill>
                <a:latin typeface="DM Mono"/>
              </a:rPr>
              <a:t>COVID sharing case [source</a:t>
            </a:r>
          </a:p>
          <a:p>
            <a:pPr algn="l">
              <a:lnSpc>
                <a:spcPts val="952"/>
              </a:lnSpc>
              <a:spcBef>
                <a:spcPts val="0"/>
              </a:spcBef>
              <a:spcAft>
                <a:spcPts val="0"/>
              </a:spcAft>
            </a:pPr>
            <a:r>
              <a:rPr sz="850" b="0" i="0">
                <a:solidFill>
                  <a:srgbClr val="E5EBE9"/>
                </a:solidFill>
                <a:latin typeface="DM Mono"/>
              </a:rPr>
              <a:t>VERIFY]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11.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sp>
        <p:nvSpPr>
          <p:cNvPr id="8"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sp>
        <p:nvSpPr>
          <p:cNvPr id="9"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cxnSp>
        <p:nvCxnSpPr>
          <p:cNvPr id="10" name="Connector 9"/>
          <p:cNvCxnSpPr/>
          <p:nvPr/>
        </p:nvCxnSpPr>
        <p:spPr>
          <a:xfrm>
            <a:off x="10149840" y="1014984"/>
            <a:ext cx="59436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sp>
        <p:nvSpPr>
          <p:cNvPr id="11"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pic>
        <p:nvPicPr>
          <p:cNvPr id="12" name="Picture 11" descr="11-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11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11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SAP target architecture: project design · Live cloud integration [VERI"/>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SAP target architecture: project design · Live cloud integration [VERIFY]</a:t>
            </a:r>
          </a:p>
        </p:txBody>
      </p:sp>
      <p:pic>
        <p:nvPicPr>
          <p:cNvPr id="19" name="Picture 18" descr="11-eyebrow-17.png"/>
          <p:cNvPicPr>
            <a:picLocks noChangeAspect="1"/>
          </p:cNvPicPr>
          <p:nvPr/>
        </p:nvPicPr>
        <p:blipFill>
          <a:blip r:embed="rId4"/>
          <a:stretch>
            <a:fillRect/>
          </a:stretch>
        </p:blipFill>
        <p:spPr>
          <a:xfrm>
            <a:off x="731520" y="1417320"/>
            <a:ext cx="1824585" cy="420624"/>
          </a:xfrm>
          <a:prstGeom prst="rect">
            <a:avLst/>
          </a:prstGeom>
        </p:spPr>
      </p:pic>
      <p:sp>
        <p:nvSpPr>
          <p:cNvPr id="20" name="Native editable glass border: eyebrow"/>
          <p:cNvSpPr/>
          <p:nvPr/>
        </p:nvSpPr>
        <p:spPr>
          <a:xfrm>
            <a:off x="731520" y="1417320"/>
            <a:ext cx="1824585"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11 · SAP BTP"/>
          <p:cNvSpPr txBox="1"/>
          <p:nvPr/>
        </p:nvSpPr>
        <p:spPr>
          <a:xfrm>
            <a:off x="1106424" y="1536192"/>
            <a:ext cx="1321665"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11 · SAP BTP</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12408"/>
              </a:lnSpc>
              <a:spcBef>
                <a:spcPts val="0"/>
              </a:spcBef>
              <a:spcAft>
                <a:spcPts val="0"/>
              </a:spcAft>
            </a:pPr>
            <a:r>
              <a:rPr sz="13200" i="0">
                <a:solidFill>
                  <a:srgbClr val="FFFFFF"/>
                </a:solidFill>
                <a:latin typeface="Instrument Serif"/>
              </a:rPr>
              <a:t>Built </a:t>
            </a:r>
            <a:r>
              <a:rPr sz="13200" i="0">
                <a:solidFill>
                  <a:srgbClr val="FFFFFF"/>
                </a:solidFill>
                <a:latin typeface="Instrument Serif"/>
              </a:rPr>
              <a:t>on</a:t>
            </a:r>
          </a:p>
          <a:p>
            <a:pPr>
              <a:lnSpc>
                <a:spcPts val="12408"/>
              </a:lnSpc>
              <a:spcBef>
                <a:spcPts val="0"/>
              </a:spcBef>
              <a:spcAft>
                <a:spcPts val="0"/>
              </a:spcAft>
            </a:pPr>
            <a:r>
              <a:rPr sz="13200" i="1">
                <a:solidFill>
                  <a:srgbClr val="FFB05C"/>
                </a:solidFill>
                <a:latin typeface="Instrument Serif"/>
              </a:rPr>
              <a:t>SAP </a:t>
            </a:r>
            <a:r>
              <a:rPr sz="13200" i="1">
                <a:solidFill>
                  <a:srgbClr val="FFB05C"/>
                </a:solidFill>
                <a:latin typeface="Instrument Serif"/>
              </a:rPr>
              <a:t>BTP.</a:t>
            </a:r>
          </a:p>
        </p:txBody>
      </p:sp>
      <p:sp>
        <p:nvSpPr>
          <p:cNvPr id="24" name="single supporting sentence: One decision workflow, with human approval at the boundary of action."/>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One decision workflow, with human approval at the</a:t>
            </a:r>
          </a:p>
          <a:p>
            <a:pPr algn="l">
              <a:lnSpc>
                <a:spcPts val="2645"/>
              </a:lnSpc>
              <a:spcBef>
                <a:spcPts val="0"/>
              </a:spcBef>
              <a:spcAft>
                <a:spcPts val="0"/>
              </a:spcAft>
            </a:pPr>
            <a:r>
              <a:rPr sz="2300" b="0" i="0">
                <a:solidFill>
                  <a:srgbClr val="FFFFFF"/>
                </a:solidFill>
                <a:latin typeface="Inter"/>
              </a:rPr>
              <a:t>boundary of action.</a:t>
            </a:r>
          </a:p>
        </p:txBody>
      </p:sp>
      <p:pic>
        <p:nvPicPr>
          <p:cNvPr id="25" name="Picture 24" descr="11-SAP-UI-23.png"/>
          <p:cNvPicPr>
            <a:picLocks noChangeAspect="1"/>
          </p:cNvPicPr>
          <p:nvPr/>
        </p:nvPicPr>
        <p:blipFill>
          <a:blip r:embed="rId5"/>
          <a:stretch>
            <a:fillRect/>
          </a:stretch>
        </p:blipFill>
        <p:spPr>
          <a:xfrm>
            <a:off x="9555480" y="2148840"/>
            <a:ext cx="7909560" cy="832104"/>
          </a:xfrm>
          <a:prstGeom prst="rect">
            <a:avLst/>
          </a:prstGeom>
        </p:spPr>
      </p:pic>
      <p:sp>
        <p:nvSpPr>
          <p:cNvPr id="26" name="Native editable glass border: SAP-UI"/>
          <p:cNvSpPr/>
          <p:nvPr/>
        </p:nvSpPr>
        <p:spPr>
          <a:xfrm>
            <a:off x="9555480" y="2148840"/>
            <a:ext cx="7909560" cy="832104"/>
          </a:xfrm>
          <a:prstGeom prst="roundRect">
            <a:avLst>
              <a:gd name="adj" fmla="val 2747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rchitecture layer: UI"/>
          <p:cNvSpPr txBox="1"/>
          <p:nvPr/>
        </p:nvSpPr>
        <p:spPr>
          <a:xfrm>
            <a:off x="9774936" y="2322576"/>
            <a:ext cx="1188720" cy="274320"/>
          </a:xfrm>
          <a:prstGeom prst="rect">
            <a:avLst/>
          </a:prstGeom>
          <a:noFill/>
        </p:spPr>
        <p:txBody>
          <a:bodyPr wrap="square" lIns="0" rIns="0" tIns="0" bIns="0" anchor="t">
            <a:spAutoFit/>
          </a:bodyPr>
          <a:lstStyle/>
          <a:p>
            <a:pPr algn="l">
              <a:lnSpc>
                <a:spcPts val="1568"/>
              </a:lnSpc>
              <a:spcBef>
                <a:spcPts val="0"/>
              </a:spcBef>
              <a:spcAft>
                <a:spcPts val="0"/>
              </a:spcAft>
            </a:pPr>
            <a:r>
              <a:rPr sz="1400" b="0" i="0">
                <a:solidFill>
                  <a:srgbClr val="FFFFFF"/>
                </a:solidFill>
                <a:latin typeface="DM Mono"/>
              </a:rPr>
              <a:t>UI</a:t>
            </a:r>
          </a:p>
        </p:txBody>
      </p:sp>
      <p:sp>
        <p:nvSpPr>
          <p:cNvPr id="28" name="architecture component: SAPUI5 / Horizon"/>
          <p:cNvSpPr txBox="1"/>
          <p:nvPr/>
        </p:nvSpPr>
        <p:spPr>
          <a:xfrm>
            <a:off x="11137392" y="2267712"/>
            <a:ext cx="6080760" cy="356616"/>
          </a:xfrm>
          <a:prstGeom prst="rect">
            <a:avLst/>
          </a:prstGeom>
          <a:noFill/>
        </p:spPr>
        <p:txBody>
          <a:bodyPr wrap="square" lIns="0" rIns="0" tIns="0" bIns="0" anchor="t">
            <a:spAutoFit/>
          </a:bodyPr>
          <a:lstStyle/>
          <a:p>
            <a:pPr algn="l">
              <a:lnSpc>
                <a:spcPts val="2464"/>
              </a:lnSpc>
              <a:spcBef>
                <a:spcPts val="0"/>
              </a:spcBef>
              <a:spcAft>
                <a:spcPts val="0"/>
              </a:spcAft>
            </a:pPr>
            <a:r>
              <a:rPr sz="2200" b="0" i="0">
                <a:solidFill>
                  <a:srgbClr val="FFFFFF"/>
                </a:solidFill>
                <a:latin typeface="Inter"/>
              </a:rPr>
              <a:t>SAPUI5 / Horizon</a:t>
            </a:r>
          </a:p>
        </p:txBody>
      </p:sp>
      <p:sp>
        <p:nvSpPr>
          <p:cNvPr id="29" name="card source: Project target/implementation"/>
          <p:cNvSpPr txBox="1"/>
          <p:nvPr/>
        </p:nvSpPr>
        <p:spPr>
          <a:xfrm>
            <a:off x="11137392" y="2715768"/>
            <a:ext cx="6080760" cy="219456"/>
          </a:xfrm>
          <a:prstGeom prst="rect">
            <a:avLst/>
          </a:prstGeom>
          <a:noFill/>
        </p:spPr>
        <p:txBody>
          <a:bodyPr wrap="square" lIns="0" rIns="0" tIns="0" bIns="0" anchor="t">
            <a:spAutoFit/>
          </a:bodyPr>
          <a:lstStyle/>
          <a:p>
            <a:pPr algn="l">
              <a:lnSpc>
                <a:spcPts val="1008"/>
              </a:lnSpc>
              <a:spcBef>
                <a:spcPts val="0"/>
              </a:spcBef>
              <a:spcAft>
                <a:spcPts val="0"/>
              </a:spcAft>
            </a:pPr>
            <a:r>
              <a:rPr sz="900" b="0" i="0">
                <a:solidFill>
                  <a:srgbClr val="E5EBE9"/>
                </a:solidFill>
                <a:latin typeface="DM Mono"/>
              </a:rPr>
              <a:t>Project target/implementation</a:t>
            </a:r>
          </a:p>
        </p:txBody>
      </p:sp>
      <p:pic>
        <p:nvPicPr>
          <p:cNvPr id="30" name="Picture 29" descr="11-SAP-AGENT-28.png"/>
          <p:cNvPicPr>
            <a:picLocks noChangeAspect="1"/>
          </p:cNvPicPr>
          <p:nvPr/>
        </p:nvPicPr>
        <p:blipFill>
          <a:blip r:embed="rId6"/>
          <a:stretch>
            <a:fillRect/>
          </a:stretch>
        </p:blipFill>
        <p:spPr>
          <a:xfrm>
            <a:off x="9555480" y="3118104"/>
            <a:ext cx="7909560" cy="832104"/>
          </a:xfrm>
          <a:prstGeom prst="rect">
            <a:avLst/>
          </a:prstGeom>
        </p:spPr>
      </p:pic>
      <p:sp>
        <p:nvSpPr>
          <p:cNvPr id="31" name="Native editable glass border: SAP-AGENT"/>
          <p:cNvSpPr/>
          <p:nvPr/>
        </p:nvSpPr>
        <p:spPr>
          <a:xfrm>
            <a:off x="9555480" y="3118104"/>
            <a:ext cx="7909560" cy="832104"/>
          </a:xfrm>
          <a:prstGeom prst="roundRect">
            <a:avLst>
              <a:gd name="adj" fmla="val 2747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rchitecture layer: AGENT"/>
          <p:cNvSpPr txBox="1"/>
          <p:nvPr/>
        </p:nvSpPr>
        <p:spPr>
          <a:xfrm>
            <a:off x="9774936" y="3291840"/>
            <a:ext cx="1188720" cy="274320"/>
          </a:xfrm>
          <a:prstGeom prst="rect">
            <a:avLst/>
          </a:prstGeom>
          <a:noFill/>
        </p:spPr>
        <p:txBody>
          <a:bodyPr wrap="square" lIns="0" rIns="0" tIns="0" bIns="0" anchor="t">
            <a:spAutoFit/>
          </a:bodyPr>
          <a:lstStyle/>
          <a:p>
            <a:pPr algn="l">
              <a:lnSpc>
                <a:spcPts val="1568"/>
              </a:lnSpc>
              <a:spcBef>
                <a:spcPts val="0"/>
              </a:spcBef>
              <a:spcAft>
                <a:spcPts val="0"/>
              </a:spcAft>
            </a:pPr>
            <a:r>
              <a:rPr sz="1400" b="0" i="0">
                <a:solidFill>
                  <a:srgbClr val="FFFFFF"/>
                </a:solidFill>
                <a:latin typeface="DM Mono"/>
              </a:rPr>
              <a:t>AGENT</a:t>
            </a:r>
          </a:p>
        </p:txBody>
      </p:sp>
      <p:sp>
        <p:nvSpPr>
          <p:cNvPr id="33" name="architecture component: Build Process Automation"/>
          <p:cNvSpPr txBox="1"/>
          <p:nvPr/>
        </p:nvSpPr>
        <p:spPr>
          <a:xfrm>
            <a:off x="11137392" y="3236976"/>
            <a:ext cx="6080760" cy="356616"/>
          </a:xfrm>
          <a:prstGeom prst="rect">
            <a:avLst/>
          </a:prstGeom>
          <a:noFill/>
        </p:spPr>
        <p:txBody>
          <a:bodyPr wrap="square" lIns="0" rIns="0" tIns="0" bIns="0" anchor="t">
            <a:spAutoFit/>
          </a:bodyPr>
          <a:lstStyle/>
          <a:p>
            <a:pPr algn="l">
              <a:lnSpc>
                <a:spcPts val="2464"/>
              </a:lnSpc>
              <a:spcBef>
                <a:spcPts val="0"/>
              </a:spcBef>
              <a:spcAft>
                <a:spcPts val="0"/>
              </a:spcAft>
            </a:pPr>
            <a:r>
              <a:rPr sz="2200" b="0" i="0">
                <a:solidFill>
                  <a:srgbClr val="FFFFFF"/>
                </a:solidFill>
                <a:latin typeface="Inter"/>
              </a:rPr>
              <a:t>Build Process Automation</a:t>
            </a:r>
          </a:p>
        </p:txBody>
      </p:sp>
      <p:sp>
        <p:nvSpPr>
          <p:cNvPr id="34" name="card source: SAP target; local fallback"/>
          <p:cNvSpPr txBox="1"/>
          <p:nvPr/>
        </p:nvSpPr>
        <p:spPr>
          <a:xfrm>
            <a:off x="11137392" y="3685032"/>
            <a:ext cx="6080760" cy="219456"/>
          </a:xfrm>
          <a:prstGeom prst="rect">
            <a:avLst/>
          </a:prstGeom>
          <a:noFill/>
        </p:spPr>
        <p:txBody>
          <a:bodyPr wrap="square" lIns="0" rIns="0" tIns="0" bIns="0" anchor="t">
            <a:spAutoFit/>
          </a:bodyPr>
          <a:lstStyle/>
          <a:p>
            <a:pPr algn="l">
              <a:lnSpc>
                <a:spcPts val="1008"/>
              </a:lnSpc>
              <a:spcBef>
                <a:spcPts val="0"/>
              </a:spcBef>
              <a:spcAft>
                <a:spcPts val="0"/>
              </a:spcAft>
            </a:pPr>
            <a:r>
              <a:rPr sz="900" b="0" i="0">
                <a:solidFill>
                  <a:srgbClr val="E5EBE9"/>
                </a:solidFill>
                <a:latin typeface="DM Mono"/>
              </a:rPr>
              <a:t>SAP target; local fallback</a:t>
            </a:r>
          </a:p>
        </p:txBody>
      </p:sp>
      <p:pic>
        <p:nvPicPr>
          <p:cNvPr id="35" name="Picture 34" descr="11-SAP-APP-33.png"/>
          <p:cNvPicPr>
            <a:picLocks noChangeAspect="1"/>
          </p:cNvPicPr>
          <p:nvPr/>
        </p:nvPicPr>
        <p:blipFill>
          <a:blip r:embed="rId7"/>
          <a:stretch>
            <a:fillRect/>
          </a:stretch>
        </p:blipFill>
        <p:spPr>
          <a:xfrm>
            <a:off x="9555480" y="4087368"/>
            <a:ext cx="7909560" cy="832104"/>
          </a:xfrm>
          <a:prstGeom prst="rect">
            <a:avLst/>
          </a:prstGeom>
        </p:spPr>
      </p:pic>
      <p:sp>
        <p:nvSpPr>
          <p:cNvPr id="36" name="Native editable glass border: SAP-APP"/>
          <p:cNvSpPr/>
          <p:nvPr/>
        </p:nvSpPr>
        <p:spPr>
          <a:xfrm>
            <a:off x="9555480" y="4087368"/>
            <a:ext cx="7909560" cy="832104"/>
          </a:xfrm>
          <a:prstGeom prst="roundRect">
            <a:avLst>
              <a:gd name="adj" fmla="val 2747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rchitecture layer: APP"/>
          <p:cNvSpPr txBox="1"/>
          <p:nvPr/>
        </p:nvSpPr>
        <p:spPr>
          <a:xfrm>
            <a:off x="9774936" y="4261104"/>
            <a:ext cx="1188720" cy="274320"/>
          </a:xfrm>
          <a:prstGeom prst="rect">
            <a:avLst/>
          </a:prstGeom>
          <a:noFill/>
        </p:spPr>
        <p:txBody>
          <a:bodyPr wrap="square" lIns="0" rIns="0" tIns="0" bIns="0" anchor="t">
            <a:spAutoFit/>
          </a:bodyPr>
          <a:lstStyle/>
          <a:p>
            <a:pPr algn="l">
              <a:lnSpc>
                <a:spcPts val="1568"/>
              </a:lnSpc>
              <a:spcBef>
                <a:spcPts val="0"/>
              </a:spcBef>
              <a:spcAft>
                <a:spcPts val="0"/>
              </a:spcAft>
            </a:pPr>
            <a:r>
              <a:rPr sz="1400" b="0" i="0">
                <a:solidFill>
                  <a:srgbClr val="FFFFFF"/>
                </a:solidFill>
                <a:latin typeface="DM Mono"/>
              </a:rPr>
              <a:t>APP</a:t>
            </a:r>
          </a:p>
        </p:txBody>
      </p:sp>
      <p:sp>
        <p:nvSpPr>
          <p:cNvPr id="38" name="architecture component: CAP / Node.js"/>
          <p:cNvSpPr txBox="1"/>
          <p:nvPr/>
        </p:nvSpPr>
        <p:spPr>
          <a:xfrm>
            <a:off x="11137392" y="4206240"/>
            <a:ext cx="6080760" cy="356616"/>
          </a:xfrm>
          <a:prstGeom prst="rect">
            <a:avLst/>
          </a:prstGeom>
          <a:noFill/>
        </p:spPr>
        <p:txBody>
          <a:bodyPr wrap="square" lIns="0" rIns="0" tIns="0" bIns="0" anchor="t">
            <a:spAutoFit/>
          </a:bodyPr>
          <a:lstStyle/>
          <a:p>
            <a:pPr algn="l">
              <a:lnSpc>
                <a:spcPts val="2464"/>
              </a:lnSpc>
              <a:spcBef>
                <a:spcPts val="0"/>
              </a:spcBef>
              <a:spcAft>
                <a:spcPts val="0"/>
              </a:spcAft>
            </a:pPr>
            <a:r>
              <a:rPr sz="2200" b="0" i="0">
                <a:solidFill>
                  <a:srgbClr val="FFFFFF"/>
                </a:solidFill>
                <a:latin typeface="Inter"/>
              </a:rPr>
              <a:t>CAP / Node.js</a:t>
            </a:r>
          </a:p>
        </p:txBody>
      </p:sp>
      <p:sp>
        <p:nvSpPr>
          <p:cNvPr id="39" name="card source: Project target/implementation"/>
          <p:cNvSpPr txBox="1"/>
          <p:nvPr/>
        </p:nvSpPr>
        <p:spPr>
          <a:xfrm>
            <a:off x="11137392" y="4654296"/>
            <a:ext cx="6080760" cy="219456"/>
          </a:xfrm>
          <a:prstGeom prst="rect">
            <a:avLst/>
          </a:prstGeom>
          <a:noFill/>
        </p:spPr>
        <p:txBody>
          <a:bodyPr wrap="square" lIns="0" rIns="0" tIns="0" bIns="0" anchor="t">
            <a:spAutoFit/>
          </a:bodyPr>
          <a:lstStyle/>
          <a:p>
            <a:pPr algn="l">
              <a:lnSpc>
                <a:spcPts val="1008"/>
              </a:lnSpc>
              <a:spcBef>
                <a:spcPts val="0"/>
              </a:spcBef>
              <a:spcAft>
                <a:spcPts val="0"/>
              </a:spcAft>
            </a:pPr>
            <a:r>
              <a:rPr sz="900" b="0" i="0">
                <a:solidFill>
                  <a:srgbClr val="E5EBE9"/>
                </a:solidFill>
                <a:latin typeface="DM Mono"/>
              </a:rPr>
              <a:t>Project target/implementation</a:t>
            </a:r>
          </a:p>
        </p:txBody>
      </p:sp>
      <p:pic>
        <p:nvPicPr>
          <p:cNvPr id="40" name="Picture 39" descr="11-SAP-AI-38.png"/>
          <p:cNvPicPr>
            <a:picLocks noChangeAspect="1"/>
          </p:cNvPicPr>
          <p:nvPr/>
        </p:nvPicPr>
        <p:blipFill>
          <a:blip r:embed="rId8"/>
          <a:stretch>
            <a:fillRect/>
          </a:stretch>
        </p:blipFill>
        <p:spPr>
          <a:xfrm>
            <a:off x="9555480" y="5056632"/>
            <a:ext cx="7909560" cy="832104"/>
          </a:xfrm>
          <a:prstGeom prst="rect">
            <a:avLst/>
          </a:prstGeom>
        </p:spPr>
      </p:pic>
      <p:sp>
        <p:nvSpPr>
          <p:cNvPr id="41" name="Native editable glass border: SAP-AI"/>
          <p:cNvSpPr/>
          <p:nvPr/>
        </p:nvSpPr>
        <p:spPr>
          <a:xfrm>
            <a:off x="9555480" y="5056632"/>
            <a:ext cx="7909560" cy="832104"/>
          </a:xfrm>
          <a:prstGeom prst="roundRect">
            <a:avLst>
              <a:gd name="adj" fmla="val 27472"/>
            </a:avLst>
          </a:prstGeom>
          <a:noFill/>
          <a:ln w="19050">
            <a:solidFill>
              <a:srgbClr val="FFB05C">
                <a:alpha val="8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rchitecture layer: AI"/>
          <p:cNvSpPr txBox="1"/>
          <p:nvPr/>
        </p:nvSpPr>
        <p:spPr>
          <a:xfrm>
            <a:off x="9774936" y="5230368"/>
            <a:ext cx="1188720" cy="274320"/>
          </a:xfrm>
          <a:prstGeom prst="rect">
            <a:avLst/>
          </a:prstGeom>
          <a:noFill/>
        </p:spPr>
        <p:txBody>
          <a:bodyPr wrap="square" lIns="0" rIns="0" tIns="0" bIns="0" anchor="t">
            <a:spAutoFit/>
          </a:bodyPr>
          <a:lstStyle/>
          <a:p>
            <a:pPr algn="l">
              <a:lnSpc>
                <a:spcPts val="1568"/>
              </a:lnSpc>
              <a:spcBef>
                <a:spcPts val="0"/>
              </a:spcBef>
              <a:spcAft>
                <a:spcPts val="0"/>
              </a:spcAft>
            </a:pPr>
            <a:r>
              <a:rPr sz="1400" b="0" i="0">
                <a:solidFill>
                  <a:srgbClr val="FFB05C"/>
                </a:solidFill>
                <a:latin typeface="DM Mono"/>
              </a:rPr>
              <a:t>AI</a:t>
            </a:r>
          </a:p>
        </p:txBody>
      </p:sp>
      <p:sp>
        <p:nvSpPr>
          <p:cNvPr id="43" name="architecture component: AI Core / Gen AI Hub"/>
          <p:cNvSpPr txBox="1"/>
          <p:nvPr/>
        </p:nvSpPr>
        <p:spPr>
          <a:xfrm>
            <a:off x="11137392" y="5175504"/>
            <a:ext cx="6080760" cy="356616"/>
          </a:xfrm>
          <a:prstGeom prst="rect">
            <a:avLst/>
          </a:prstGeom>
          <a:noFill/>
        </p:spPr>
        <p:txBody>
          <a:bodyPr wrap="square" lIns="0" rIns="0" tIns="0" bIns="0" anchor="t">
            <a:spAutoFit/>
          </a:bodyPr>
          <a:lstStyle/>
          <a:p>
            <a:pPr algn="l">
              <a:lnSpc>
                <a:spcPts val="2464"/>
              </a:lnSpc>
              <a:spcBef>
                <a:spcPts val="0"/>
              </a:spcBef>
              <a:spcAft>
                <a:spcPts val="0"/>
              </a:spcAft>
            </a:pPr>
            <a:r>
              <a:rPr sz="2200" b="0" i="0">
                <a:solidFill>
                  <a:srgbClr val="FFFFFF"/>
                </a:solidFill>
                <a:latin typeface="Inter"/>
              </a:rPr>
              <a:t>AI Core / Gen AI Hub</a:t>
            </a:r>
          </a:p>
        </p:txBody>
      </p:sp>
      <p:sp>
        <p:nvSpPr>
          <p:cNvPr id="44" name="card source: SAP target; local GraphSAGE/template fallback"/>
          <p:cNvSpPr txBox="1"/>
          <p:nvPr/>
        </p:nvSpPr>
        <p:spPr>
          <a:xfrm>
            <a:off x="11137392" y="5623560"/>
            <a:ext cx="6080760" cy="219456"/>
          </a:xfrm>
          <a:prstGeom prst="rect">
            <a:avLst/>
          </a:prstGeom>
          <a:noFill/>
        </p:spPr>
        <p:txBody>
          <a:bodyPr wrap="square" lIns="0" rIns="0" tIns="0" bIns="0" anchor="t">
            <a:spAutoFit/>
          </a:bodyPr>
          <a:lstStyle/>
          <a:p>
            <a:pPr algn="l">
              <a:lnSpc>
                <a:spcPts val="1008"/>
              </a:lnSpc>
              <a:spcBef>
                <a:spcPts val="0"/>
              </a:spcBef>
              <a:spcAft>
                <a:spcPts val="0"/>
              </a:spcAft>
            </a:pPr>
            <a:r>
              <a:rPr sz="900" b="0" i="0">
                <a:solidFill>
                  <a:srgbClr val="E5EBE9"/>
                </a:solidFill>
                <a:latin typeface="DM Mono"/>
              </a:rPr>
              <a:t>SAP target; local GraphSAGE/template fallback</a:t>
            </a:r>
          </a:p>
        </p:txBody>
      </p:sp>
      <p:pic>
        <p:nvPicPr>
          <p:cNvPr id="45" name="Picture 44" descr="11-SAP-DATA-43.png"/>
          <p:cNvPicPr>
            <a:picLocks noChangeAspect="1"/>
          </p:cNvPicPr>
          <p:nvPr/>
        </p:nvPicPr>
        <p:blipFill>
          <a:blip r:embed="rId9"/>
          <a:stretch>
            <a:fillRect/>
          </a:stretch>
        </p:blipFill>
        <p:spPr>
          <a:xfrm>
            <a:off x="9555480" y="6025896"/>
            <a:ext cx="7909560" cy="832104"/>
          </a:xfrm>
          <a:prstGeom prst="rect">
            <a:avLst/>
          </a:prstGeom>
        </p:spPr>
      </p:pic>
      <p:sp>
        <p:nvSpPr>
          <p:cNvPr id="46" name="Native editable glass border: SAP-DATA"/>
          <p:cNvSpPr/>
          <p:nvPr/>
        </p:nvSpPr>
        <p:spPr>
          <a:xfrm>
            <a:off x="9555480" y="6025896"/>
            <a:ext cx="7909560" cy="832104"/>
          </a:xfrm>
          <a:prstGeom prst="roundRect">
            <a:avLst>
              <a:gd name="adj" fmla="val 2747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rchitecture layer: DATA"/>
          <p:cNvSpPr txBox="1"/>
          <p:nvPr/>
        </p:nvSpPr>
        <p:spPr>
          <a:xfrm>
            <a:off x="9774936" y="6199632"/>
            <a:ext cx="1188720" cy="274320"/>
          </a:xfrm>
          <a:prstGeom prst="rect">
            <a:avLst/>
          </a:prstGeom>
          <a:noFill/>
        </p:spPr>
        <p:txBody>
          <a:bodyPr wrap="square" lIns="0" rIns="0" tIns="0" bIns="0" anchor="t">
            <a:spAutoFit/>
          </a:bodyPr>
          <a:lstStyle/>
          <a:p>
            <a:pPr algn="l">
              <a:lnSpc>
                <a:spcPts val="1568"/>
              </a:lnSpc>
              <a:spcBef>
                <a:spcPts val="0"/>
              </a:spcBef>
              <a:spcAft>
                <a:spcPts val="0"/>
              </a:spcAft>
            </a:pPr>
            <a:r>
              <a:rPr sz="1400" b="0" i="0">
                <a:solidFill>
                  <a:srgbClr val="FFFFFF"/>
                </a:solidFill>
                <a:latin typeface="DM Mono"/>
              </a:rPr>
              <a:t>DATA</a:t>
            </a:r>
          </a:p>
        </p:txBody>
      </p:sp>
      <p:sp>
        <p:nvSpPr>
          <p:cNvPr id="48" name="architecture component: HANA Cloud"/>
          <p:cNvSpPr txBox="1"/>
          <p:nvPr/>
        </p:nvSpPr>
        <p:spPr>
          <a:xfrm>
            <a:off x="11137392" y="6144768"/>
            <a:ext cx="6080760" cy="356616"/>
          </a:xfrm>
          <a:prstGeom prst="rect">
            <a:avLst/>
          </a:prstGeom>
          <a:noFill/>
        </p:spPr>
        <p:txBody>
          <a:bodyPr wrap="square" lIns="0" rIns="0" tIns="0" bIns="0" anchor="t">
            <a:spAutoFit/>
          </a:bodyPr>
          <a:lstStyle/>
          <a:p>
            <a:pPr algn="l">
              <a:lnSpc>
                <a:spcPts val="2464"/>
              </a:lnSpc>
              <a:spcBef>
                <a:spcPts val="0"/>
              </a:spcBef>
              <a:spcAft>
                <a:spcPts val="0"/>
              </a:spcAft>
            </a:pPr>
            <a:r>
              <a:rPr sz="2200" b="0" i="0">
                <a:solidFill>
                  <a:srgbClr val="FFFFFF"/>
                </a:solidFill>
                <a:latin typeface="Inter"/>
              </a:rPr>
              <a:t>HANA Cloud</a:t>
            </a:r>
          </a:p>
        </p:txBody>
      </p:sp>
      <p:sp>
        <p:nvSpPr>
          <p:cNvPr id="49" name="card source: SAP target; SQLite local"/>
          <p:cNvSpPr txBox="1"/>
          <p:nvPr/>
        </p:nvSpPr>
        <p:spPr>
          <a:xfrm>
            <a:off x="11137392" y="6592824"/>
            <a:ext cx="6080760" cy="219456"/>
          </a:xfrm>
          <a:prstGeom prst="rect">
            <a:avLst/>
          </a:prstGeom>
          <a:noFill/>
        </p:spPr>
        <p:txBody>
          <a:bodyPr wrap="square" lIns="0" rIns="0" tIns="0" bIns="0" anchor="t">
            <a:spAutoFit/>
          </a:bodyPr>
          <a:lstStyle/>
          <a:p>
            <a:pPr algn="l">
              <a:lnSpc>
                <a:spcPts val="1008"/>
              </a:lnSpc>
              <a:spcBef>
                <a:spcPts val="0"/>
              </a:spcBef>
              <a:spcAft>
                <a:spcPts val="0"/>
              </a:spcAft>
            </a:pPr>
            <a:r>
              <a:rPr sz="900" b="0" i="0">
                <a:solidFill>
                  <a:srgbClr val="E5EBE9"/>
                </a:solidFill>
                <a:latin typeface="DM Mono"/>
              </a:rPr>
              <a:t>SAP target; SQLite local</a:t>
            </a:r>
          </a:p>
        </p:txBody>
      </p:sp>
      <p:pic>
        <p:nvPicPr>
          <p:cNvPr id="50" name="Picture 49" descr="11-SAP-SOURCE-48.png"/>
          <p:cNvPicPr>
            <a:picLocks noChangeAspect="1"/>
          </p:cNvPicPr>
          <p:nvPr/>
        </p:nvPicPr>
        <p:blipFill>
          <a:blip r:embed="rId10"/>
          <a:stretch>
            <a:fillRect/>
          </a:stretch>
        </p:blipFill>
        <p:spPr>
          <a:xfrm>
            <a:off x="9555480" y="6995160"/>
            <a:ext cx="7909560" cy="832104"/>
          </a:xfrm>
          <a:prstGeom prst="rect">
            <a:avLst/>
          </a:prstGeom>
        </p:spPr>
      </p:pic>
      <p:sp>
        <p:nvSpPr>
          <p:cNvPr id="51" name="Native editable glass border: SAP-SOURCE"/>
          <p:cNvSpPr/>
          <p:nvPr/>
        </p:nvSpPr>
        <p:spPr>
          <a:xfrm>
            <a:off x="9555480" y="6995160"/>
            <a:ext cx="7909560" cy="832104"/>
          </a:xfrm>
          <a:prstGeom prst="roundRect">
            <a:avLst>
              <a:gd name="adj" fmla="val 2747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rchitecture layer: SOURCE"/>
          <p:cNvSpPr txBox="1"/>
          <p:nvPr/>
        </p:nvSpPr>
        <p:spPr>
          <a:xfrm>
            <a:off x="9774936" y="7168896"/>
            <a:ext cx="1188720" cy="274320"/>
          </a:xfrm>
          <a:prstGeom prst="rect">
            <a:avLst/>
          </a:prstGeom>
          <a:noFill/>
        </p:spPr>
        <p:txBody>
          <a:bodyPr wrap="square" lIns="0" rIns="0" tIns="0" bIns="0" anchor="t">
            <a:spAutoFit/>
          </a:bodyPr>
          <a:lstStyle/>
          <a:p>
            <a:pPr algn="l">
              <a:lnSpc>
                <a:spcPts val="1568"/>
              </a:lnSpc>
              <a:spcBef>
                <a:spcPts val="0"/>
              </a:spcBef>
              <a:spcAft>
                <a:spcPts val="0"/>
              </a:spcAft>
            </a:pPr>
            <a:r>
              <a:rPr sz="1400" b="0" i="0">
                <a:solidFill>
                  <a:srgbClr val="FFFFFF"/>
                </a:solidFill>
                <a:latin typeface="DM Mono"/>
              </a:rPr>
              <a:t>SOURCE</a:t>
            </a:r>
          </a:p>
        </p:txBody>
      </p:sp>
      <p:sp>
        <p:nvSpPr>
          <p:cNvPr id="53" name="architecture component: Integration Suite / S/4HANA"/>
          <p:cNvSpPr txBox="1"/>
          <p:nvPr/>
        </p:nvSpPr>
        <p:spPr>
          <a:xfrm>
            <a:off x="11137392" y="7114032"/>
            <a:ext cx="6080760" cy="356616"/>
          </a:xfrm>
          <a:prstGeom prst="rect">
            <a:avLst/>
          </a:prstGeom>
          <a:noFill/>
        </p:spPr>
        <p:txBody>
          <a:bodyPr wrap="square" lIns="0" rIns="0" tIns="0" bIns="0" anchor="t">
            <a:spAutoFit/>
          </a:bodyPr>
          <a:lstStyle/>
          <a:p>
            <a:pPr algn="l">
              <a:lnSpc>
                <a:spcPts val="2464"/>
              </a:lnSpc>
              <a:spcBef>
                <a:spcPts val="0"/>
              </a:spcBef>
              <a:spcAft>
                <a:spcPts val="0"/>
              </a:spcAft>
            </a:pPr>
            <a:r>
              <a:rPr sz="2200" b="0" i="0">
                <a:solidFill>
                  <a:srgbClr val="FFFFFF"/>
                </a:solidFill>
                <a:latin typeface="Inter"/>
              </a:rPr>
              <a:t>Integration Suite / S/4HANA</a:t>
            </a:r>
          </a:p>
        </p:txBody>
      </p:sp>
      <p:sp>
        <p:nvSpPr>
          <p:cNvPr id="54" name="card source: SAP target; mocks local"/>
          <p:cNvSpPr txBox="1"/>
          <p:nvPr/>
        </p:nvSpPr>
        <p:spPr>
          <a:xfrm>
            <a:off x="11137392" y="7562088"/>
            <a:ext cx="6080760" cy="219456"/>
          </a:xfrm>
          <a:prstGeom prst="rect">
            <a:avLst/>
          </a:prstGeom>
          <a:noFill/>
        </p:spPr>
        <p:txBody>
          <a:bodyPr wrap="square" lIns="0" rIns="0" tIns="0" bIns="0" anchor="t">
            <a:spAutoFit/>
          </a:bodyPr>
          <a:lstStyle/>
          <a:p>
            <a:pPr algn="l">
              <a:lnSpc>
                <a:spcPts val="1008"/>
              </a:lnSpc>
              <a:spcBef>
                <a:spcPts val="0"/>
              </a:spcBef>
              <a:spcAft>
                <a:spcPts val="0"/>
              </a:spcAft>
            </a:pPr>
            <a:r>
              <a:rPr sz="900" b="0" i="0">
                <a:solidFill>
                  <a:srgbClr val="E5EBE9"/>
                </a:solidFill>
                <a:latin typeface="DM Mono"/>
              </a:rPr>
              <a:t>SAP target; mocks local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12.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sp>
        <p:nvSpPr>
          <p:cNvPr id="8"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sp>
        <p:nvSpPr>
          <p:cNvPr id="9"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cxnSp>
        <p:nvCxnSpPr>
          <p:cNvPr id="10" name="Connector 9"/>
          <p:cNvCxnSpPr/>
          <p:nvPr/>
        </p:nvCxnSpPr>
        <p:spPr>
          <a:xfrm>
            <a:off x="10149840" y="1014984"/>
            <a:ext cx="59436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sp>
        <p:nvSpPr>
          <p:cNvPr id="11"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pic>
        <p:nvPicPr>
          <p:cNvPr id="12" name="Picture 11" descr="12-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12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12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Project process record · Published cases and persona; interviews plann"/>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Project process record · Published cases and persona; interviews planned</a:t>
            </a:r>
          </a:p>
        </p:txBody>
      </p:sp>
      <p:pic>
        <p:nvPicPr>
          <p:cNvPr id="19" name="Picture 18" descr="12-eyebrow-17.png"/>
          <p:cNvPicPr>
            <a:picLocks noChangeAspect="1"/>
          </p:cNvPicPr>
          <p:nvPr/>
        </p:nvPicPr>
        <p:blipFill>
          <a:blip r:embed="rId4"/>
          <a:stretch>
            <a:fillRect/>
          </a:stretch>
        </p:blipFill>
        <p:spPr>
          <a:xfrm>
            <a:off x="731520" y="1417320"/>
            <a:ext cx="2602063" cy="420624"/>
          </a:xfrm>
          <a:prstGeom prst="rect">
            <a:avLst/>
          </a:prstGeom>
        </p:spPr>
      </p:pic>
      <p:sp>
        <p:nvSpPr>
          <p:cNvPr id="20" name="Native editable glass border: eyebrow"/>
          <p:cNvSpPr/>
          <p:nvPr/>
        </p:nvSpPr>
        <p:spPr>
          <a:xfrm>
            <a:off x="731520" y="1417320"/>
            <a:ext cx="2602063"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12 · DESIGN THINKING"/>
          <p:cNvSpPr txBox="1"/>
          <p:nvPr/>
        </p:nvSpPr>
        <p:spPr>
          <a:xfrm>
            <a:off x="1106424" y="1536192"/>
            <a:ext cx="2099143"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12 · DESIGN THINKING</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9588"/>
              </a:lnSpc>
              <a:spcBef>
                <a:spcPts val="0"/>
              </a:spcBef>
              <a:spcAft>
                <a:spcPts val="0"/>
              </a:spcAft>
            </a:pPr>
            <a:r>
              <a:rPr sz="10200" i="0">
                <a:solidFill>
                  <a:srgbClr val="FFFFFF"/>
                </a:solidFill>
                <a:latin typeface="Instrument Serif"/>
              </a:rPr>
              <a:t>Designed </a:t>
            </a:r>
            <a:r>
              <a:rPr sz="10200" i="0">
                <a:solidFill>
                  <a:srgbClr val="FFFFFF"/>
                </a:solidFill>
                <a:latin typeface="Instrument Serif"/>
              </a:rPr>
              <a:t>step</a:t>
            </a:r>
          </a:p>
          <a:p>
            <a:pPr>
              <a:lnSpc>
                <a:spcPts val="9588"/>
              </a:lnSpc>
              <a:spcBef>
                <a:spcPts val="0"/>
              </a:spcBef>
              <a:spcAft>
                <a:spcPts val="0"/>
              </a:spcAft>
            </a:pPr>
            <a:r>
              <a:rPr sz="10200" i="0">
                <a:solidFill>
                  <a:srgbClr val="FFFFFF"/>
                </a:solidFill>
                <a:latin typeface="Instrument Serif"/>
              </a:rPr>
              <a:t>by </a:t>
            </a:r>
            <a:r>
              <a:rPr sz="10200" i="0">
                <a:solidFill>
                  <a:srgbClr val="FFFFFF"/>
                </a:solidFill>
                <a:latin typeface="Instrument Serif"/>
              </a:rPr>
              <a:t>step</a:t>
            </a:r>
          </a:p>
          <a:p>
            <a:pPr>
              <a:lnSpc>
                <a:spcPts val="9588"/>
              </a:lnSpc>
              <a:spcBef>
                <a:spcPts val="0"/>
              </a:spcBef>
              <a:spcAft>
                <a:spcPts val="0"/>
              </a:spcAft>
            </a:pPr>
            <a:r>
              <a:rPr sz="10200" i="1">
                <a:solidFill>
                  <a:srgbClr val="FFB05C"/>
                </a:solidFill>
                <a:latin typeface="Instrument Serif"/>
              </a:rPr>
              <a:t>with </a:t>
            </a:r>
            <a:r>
              <a:rPr sz="10200" i="1">
                <a:solidFill>
                  <a:srgbClr val="FFB05C"/>
                </a:solidFill>
                <a:latin typeface="Instrument Serif"/>
              </a:rPr>
              <a:t>empathy.</a:t>
            </a:r>
          </a:p>
        </p:txBody>
      </p:sp>
      <p:sp>
        <p:nvSpPr>
          <p:cNvPr id="24" name="single supporting sentence: Published cases informed the persona; interviews and a cluster pilot a"/>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Published cases informed the persona; interviews and a</a:t>
            </a:r>
          </a:p>
          <a:p>
            <a:pPr algn="l">
              <a:lnSpc>
                <a:spcPts val="2645"/>
              </a:lnSpc>
              <a:spcBef>
                <a:spcPts val="0"/>
              </a:spcBef>
              <a:spcAft>
                <a:spcPts val="0"/>
              </a:spcAft>
            </a:pPr>
            <a:r>
              <a:rPr sz="2300" b="0" i="0">
                <a:solidFill>
                  <a:srgbClr val="FFFFFF"/>
                </a:solidFill>
                <a:latin typeface="Inter"/>
              </a:rPr>
              <a:t>cluster pilot are planned.</a:t>
            </a:r>
          </a:p>
        </p:txBody>
      </p:sp>
      <p:pic>
        <p:nvPicPr>
          <p:cNvPr id="25" name="Picture 24" descr="12-EMPATHIZE-23.png"/>
          <p:cNvPicPr>
            <a:picLocks noChangeAspect="1"/>
          </p:cNvPicPr>
          <p:nvPr/>
        </p:nvPicPr>
        <p:blipFill>
          <a:blip r:embed="rId5"/>
          <a:stretch>
            <a:fillRect/>
          </a:stretch>
        </p:blipFill>
        <p:spPr>
          <a:xfrm>
            <a:off x="777240" y="7315200"/>
            <a:ext cx="3145536" cy="1920240"/>
          </a:xfrm>
          <a:prstGeom prst="rect">
            <a:avLst/>
          </a:prstGeom>
        </p:spPr>
      </p:pic>
      <p:sp>
        <p:nvSpPr>
          <p:cNvPr id="26" name="Native editable glass border: EMPATHIZE"/>
          <p:cNvSpPr/>
          <p:nvPr/>
        </p:nvSpPr>
        <p:spPr>
          <a:xfrm>
            <a:off x="777240" y="7315200"/>
            <a:ext cx="3145536" cy="1920240"/>
          </a:xfrm>
          <a:prstGeom prst="roundRect">
            <a:avLst>
              <a:gd name="adj" fmla="val 11904"/>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esign thinking phase: EMPATHIZE"/>
          <p:cNvSpPr txBox="1"/>
          <p:nvPr/>
        </p:nvSpPr>
        <p:spPr>
          <a:xfrm>
            <a:off x="960120" y="7488936"/>
            <a:ext cx="2779776" cy="274320"/>
          </a:xfrm>
          <a:prstGeom prst="rect">
            <a:avLst/>
          </a:prstGeom>
          <a:noFill/>
        </p:spPr>
        <p:txBody>
          <a:bodyPr wrap="square" lIns="0" rIns="0" tIns="0" bIns="0" anchor="t">
            <a:spAutoFit/>
          </a:bodyPr>
          <a:lstStyle/>
          <a:p>
            <a:pPr algn="l">
              <a:lnSpc>
                <a:spcPts val="1422"/>
              </a:lnSpc>
              <a:spcBef>
                <a:spcPts val="0"/>
              </a:spcBef>
              <a:spcAft>
                <a:spcPts val="0"/>
              </a:spcAft>
            </a:pPr>
            <a:r>
              <a:rPr sz="1270" b="0" i="0">
                <a:solidFill>
                  <a:srgbClr val="FFFFFF"/>
                </a:solidFill>
                <a:latin typeface="DM Mono"/>
              </a:rPr>
              <a:t>EMPATHIZE</a:t>
            </a:r>
          </a:p>
        </p:txBody>
      </p:sp>
      <p:sp>
        <p:nvSpPr>
          <p:cNvPr id="28" name="design thinking status: Published cases + persona"/>
          <p:cNvSpPr txBox="1"/>
          <p:nvPr/>
        </p:nvSpPr>
        <p:spPr>
          <a:xfrm>
            <a:off x="960120" y="7973568"/>
            <a:ext cx="2779776" cy="804672"/>
          </a:xfrm>
          <a:prstGeom prst="rect">
            <a:avLst/>
          </a:prstGeom>
          <a:noFill/>
        </p:spPr>
        <p:txBody>
          <a:bodyPr wrap="square" lIns="0" rIns="0" tIns="0" bIns="0" anchor="t">
            <a:spAutoFit/>
          </a:bodyPr>
          <a:lstStyle/>
          <a:p>
            <a:pPr algn="l">
              <a:lnSpc>
                <a:spcPts val="2310"/>
              </a:lnSpc>
              <a:spcBef>
                <a:spcPts val="0"/>
              </a:spcBef>
              <a:spcAft>
                <a:spcPts val="0"/>
              </a:spcAft>
            </a:pPr>
            <a:r>
              <a:rPr sz="2200" b="0" i="0">
                <a:solidFill>
                  <a:srgbClr val="FFFFFF"/>
                </a:solidFill>
                <a:latin typeface="Inter"/>
              </a:rPr>
              <a:t>Published cases +</a:t>
            </a:r>
          </a:p>
          <a:p>
            <a:pPr algn="l">
              <a:lnSpc>
                <a:spcPts val="2310"/>
              </a:lnSpc>
              <a:spcBef>
                <a:spcPts val="0"/>
              </a:spcBef>
              <a:spcAft>
                <a:spcPts val="0"/>
              </a:spcAft>
            </a:pPr>
            <a:r>
              <a:rPr sz="2200" b="0" i="0">
                <a:solidFill>
                  <a:srgbClr val="FFFFFF"/>
                </a:solidFill>
                <a:latin typeface="Inter"/>
              </a:rPr>
              <a:t>persona</a:t>
            </a:r>
          </a:p>
        </p:txBody>
      </p:sp>
      <p:sp>
        <p:nvSpPr>
          <p:cNvPr id="29" name="card source: Project process record"/>
          <p:cNvSpPr txBox="1"/>
          <p:nvPr/>
        </p:nvSpPr>
        <p:spPr>
          <a:xfrm>
            <a:off x="960120" y="8933688"/>
            <a:ext cx="2779776" cy="210312"/>
          </a:xfrm>
          <a:prstGeom prst="rect">
            <a:avLst/>
          </a:prstGeom>
          <a:noFill/>
        </p:spPr>
        <p:txBody>
          <a:bodyPr wrap="square" lIns="0" rIns="0" tIns="0" bIns="0" anchor="t">
            <a:spAutoFit/>
          </a:bodyPr>
          <a:lstStyle/>
          <a:p>
            <a:pPr algn="l">
              <a:lnSpc>
                <a:spcPts val="952"/>
              </a:lnSpc>
              <a:spcBef>
                <a:spcPts val="0"/>
              </a:spcBef>
              <a:spcAft>
                <a:spcPts val="0"/>
              </a:spcAft>
            </a:pPr>
            <a:r>
              <a:rPr sz="850" b="0" i="0">
                <a:solidFill>
                  <a:srgbClr val="E5EBE9"/>
                </a:solidFill>
                <a:latin typeface="DM Mono"/>
              </a:rPr>
              <a:t>Project process record</a:t>
            </a:r>
          </a:p>
        </p:txBody>
      </p:sp>
      <p:pic>
        <p:nvPicPr>
          <p:cNvPr id="30" name="Picture 29" descr="12-DEFINE-28.png"/>
          <p:cNvPicPr>
            <a:picLocks noChangeAspect="1"/>
          </p:cNvPicPr>
          <p:nvPr/>
        </p:nvPicPr>
        <p:blipFill>
          <a:blip r:embed="rId6"/>
          <a:stretch>
            <a:fillRect/>
          </a:stretch>
        </p:blipFill>
        <p:spPr>
          <a:xfrm>
            <a:off x="4151376" y="7315200"/>
            <a:ext cx="3145536" cy="1920240"/>
          </a:xfrm>
          <a:prstGeom prst="rect">
            <a:avLst/>
          </a:prstGeom>
        </p:spPr>
      </p:pic>
      <p:sp>
        <p:nvSpPr>
          <p:cNvPr id="31" name="Native editable glass border: DEFINE"/>
          <p:cNvSpPr/>
          <p:nvPr/>
        </p:nvSpPr>
        <p:spPr>
          <a:xfrm>
            <a:off x="4151376" y="7315200"/>
            <a:ext cx="3145536" cy="1920240"/>
          </a:xfrm>
          <a:prstGeom prst="roundRect">
            <a:avLst>
              <a:gd name="adj" fmla="val 11904"/>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esign thinking phase: DEFINE"/>
          <p:cNvSpPr txBox="1"/>
          <p:nvPr/>
        </p:nvSpPr>
        <p:spPr>
          <a:xfrm>
            <a:off x="4334256" y="7488936"/>
            <a:ext cx="2779776" cy="274320"/>
          </a:xfrm>
          <a:prstGeom prst="rect">
            <a:avLst/>
          </a:prstGeom>
          <a:noFill/>
        </p:spPr>
        <p:txBody>
          <a:bodyPr wrap="square" lIns="0" rIns="0" tIns="0" bIns="0" anchor="t">
            <a:spAutoFit/>
          </a:bodyPr>
          <a:lstStyle/>
          <a:p>
            <a:pPr algn="l">
              <a:lnSpc>
                <a:spcPts val="1422"/>
              </a:lnSpc>
              <a:spcBef>
                <a:spcPts val="0"/>
              </a:spcBef>
              <a:spcAft>
                <a:spcPts val="0"/>
              </a:spcAft>
            </a:pPr>
            <a:r>
              <a:rPr sz="1270" b="0" i="0">
                <a:solidFill>
                  <a:srgbClr val="FFFFFF"/>
                </a:solidFill>
                <a:latin typeface="DM Mono"/>
              </a:rPr>
              <a:t>DEFINE</a:t>
            </a:r>
          </a:p>
        </p:txBody>
      </p:sp>
      <p:sp>
        <p:nvSpPr>
          <p:cNvPr id="33" name="design thinking status: Hidden dependency&#10;+ response gap"/>
          <p:cNvSpPr txBox="1"/>
          <p:nvPr/>
        </p:nvSpPr>
        <p:spPr>
          <a:xfrm>
            <a:off x="4334256" y="7973568"/>
            <a:ext cx="2779776" cy="804672"/>
          </a:xfrm>
          <a:prstGeom prst="rect">
            <a:avLst/>
          </a:prstGeom>
          <a:noFill/>
        </p:spPr>
        <p:txBody>
          <a:bodyPr wrap="square" lIns="0" rIns="0" tIns="0" bIns="0" anchor="t">
            <a:spAutoFit/>
          </a:bodyPr>
          <a:lstStyle/>
          <a:p>
            <a:pPr algn="l">
              <a:lnSpc>
                <a:spcPts val="2310"/>
              </a:lnSpc>
              <a:spcBef>
                <a:spcPts val="0"/>
              </a:spcBef>
              <a:spcAft>
                <a:spcPts val="0"/>
              </a:spcAft>
            </a:pPr>
            <a:r>
              <a:rPr sz="2200" b="0" i="0">
                <a:solidFill>
                  <a:srgbClr val="FFFFFF"/>
                </a:solidFill>
                <a:latin typeface="Inter"/>
              </a:rPr>
              <a:t>Hidden dependency</a:t>
            </a:r>
          </a:p>
          <a:p>
            <a:pPr algn="l">
              <a:lnSpc>
                <a:spcPts val="2310"/>
              </a:lnSpc>
              <a:spcBef>
                <a:spcPts val="0"/>
              </a:spcBef>
              <a:spcAft>
                <a:spcPts val="0"/>
              </a:spcAft>
            </a:pPr>
            <a:r>
              <a:rPr sz="2200" b="0" i="0">
                <a:solidFill>
                  <a:srgbClr val="FFFFFF"/>
                </a:solidFill>
                <a:latin typeface="Inter"/>
              </a:rPr>
              <a:t>+ response gap</a:t>
            </a:r>
          </a:p>
        </p:txBody>
      </p:sp>
      <p:sp>
        <p:nvSpPr>
          <p:cNvPr id="34" name="card source: Project process record"/>
          <p:cNvSpPr txBox="1"/>
          <p:nvPr/>
        </p:nvSpPr>
        <p:spPr>
          <a:xfrm>
            <a:off x="4334256" y="8933688"/>
            <a:ext cx="2779776" cy="210312"/>
          </a:xfrm>
          <a:prstGeom prst="rect">
            <a:avLst/>
          </a:prstGeom>
          <a:noFill/>
        </p:spPr>
        <p:txBody>
          <a:bodyPr wrap="square" lIns="0" rIns="0" tIns="0" bIns="0" anchor="t">
            <a:spAutoFit/>
          </a:bodyPr>
          <a:lstStyle/>
          <a:p>
            <a:pPr algn="l">
              <a:lnSpc>
                <a:spcPts val="952"/>
              </a:lnSpc>
              <a:spcBef>
                <a:spcPts val="0"/>
              </a:spcBef>
              <a:spcAft>
                <a:spcPts val="0"/>
              </a:spcAft>
            </a:pPr>
            <a:r>
              <a:rPr sz="850" b="0" i="0">
                <a:solidFill>
                  <a:srgbClr val="E5EBE9"/>
                </a:solidFill>
                <a:latin typeface="DM Mono"/>
              </a:rPr>
              <a:t>Project process record</a:t>
            </a:r>
          </a:p>
        </p:txBody>
      </p:sp>
      <p:pic>
        <p:nvPicPr>
          <p:cNvPr id="35" name="Picture 34" descr="12-IDEATE-33.png"/>
          <p:cNvPicPr>
            <a:picLocks noChangeAspect="1"/>
          </p:cNvPicPr>
          <p:nvPr/>
        </p:nvPicPr>
        <p:blipFill>
          <a:blip r:embed="rId7"/>
          <a:stretch>
            <a:fillRect/>
          </a:stretch>
        </p:blipFill>
        <p:spPr>
          <a:xfrm>
            <a:off x="7525512" y="7315200"/>
            <a:ext cx="3145536" cy="1920240"/>
          </a:xfrm>
          <a:prstGeom prst="rect">
            <a:avLst/>
          </a:prstGeom>
        </p:spPr>
      </p:pic>
      <p:sp>
        <p:nvSpPr>
          <p:cNvPr id="36" name="Native editable glass border: IDEATE"/>
          <p:cNvSpPr/>
          <p:nvPr/>
        </p:nvSpPr>
        <p:spPr>
          <a:xfrm>
            <a:off x="7525512" y="7315200"/>
            <a:ext cx="3145536" cy="1920240"/>
          </a:xfrm>
          <a:prstGeom prst="roundRect">
            <a:avLst>
              <a:gd name="adj" fmla="val 11904"/>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esign thinking phase: IDEATE"/>
          <p:cNvSpPr txBox="1"/>
          <p:nvPr/>
        </p:nvSpPr>
        <p:spPr>
          <a:xfrm>
            <a:off x="7708392" y="7488936"/>
            <a:ext cx="2779776" cy="274320"/>
          </a:xfrm>
          <a:prstGeom prst="rect">
            <a:avLst/>
          </a:prstGeom>
          <a:noFill/>
        </p:spPr>
        <p:txBody>
          <a:bodyPr wrap="square" lIns="0" rIns="0" tIns="0" bIns="0" anchor="t">
            <a:spAutoFit/>
          </a:bodyPr>
          <a:lstStyle/>
          <a:p>
            <a:pPr algn="l">
              <a:lnSpc>
                <a:spcPts val="1422"/>
              </a:lnSpc>
              <a:spcBef>
                <a:spcPts val="0"/>
              </a:spcBef>
              <a:spcAft>
                <a:spcPts val="0"/>
              </a:spcAft>
            </a:pPr>
            <a:r>
              <a:rPr sz="1270" b="0" i="0">
                <a:solidFill>
                  <a:srgbClr val="FFFFFF"/>
                </a:solidFill>
                <a:latin typeface="DM Mono"/>
              </a:rPr>
              <a:t>IDEATE</a:t>
            </a:r>
          </a:p>
        </p:txBody>
      </p:sp>
      <p:sp>
        <p:nvSpPr>
          <p:cNvPr id="38" name="design thinking status: One connected loop"/>
          <p:cNvSpPr txBox="1"/>
          <p:nvPr/>
        </p:nvSpPr>
        <p:spPr>
          <a:xfrm>
            <a:off x="7708392" y="7973568"/>
            <a:ext cx="2779776" cy="804672"/>
          </a:xfrm>
          <a:prstGeom prst="rect">
            <a:avLst/>
          </a:prstGeom>
          <a:noFill/>
        </p:spPr>
        <p:txBody>
          <a:bodyPr wrap="square" lIns="0" rIns="0" tIns="0" bIns="0" anchor="t">
            <a:spAutoFit/>
          </a:bodyPr>
          <a:lstStyle/>
          <a:p>
            <a:pPr algn="l">
              <a:lnSpc>
                <a:spcPts val="2310"/>
              </a:lnSpc>
              <a:spcBef>
                <a:spcPts val="0"/>
              </a:spcBef>
              <a:spcAft>
                <a:spcPts val="0"/>
              </a:spcAft>
            </a:pPr>
            <a:r>
              <a:rPr sz="2200" b="0" i="0">
                <a:solidFill>
                  <a:srgbClr val="FFFFFF"/>
                </a:solidFill>
                <a:latin typeface="Inter"/>
              </a:rPr>
              <a:t>One connected loop</a:t>
            </a:r>
          </a:p>
        </p:txBody>
      </p:sp>
      <p:sp>
        <p:nvSpPr>
          <p:cNvPr id="39" name="card source: Project process record"/>
          <p:cNvSpPr txBox="1"/>
          <p:nvPr/>
        </p:nvSpPr>
        <p:spPr>
          <a:xfrm>
            <a:off x="7708392" y="8933688"/>
            <a:ext cx="2779776" cy="210312"/>
          </a:xfrm>
          <a:prstGeom prst="rect">
            <a:avLst/>
          </a:prstGeom>
          <a:noFill/>
        </p:spPr>
        <p:txBody>
          <a:bodyPr wrap="square" lIns="0" rIns="0" tIns="0" bIns="0" anchor="t">
            <a:spAutoFit/>
          </a:bodyPr>
          <a:lstStyle/>
          <a:p>
            <a:pPr algn="l">
              <a:lnSpc>
                <a:spcPts val="952"/>
              </a:lnSpc>
              <a:spcBef>
                <a:spcPts val="0"/>
              </a:spcBef>
              <a:spcAft>
                <a:spcPts val="0"/>
              </a:spcAft>
            </a:pPr>
            <a:r>
              <a:rPr sz="850" b="0" i="0">
                <a:solidFill>
                  <a:srgbClr val="E5EBE9"/>
                </a:solidFill>
                <a:latin typeface="DM Mono"/>
              </a:rPr>
              <a:t>Project process record</a:t>
            </a:r>
          </a:p>
        </p:txBody>
      </p:sp>
      <p:pic>
        <p:nvPicPr>
          <p:cNvPr id="40" name="Picture 39" descr="12-PROTOTYPE-38.png"/>
          <p:cNvPicPr>
            <a:picLocks noChangeAspect="1"/>
          </p:cNvPicPr>
          <p:nvPr/>
        </p:nvPicPr>
        <p:blipFill>
          <a:blip r:embed="rId8"/>
          <a:stretch>
            <a:fillRect/>
          </a:stretch>
        </p:blipFill>
        <p:spPr>
          <a:xfrm>
            <a:off x="10899648" y="7315200"/>
            <a:ext cx="3145536" cy="1920240"/>
          </a:xfrm>
          <a:prstGeom prst="rect">
            <a:avLst/>
          </a:prstGeom>
        </p:spPr>
      </p:pic>
      <p:sp>
        <p:nvSpPr>
          <p:cNvPr id="41" name="Native editable glass border: PROTOTYPE"/>
          <p:cNvSpPr/>
          <p:nvPr/>
        </p:nvSpPr>
        <p:spPr>
          <a:xfrm>
            <a:off x="10899648" y="7315200"/>
            <a:ext cx="3145536" cy="1920240"/>
          </a:xfrm>
          <a:prstGeom prst="roundRect">
            <a:avLst>
              <a:gd name="adj" fmla="val 11904"/>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esign thinking phase: PROTOTYPE"/>
          <p:cNvSpPr txBox="1"/>
          <p:nvPr/>
        </p:nvSpPr>
        <p:spPr>
          <a:xfrm>
            <a:off x="11082528" y="7488936"/>
            <a:ext cx="2779776" cy="274320"/>
          </a:xfrm>
          <a:prstGeom prst="rect">
            <a:avLst/>
          </a:prstGeom>
          <a:noFill/>
        </p:spPr>
        <p:txBody>
          <a:bodyPr wrap="square" lIns="0" rIns="0" tIns="0" bIns="0" anchor="t">
            <a:spAutoFit/>
          </a:bodyPr>
          <a:lstStyle/>
          <a:p>
            <a:pPr algn="l">
              <a:lnSpc>
                <a:spcPts val="1422"/>
              </a:lnSpc>
              <a:spcBef>
                <a:spcPts val="0"/>
              </a:spcBef>
              <a:spcAft>
                <a:spcPts val="0"/>
              </a:spcAft>
            </a:pPr>
            <a:r>
              <a:rPr sz="1270" b="0" i="0">
                <a:solidFill>
                  <a:srgbClr val="FFFFFF"/>
                </a:solidFill>
                <a:latin typeface="DM Mono"/>
              </a:rPr>
              <a:t>PROTOTYPE</a:t>
            </a:r>
          </a:p>
        </p:txBody>
      </p:sp>
      <p:sp>
        <p:nvSpPr>
          <p:cNvPr id="43" name="design thinking status: Working local app"/>
          <p:cNvSpPr txBox="1"/>
          <p:nvPr/>
        </p:nvSpPr>
        <p:spPr>
          <a:xfrm>
            <a:off x="11082528" y="7973568"/>
            <a:ext cx="2779776" cy="804672"/>
          </a:xfrm>
          <a:prstGeom prst="rect">
            <a:avLst/>
          </a:prstGeom>
          <a:noFill/>
        </p:spPr>
        <p:txBody>
          <a:bodyPr wrap="square" lIns="0" rIns="0" tIns="0" bIns="0" anchor="t">
            <a:spAutoFit/>
          </a:bodyPr>
          <a:lstStyle/>
          <a:p>
            <a:pPr algn="l">
              <a:lnSpc>
                <a:spcPts val="2310"/>
              </a:lnSpc>
              <a:spcBef>
                <a:spcPts val="0"/>
              </a:spcBef>
              <a:spcAft>
                <a:spcPts val="0"/>
              </a:spcAft>
            </a:pPr>
            <a:r>
              <a:rPr sz="2200" b="0" i="0">
                <a:solidFill>
                  <a:srgbClr val="FFFFFF"/>
                </a:solidFill>
                <a:latin typeface="Inter"/>
              </a:rPr>
              <a:t>Working local app</a:t>
            </a:r>
          </a:p>
        </p:txBody>
      </p:sp>
      <p:sp>
        <p:nvSpPr>
          <p:cNvPr id="44" name="card source: Project process record"/>
          <p:cNvSpPr txBox="1"/>
          <p:nvPr/>
        </p:nvSpPr>
        <p:spPr>
          <a:xfrm>
            <a:off x="11082528" y="8933688"/>
            <a:ext cx="2779776" cy="210312"/>
          </a:xfrm>
          <a:prstGeom prst="rect">
            <a:avLst/>
          </a:prstGeom>
          <a:noFill/>
        </p:spPr>
        <p:txBody>
          <a:bodyPr wrap="square" lIns="0" rIns="0" tIns="0" bIns="0" anchor="t">
            <a:spAutoFit/>
          </a:bodyPr>
          <a:lstStyle/>
          <a:p>
            <a:pPr algn="l">
              <a:lnSpc>
                <a:spcPts val="952"/>
              </a:lnSpc>
              <a:spcBef>
                <a:spcPts val="0"/>
              </a:spcBef>
              <a:spcAft>
                <a:spcPts val="0"/>
              </a:spcAft>
            </a:pPr>
            <a:r>
              <a:rPr sz="850" b="0" i="0">
                <a:solidFill>
                  <a:srgbClr val="E5EBE9"/>
                </a:solidFill>
                <a:latin typeface="DM Mono"/>
              </a:rPr>
              <a:t>Project process record</a:t>
            </a:r>
          </a:p>
        </p:txBody>
      </p:sp>
      <p:pic>
        <p:nvPicPr>
          <p:cNvPr id="45" name="Picture 44" descr="12-TEST-43.png"/>
          <p:cNvPicPr>
            <a:picLocks noChangeAspect="1"/>
          </p:cNvPicPr>
          <p:nvPr/>
        </p:nvPicPr>
        <p:blipFill>
          <a:blip r:embed="rId9"/>
          <a:stretch>
            <a:fillRect/>
          </a:stretch>
        </p:blipFill>
        <p:spPr>
          <a:xfrm>
            <a:off x="14273784" y="7315200"/>
            <a:ext cx="3145536" cy="1920240"/>
          </a:xfrm>
          <a:prstGeom prst="rect">
            <a:avLst/>
          </a:prstGeom>
        </p:spPr>
      </p:pic>
      <p:sp>
        <p:nvSpPr>
          <p:cNvPr id="46" name="Native editable glass border: TEST"/>
          <p:cNvSpPr/>
          <p:nvPr/>
        </p:nvSpPr>
        <p:spPr>
          <a:xfrm>
            <a:off x="14273784" y="7315200"/>
            <a:ext cx="3145536" cy="1920240"/>
          </a:xfrm>
          <a:prstGeom prst="roundRect">
            <a:avLst>
              <a:gd name="adj" fmla="val 11904"/>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esign thinking phase: TEST"/>
          <p:cNvSpPr txBox="1"/>
          <p:nvPr/>
        </p:nvSpPr>
        <p:spPr>
          <a:xfrm>
            <a:off x="14456663" y="7488936"/>
            <a:ext cx="2779776" cy="274320"/>
          </a:xfrm>
          <a:prstGeom prst="rect">
            <a:avLst/>
          </a:prstGeom>
          <a:noFill/>
        </p:spPr>
        <p:txBody>
          <a:bodyPr wrap="square" lIns="0" rIns="0" tIns="0" bIns="0" anchor="t">
            <a:spAutoFit/>
          </a:bodyPr>
          <a:lstStyle/>
          <a:p>
            <a:pPr algn="l">
              <a:lnSpc>
                <a:spcPts val="1422"/>
              </a:lnSpc>
              <a:spcBef>
                <a:spcPts val="0"/>
              </a:spcBef>
              <a:spcAft>
                <a:spcPts val="0"/>
              </a:spcAft>
            </a:pPr>
            <a:r>
              <a:rPr sz="1270" b="0" i="0">
                <a:solidFill>
                  <a:srgbClr val="FFFFFF"/>
                </a:solidFill>
                <a:latin typeface="DM Mono"/>
              </a:rPr>
              <a:t>TEST</a:t>
            </a:r>
          </a:p>
        </p:txBody>
      </p:sp>
      <p:sp>
        <p:nvSpPr>
          <p:cNvPr id="48" name="design thinking status: Engineering tests; interviews next"/>
          <p:cNvSpPr txBox="1"/>
          <p:nvPr/>
        </p:nvSpPr>
        <p:spPr>
          <a:xfrm>
            <a:off x="14456663" y="7973568"/>
            <a:ext cx="2779776" cy="804672"/>
          </a:xfrm>
          <a:prstGeom prst="rect">
            <a:avLst/>
          </a:prstGeom>
          <a:noFill/>
        </p:spPr>
        <p:txBody>
          <a:bodyPr wrap="square" lIns="0" rIns="0" tIns="0" bIns="0" anchor="t">
            <a:spAutoFit/>
          </a:bodyPr>
          <a:lstStyle/>
          <a:p>
            <a:pPr algn="l">
              <a:lnSpc>
                <a:spcPts val="2310"/>
              </a:lnSpc>
              <a:spcBef>
                <a:spcPts val="0"/>
              </a:spcBef>
              <a:spcAft>
                <a:spcPts val="0"/>
              </a:spcAft>
            </a:pPr>
            <a:r>
              <a:rPr sz="2200" b="0" i="0">
                <a:solidFill>
                  <a:srgbClr val="FFFFFF"/>
                </a:solidFill>
                <a:latin typeface="Inter"/>
              </a:rPr>
              <a:t>Engineering tests;</a:t>
            </a:r>
          </a:p>
          <a:p>
            <a:pPr algn="l">
              <a:lnSpc>
                <a:spcPts val="2310"/>
              </a:lnSpc>
              <a:spcBef>
                <a:spcPts val="0"/>
              </a:spcBef>
              <a:spcAft>
                <a:spcPts val="0"/>
              </a:spcAft>
            </a:pPr>
            <a:r>
              <a:rPr sz="2200" b="0" i="0">
                <a:solidFill>
                  <a:srgbClr val="FFFFFF"/>
                </a:solidFill>
                <a:latin typeface="Inter"/>
              </a:rPr>
              <a:t>interviews next</a:t>
            </a:r>
          </a:p>
        </p:txBody>
      </p:sp>
      <p:sp>
        <p:nvSpPr>
          <p:cNvPr id="49" name="card source: Project process record"/>
          <p:cNvSpPr txBox="1"/>
          <p:nvPr/>
        </p:nvSpPr>
        <p:spPr>
          <a:xfrm>
            <a:off x="14456663" y="8933688"/>
            <a:ext cx="2779776" cy="210312"/>
          </a:xfrm>
          <a:prstGeom prst="rect">
            <a:avLst/>
          </a:prstGeom>
          <a:noFill/>
        </p:spPr>
        <p:txBody>
          <a:bodyPr wrap="square" lIns="0" rIns="0" tIns="0" bIns="0" anchor="t">
            <a:spAutoFit/>
          </a:bodyPr>
          <a:lstStyle/>
          <a:p>
            <a:pPr algn="l">
              <a:lnSpc>
                <a:spcPts val="952"/>
              </a:lnSpc>
              <a:spcBef>
                <a:spcPts val="0"/>
              </a:spcBef>
              <a:spcAft>
                <a:spcPts val="0"/>
              </a:spcAft>
            </a:pPr>
            <a:r>
              <a:rPr sz="850" b="0" i="0">
                <a:solidFill>
                  <a:srgbClr val="E5EBE9"/>
                </a:solidFill>
                <a:latin typeface="DM Mono"/>
              </a:rPr>
              <a:t>Project process record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13.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sp>
        <p:nvSpPr>
          <p:cNvPr id="8"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sp>
        <p:nvSpPr>
          <p:cNvPr id="9"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sp>
        <p:nvSpPr>
          <p:cNvPr id="10"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cxnSp>
        <p:nvCxnSpPr>
          <p:cNvPr id="11" name="Connector 10"/>
          <p:cNvCxnSpPr/>
          <p:nvPr/>
        </p:nvCxnSpPr>
        <p:spPr>
          <a:xfrm>
            <a:off x="11201400" y="1014984"/>
            <a:ext cx="118872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pic>
        <p:nvPicPr>
          <p:cNvPr id="12" name="Picture 11" descr="13-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13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13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MGI 2020 · Collaboration studies from brief [original sources VERIFY] "/>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MGI 2020 · Collaboration studies from brief [original sources VERIFY] · Not product results</a:t>
            </a:r>
          </a:p>
        </p:txBody>
      </p:sp>
      <p:pic>
        <p:nvPicPr>
          <p:cNvPr id="19" name="Picture 18" descr="13-eyebrow-17.png"/>
          <p:cNvPicPr>
            <a:picLocks noChangeAspect="1"/>
          </p:cNvPicPr>
          <p:nvPr/>
        </p:nvPicPr>
        <p:blipFill>
          <a:blip r:embed="rId4"/>
          <a:stretch>
            <a:fillRect/>
          </a:stretch>
        </p:blipFill>
        <p:spPr>
          <a:xfrm>
            <a:off x="731520" y="1417320"/>
            <a:ext cx="2407693" cy="420624"/>
          </a:xfrm>
          <a:prstGeom prst="rect">
            <a:avLst/>
          </a:prstGeom>
        </p:spPr>
      </p:pic>
      <p:sp>
        <p:nvSpPr>
          <p:cNvPr id="20" name="Native editable glass border: eyebrow"/>
          <p:cNvSpPr/>
          <p:nvPr/>
        </p:nvSpPr>
        <p:spPr>
          <a:xfrm>
            <a:off x="731520" y="1417320"/>
            <a:ext cx="2407693"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13 · VALUE CONTEXT"/>
          <p:cNvSpPr txBox="1"/>
          <p:nvPr/>
        </p:nvSpPr>
        <p:spPr>
          <a:xfrm>
            <a:off x="1106424" y="1536192"/>
            <a:ext cx="1904773"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13 · VALUE CONTEXT</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10528"/>
              </a:lnSpc>
              <a:spcBef>
                <a:spcPts val="0"/>
              </a:spcBef>
              <a:spcAft>
                <a:spcPts val="0"/>
              </a:spcAft>
            </a:pPr>
            <a:r>
              <a:rPr sz="11200" i="0">
                <a:solidFill>
                  <a:srgbClr val="FFFFFF"/>
                </a:solidFill>
                <a:latin typeface="Instrument Serif"/>
              </a:rPr>
              <a:t>What </a:t>
            </a:r>
            <a:r>
              <a:rPr sz="11200" i="1">
                <a:solidFill>
                  <a:srgbClr val="FFB05C"/>
                </a:solidFill>
                <a:latin typeface="Instrument Serif"/>
              </a:rPr>
              <a:t>resilience</a:t>
            </a:r>
          </a:p>
          <a:p>
            <a:pPr>
              <a:lnSpc>
                <a:spcPts val="10528"/>
              </a:lnSpc>
              <a:spcBef>
                <a:spcPts val="0"/>
              </a:spcBef>
              <a:spcAft>
                <a:spcPts val="0"/>
              </a:spcAft>
            </a:pPr>
            <a:r>
              <a:rPr sz="11200" i="0">
                <a:solidFill>
                  <a:srgbClr val="FFFFFF"/>
                </a:solidFill>
                <a:latin typeface="Instrument Serif"/>
              </a:rPr>
              <a:t>is </a:t>
            </a:r>
            <a:r>
              <a:rPr sz="11200" i="0">
                <a:solidFill>
                  <a:srgbClr val="FFFFFF"/>
                </a:solidFill>
                <a:latin typeface="Instrument Serif"/>
              </a:rPr>
              <a:t>worth.</a:t>
            </a:r>
          </a:p>
        </p:txBody>
      </p:sp>
      <p:sp>
        <p:nvSpPr>
          <p:cNvPr id="24" name="single supporting sentence: Published context motivates the product; these are not measured ShockT"/>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Published context motivates the product; these are not</a:t>
            </a:r>
          </a:p>
          <a:p>
            <a:pPr algn="l">
              <a:lnSpc>
                <a:spcPts val="2645"/>
              </a:lnSpc>
              <a:spcBef>
                <a:spcPts val="0"/>
              </a:spcBef>
              <a:spcAft>
                <a:spcPts val="0"/>
              </a:spcAft>
            </a:pPr>
            <a:r>
              <a:rPr sz="2300" b="0" i="0">
                <a:solidFill>
                  <a:srgbClr val="FFFFFF"/>
                </a:solidFill>
                <a:latin typeface="Inter"/>
              </a:rPr>
              <a:t>measured ShockTwin savings.</a:t>
            </a:r>
          </a:p>
        </p:txBody>
      </p:sp>
      <p:pic>
        <p:nvPicPr>
          <p:cNvPr id="25" name="Picture 24" descr="13-decade-disruption-cost-23.png"/>
          <p:cNvPicPr>
            <a:picLocks noChangeAspect="1"/>
          </p:cNvPicPr>
          <p:nvPr/>
        </p:nvPicPr>
        <p:blipFill>
          <a:blip r:embed="rId5"/>
          <a:stretch>
            <a:fillRect/>
          </a:stretch>
        </p:blipFill>
        <p:spPr>
          <a:xfrm>
            <a:off x="9555480" y="3794760"/>
            <a:ext cx="3813048" cy="2423160"/>
          </a:xfrm>
          <a:prstGeom prst="rect">
            <a:avLst/>
          </a:prstGeom>
        </p:spPr>
      </p:pic>
      <p:sp>
        <p:nvSpPr>
          <p:cNvPr id="26" name="Native editable glass border: decade-disruption-cost"/>
          <p:cNvSpPr/>
          <p:nvPr/>
        </p:nvSpPr>
        <p:spPr>
          <a:xfrm>
            <a:off x="9555480" y="3794760"/>
            <a:ext cx="3813048" cy="2423160"/>
          </a:xfrm>
          <a:prstGeom prst="roundRect">
            <a:avLst>
              <a:gd name="adj" fmla="val 9433"/>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atistic label: DECADE DISRUPTION COST"/>
          <p:cNvSpPr txBox="1"/>
          <p:nvPr/>
        </p:nvSpPr>
        <p:spPr>
          <a:xfrm>
            <a:off x="9765792" y="3959352"/>
            <a:ext cx="339242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DECADE DISRUPTION COST</a:t>
            </a:r>
          </a:p>
        </p:txBody>
      </p:sp>
      <p:sp>
        <p:nvSpPr>
          <p:cNvPr id="28" name="editable statistic: ~45%"/>
          <p:cNvSpPr txBox="1"/>
          <p:nvPr/>
        </p:nvSpPr>
        <p:spPr>
          <a:xfrm>
            <a:off x="9765792" y="4434840"/>
            <a:ext cx="3392424" cy="1508760"/>
          </a:xfrm>
          <a:prstGeom prst="rect">
            <a:avLst/>
          </a:prstGeom>
          <a:noFill/>
        </p:spPr>
        <p:txBody>
          <a:bodyPr wrap="square" lIns="0" rIns="0" tIns="0" bIns="0" anchor="t">
            <a:spAutoFit/>
          </a:bodyPr>
          <a:lstStyle/>
          <a:p>
            <a:pPr algn="l">
              <a:lnSpc>
                <a:spcPts val="4725"/>
              </a:lnSpc>
              <a:spcBef>
                <a:spcPts val="0"/>
              </a:spcBef>
              <a:spcAft>
                <a:spcPts val="0"/>
              </a:spcAft>
            </a:pPr>
            <a:r>
              <a:rPr sz="4500" b="0" i="0">
                <a:solidFill>
                  <a:srgbClr val="FFFFFF"/>
                </a:solidFill>
                <a:latin typeface="Silkscreen"/>
              </a:rPr>
              <a:t>~45%</a:t>
            </a:r>
          </a:p>
        </p:txBody>
      </p:sp>
      <p:sp>
        <p:nvSpPr>
          <p:cNvPr id="29" name="card source: MGI 2020; fraction of one year’s profits"/>
          <p:cNvSpPr txBox="1"/>
          <p:nvPr/>
        </p:nvSpPr>
        <p:spPr>
          <a:xfrm>
            <a:off x="9765792" y="5779008"/>
            <a:ext cx="339242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MGI 2020; fraction of one year’s profits</a:t>
            </a:r>
          </a:p>
        </p:txBody>
      </p:sp>
      <p:pic>
        <p:nvPicPr>
          <p:cNvPr id="30" name="Picture 29" descr="13-lead-time-28.png"/>
          <p:cNvPicPr>
            <a:picLocks noChangeAspect="1"/>
          </p:cNvPicPr>
          <p:nvPr/>
        </p:nvPicPr>
        <p:blipFill>
          <a:blip r:embed="rId6"/>
          <a:stretch>
            <a:fillRect/>
          </a:stretch>
        </p:blipFill>
        <p:spPr>
          <a:xfrm>
            <a:off x="13651992" y="3794760"/>
            <a:ext cx="3813048" cy="2423160"/>
          </a:xfrm>
          <a:prstGeom prst="rect">
            <a:avLst/>
          </a:prstGeom>
        </p:spPr>
      </p:pic>
      <p:sp>
        <p:nvSpPr>
          <p:cNvPr id="31" name="Native editable glass border: lead-time"/>
          <p:cNvSpPr/>
          <p:nvPr/>
        </p:nvSpPr>
        <p:spPr>
          <a:xfrm>
            <a:off x="13651992" y="3794760"/>
            <a:ext cx="3813048" cy="2423160"/>
          </a:xfrm>
          <a:prstGeom prst="roundRect">
            <a:avLst>
              <a:gd name="adj" fmla="val 9433"/>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istic label: LEAD TIME"/>
          <p:cNvSpPr txBox="1"/>
          <p:nvPr/>
        </p:nvSpPr>
        <p:spPr>
          <a:xfrm>
            <a:off x="13862304" y="3959352"/>
            <a:ext cx="339242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LEAD TIME</a:t>
            </a:r>
          </a:p>
        </p:txBody>
      </p:sp>
      <p:sp>
        <p:nvSpPr>
          <p:cNvPr id="33" name="editable statistic: -30.8%"/>
          <p:cNvSpPr txBox="1"/>
          <p:nvPr/>
        </p:nvSpPr>
        <p:spPr>
          <a:xfrm>
            <a:off x="13862304" y="4434840"/>
            <a:ext cx="3392424" cy="1508760"/>
          </a:xfrm>
          <a:prstGeom prst="rect">
            <a:avLst/>
          </a:prstGeom>
          <a:noFill/>
        </p:spPr>
        <p:txBody>
          <a:bodyPr wrap="square" lIns="0" rIns="0" tIns="0" bIns="0" anchor="t">
            <a:spAutoFit/>
          </a:bodyPr>
          <a:lstStyle/>
          <a:p>
            <a:pPr algn="l">
              <a:lnSpc>
                <a:spcPts val="4725"/>
              </a:lnSpc>
              <a:spcBef>
                <a:spcPts val="0"/>
              </a:spcBef>
              <a:spcAft>
                <a:spcPts val="0"/>
              </a:spcAft>
            </a:pPr>
            <a:r>
              <a:rPr sz="4500" b="0" i="0">
                <a:solidFill>
                  <a:srgbClr val="FFFFFF"/>
                </a:solidFill>
                <a:latin typeface="Silkscreen"/>
              </a:rPr>
              <a:t>-30.8%</a:t>
            </a:r>
          </a:p>
        </p:txBody>
      </p:sp>
      <p:sp>
        <p:nvSpPr>
          <p:cNvPr id="34" name="card source: Collaboration study from brief [original source VERIFY]"/>
          <p:cNvSpPr txBox="1"/>
          <p:nvPr/>
        </p:nvSpPr>
        <p:spPr>
          <a:xfrm>
            <a:off x="13862304" y="5779008"/>
            <a:ext cx="339242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Collaboration study from brief [original</a:t>
            </a:r>
          </a:p>
          <a:p>
            <a:pPr algn="l">
              <a:lnSpc>
                <a:spcPts val="1120"/>
              </a:lnSpc>
              <a:spcBef>
                <a:spcPts val="0"/>
              </a:spcBef>
              <a:spcAft>
                <a:spcPts val="0"/>
              </a:spcAft>
            </a:pPr>
            <a:r>
              <a:rPr sz="1000" b="0" i="0">
                <a:solidFill>
                  <a:srgbClr val="E5EBE9"/>
                </a:solidFill>
                <a:latin typeface="DM Mono"/>
              </a:rPr>
              <a:t>source VERIFY]</a:t>
            </a:r>
          </a:p>
        </p:txBody>
      </p:sp>
      <p:pic>
        <p:nvPicPr>
          <p:cNvPr id="35" name="Picture 34" descr="13-transport-cost-33.png"/>
          <p:cNvPicPr>
            <a:picLocks noChangeAspect="1"/>
          </p:cNvPicPr>
          <p:nvPr/>
        </p:nvPicPr>
        <p:blipFill>
          <a:blip r:embed="rId7"/>
          <a:stretch>
            <a:fillRect/>
          </a:stretch>
        </p:blipFill>
        <p:spPr>
          <a:xfrm>
            <a:off x="9555480" y="6464808"/>
            <a:ext cx="3813048" cy="2423160"/>
          </a:xfrm>
          <a:prstGeom prst="rect">
            <a:avLst/>
          </a:prstGeom>
        </p:spPr>
      </p:pic>
      <p:sp>
        <p:nvSpPr>
          <p:cNvPr id="36" name="Native editable glass border: transport-cost"/>
          <p:cNvSpPr/>
          <p:nvPr/>
        </p:nvSpPr>
        <p:spPr>
          <a:xfrm>
            <a:off x="9555480" y="6464808"/>
            <a:ext cx="3813048" cy="2423160"/>
          </a:xfrm>
          <a:prstGeom prst="roundRect">
            <a:avLst>
              <a:gd name="adj" fmla="val 9433"/>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istic label: TRANSPORT COST"/>
          <p:cNvSpPr txBox="1"/>
          <p:nvPr/>
        </p:nvSpPr>
        <p:spPr>
          <a:xfrm>
            <a:off x="9765792" y="6629400"/>
            <a:ext cx="339242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TRANSPORT COST</a:t>
            </a:r>
          </a:p>
        </p:txBody>
      </p:sp>
      <p:sp>
        <p:nvSpPr>
          <p:cNvPr id="38" name="editable statistic: -25.83%"/>
          <p:cNvSpPr txBox="1"/>
          <p:nvPr/>
        </p:nvSpPr>
        <p:spPr>
          <a:xfrm>
            <a:off x="9765792" y="7104888"/>
            <a:ext cx="3392424" cy="1508760"/>
          </a:xfrm>
          <a:prstGeom prst="rect">
            <a:avLst/>
          </a:prstGeom>
          <a:noFill/>
        </p:spPr>
        <p:txBody>
          <a:bodyPr wrap="square" lIns="0" rIns="0" tIns="0" bIns="0" anchor="t">
            <a:spAutoFit/>
          </a:bodyPr>
          <a:lstStyle/>
          <a:p>
            <a:pPr algn="l">
              <a:lnSpc>
                <a:spcPts val="4725"/>
              </a:lnSpc>
              <a:spcBef>
                <a:spcPts val="0"/>
              </a:spcBef>
              <a:spcAft>
                <a:spcPts val="0"/>
              </a:spcAft>
            </a:pPr>
            <a:r>
              <a:rPr sz="4500" b="0" i="0">
                <a:solidFill>
                  <a:srgbClr val="FFFFFF"/>
                </a:solidFill>
                <a:latin typeface="Silkscreen"/>
              </a:rPr>
              <a:t>-25.83%</a:t>
            </a:r>
          </a:p>
        </p:txBody>
      </p:sp>
      <p:sp>
        <p:nvSpPr>
          <p:cNvPr id="39" name="card source: Collaboration study from brief [original source VERIFY]"/>
          <p:cNvSpPr txBox="1"/>
          <p:nvPr/>
        </p:nvSpPr>
        <p:spPr>
          <a:xfrm>
            <a:off x="9765792" y="8449056"/>
            <a:ext cx="339242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Collaboration study from brief [original</a:t>
            </a:r>
          </a:p>
          <a:p>
            <a:pPr algn="l">
              <a:lnSpc>
                <a:spcPts val="1120"/>
              </a:lnSpc>
              <a:spcBef>
                <a:spcPts val="0"/>
              </a:spcBef>
              <a:spcAft>
                <a:spcPts val="0"/>
              </a:spcAft>
            </a:pPr>
            <a:r>
              <a:rPr sz="1000" b="0" i="0">
                <a:solidFill>
                  <a:srgbClr val="E5EBE9"/>
                </a:solidFill>
                <a:latin typeface="DM Mono"/>
              </a:rPr>
              <a:t>source VERIFY]</a:t>
            </a:r>
          </a:p>
        </p:txBody>
      </p:sp>
      <p:pic>
        <p:nvPicPr>
          <p:cNvPr id="40" name="Picture 39" descr="13-month-long-shock-38.png"/>
          <p:cNvPicPr>
            <a:picLocks noChangeAspect="1"/>
          </p:cNvPicPr>
          <p:nvPr/>
        </p:nvPicPr>
        <p:blipFill>
          <a:blip r:embed="rId8"/>
          <a:stretch>
            <a:fillRect/>
          </a:stretch>
        </p:blipFill>
        <p:spPr>
          <a:xfrm>
            <a:off x="13651992" y="6464808"/>
            <a:ext cx="3813048" cy="2423160"/>
          </a:xfrm>
          <a:prstGeom prst="rect">
            <a:avLst/>
          </a:prstGeom>
        </p:spPr>
      </p:pic>
      <p:sp>
        <p:nvSpPr>
          <p:cNvPr id="41" name="Native editable glass border: month-long-shock"/>
          <p:cNvSpPr/>
          <p:nvPr/>
        </p:nvSpPr>
        <p:spPr>
          <a:xfrm>
            <a:off x="13651992" y="6464808"/>
            <a:ext cx="3813048" cy="2423160"/>
          </a:xfrm>
          <a:prstGeom prst="roundRect">
            <a:avLst>
              <a:gd name="adj" fmla="val 9433"/>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atistic label: MONTH-LONG SHOCK"/>
          <p:cNvSpPr txBox="1"/>
          <p:nvPr/>
        </p:nvSpPr>
        <p:spPr>
          <a:xfrm>
            <a:off x="13862304" y="6629400"/>
            <a:ext cx="3392424"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MONTH-LONG SHOCK</a:t>
            </a:r>
          </a:p>
        </p:txBody>
      </p:sp>
      <p:sp>
        <p:nvSpPr>
          <p:cNvPr id="43" name="editable statistic: ~Every 3.7 years"/>
          <p:cNvSpPr txBox="1"/>
          <p:nvPr/>
        </p:nvSpPr>
        <p:spPr>
          <a:xfrm>
            <a:off x="13862304" y="7104888"/>
            <a:ext cx="3392424" cy="1508760"/>
          </a:xfrm>
          <a:prstGeom prst="rect">
            <a:avLst/>
          </a:prstGeom>
          <a:noFill/>
        </p:spPr>
        <p:txBody>
          <a:bodyPr wrap="square" lIns="0" rIns="0" tIns="0" bIns="0" anchor="t">
            <a:spAutoFit/>
          </a:bodyPr>
          <a:lstStyle/>
          <a:p>
            <a:pPr algn="l">
              <a:lnSpc>
                <a:spcPts val="3360"/>
              </a:lnSpc>
              <a:spcBef>
                <a:spcPts val="0"/>
              </a:spcBef>
              <a:spcAft>
                <a:spcPts val="0"/>
              </a:spcAft>
            </a:pPr>
            <a:r>
              <a:rPr sz="3200" b="0" i="0">
                <a:solidFill>
                  <a:srgbClr val="FFFFFF"/>
                </a:solidFill>
                <a:latin typeface="Silkscreen"/>
              </a:rPr>
              <a:t>~Every 3.7</a:t>
            </a:r>
          </a:p>
          <a:p>
            <a:pPr algn="l">
              <a:lnSpc>
                <a:spcPts val="3360"/>
              </a:lnSpc>
              <a:spcBef>
                <a:spcPts val="0"/>
              </a:spcBef>
              <a:spcAft>
                <a:spcPts val="0"/>
              </a:spcAft>
            </a:pPr>
            <a:r>
              <a:rPr sz="3200" b="0" i="0">
                <a:solidFill>
                  <a:srgbClr val="FFFFFF"/>
                </a:solidFill>
                <a:latin typeface="Silkscreen"/>
              </a:rPr>
              <a:t>years</a:t>
            </a:r>
          </a:p>
        </p:txBody>
      </p:sp>
      <p:sp>
        <p:nvSpPr>
          <p:cNvPr id="44" name="card source: MGI, 2020"/>
          <p:cNvSpPr txBox="1"/>
          <p:nvPr/>
        </p:nvSpPr>
        <p:spPr>
          <a:xfrm>
            <a:off x="13862304" y="8449056"/>
            <a:ext cx="3392424"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MGI, 2020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14.png"/>
          <p:cNvPicPr>
            <a:picLocks noChangeAspect="1"/>
          </p:cNvPicPr>
          <p:nvPr/>
        </p:nvPicPr>
        <p:blipFill>
          <a:blip r:embed="rId2"/>
          <a:stretch>
            <a:fillRect/>
          </a:stretch>
        </p:blipFill>
        <p:spPr>
          <a:xfrm>
            <a:off x="0" y="0"/>
            <a:ext cx="18288000" cy="10287000"/>
          </a:xfrm>
          <a:prstGeom prst="rect">
            <a:avLst/>
          </a:prstGeom>
        </p:spPr>
      </p:pic>
      <p:sp>
        <p:nvSpPr>
          <p:cNvPr id="3" name="Rectangle 2"/>
          <p:cNvSpPr/>
          <p:nvPr/>
        </p:nvSpPr>
        <p:spPr>
          <a:xfrm>
            <a:off x="320040" y="320040"/>
            <a:ext cx="17647920" cy="9646920"/>
          </a:xfrm>
          <a:prstGeom prst="rect">
            <a:avLst/>
          </a:prstGeom>
          <a:noFill/>
          <a:ln w="8255">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585216"/>
            <a:ext cx="274320" cy="274320"/>
          </a:xfrm>
          <a:prstGeom prst="ellipse">
            <a:avLst/>
          </a:prstGeom>
          <a:noFill/>
          <a:ln w="11430">
            <a:solidFill>
              <a:srgbClr val="FFFFFF">
                <a:alpha val="9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58080" y="584960"/>
            <a:ext cx="137100" cy="274200"/>
          </a:xfrm>
          <a:custGeom>
            <a:avLst/>
            <a:gdLst/>
            <a:ahLst/>
            <a:cxnLst/>
            <a:rect l="l" t="t" r="r" b="b"/>
            <a:pathLst>
              <a:path w="150" h="300">
                <a:moveTo>
                  <a:pt x="150" y="150"/>
                </a:moveTo>
                <a:lnTo>
                  <a:pt x="150" y="300"/>
                </a:lnTo>
                <a:lnTo>
                  <a:pt x="130" y="299"/>
                </a:lnTo>
                <a:lnTo>
                  <a:pt x="111" y="295"/>
                </a:lnTo>
                <a:lnTo>
                  <a:pt x="93" y="289"/>
                </a:lnTo>
                <a:lnTo>
                  <a:pt x="75" y="280"/>
                </a:lnTo>
                <a:lnTo>
                  <a:pt x="59" y="269"/>
                </a:lnTo>
                <a:lnTo>
                  <a:pt x="44" y="256"/>
                </a:lnTo>
                <a:lnTo>
                  <a:pt x="31" y="241"/>
                </a:lnTo>
                <a:lnTo>
                  <a:pt x="20" y="225"/>
                </a:lnTo>
                <a:lnTo>
                  <a:pt x="11" y="207"/>
                </a:lnTo>
                <a:lnTo>
                  <a:pt x="5" y="189"/>
                </a:lnTo>
                <a:lnTo>
                  <a:pt x="1" y="170"/>
                </a:lnTo>
                <a:lnTo>
                  <a:pt x="0" y="150"/>
                </a:lnTo>
                <a:lnTo>
                  <a:pt x="1" y="130"/>
                </a:lnTo>
                <a:lnTo>
                  <a:pt x="5" y="111"/>
                </a:lnTo>
                <a:lnTo>
                  <a:pt x="11" y="93"/>
                </a:lnTo>
                <a:lnTo>
                  <a:pt x="20" y="75"/>
                </a:lnTo>
                <a:lnTo>
                  <a:pt x="31" y="59"/>
                </a:lnTo>
                <a:lnTo>
                  <a:pt x="44" y="44"/>
                </a:lnTo>
                <a:lnTo>
                  <a:pt x="59" y="31"/>
                </a:lnTo>
                <a:lnTo>
                  <a:pt x="75" y="20"/>
                </a:lnTo>
                <a:lnTo>
                  <a:pt x="93" y="11"/>
                </a:lnTo>
                <a:lnTo>
                  <a:pt x="111" y="5"/>
                </a:lnTo>
                <a:lnTo>
                  <a:pt x="130" y="1"/>
                </a:lnTo>
                <a:lnTo>
                  <a:pt x="150" y="0"/>
                </a:lnTo>
                <a:close/>
              </a:path>
            </a:pathLst>
          </a:custGeom>
          <a:solidFill>
            <a:srgbClr val="FFFFFF">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ordmark: SHOCKTWIN"/>
          <p:cNvSpPr txBox="1"/>
          <p:nvPr/>
        </p:nvSpPr>
        <p:spPr>
          <a:xfrm>
            <a:off x="1078992" y="594360"/>
            <a:ext cx="3108960" cy="292608"/>
          </a:xfrm>
          <a:prstGeom prst="rect">
            <a:avLst/>
          </a:prstGeom>
          <a:noFill/>
        </p:spPr>
        <p:txBody>
          <a:bodyPr wrap="square" lIns="0" rIns="0" tIns="0" bIns="0" anchor="t">
            <a:spAutoFit/>
          </a:bodyPr>
          <a:lstStyle/>
          <a:p>
            <a:pPr algn="l">
              <a:lnSpc>
                <a:spcPts val="2016"/>
              </a:lnSpc>
              <a:spcBef>
                <a:spcPts val="0"/>
              </a:spcBef>
              <a:spcAft>
                <a:spcPts val="0"/>
              </a:spcAft>
            </a:pPr>
            <a:r>
              <a:rPr sz="1800" b="1" i="0">
                <a:solidFill>
                  <a:srgbClr val="FFFFFF"/>
                </a:solidFill>
                <a:latin typeface="Inter"/>
              </a:rPr>
              <a:t>SHOCKTWIN</a:t>
            </a:r>
          </a:p>
        </p:txBody>
      </p:sp>
      <p:sp>
        <p:nvSpPr>
          <p:cNvPr id="7" name="navigation: Problem"/>
          <p:cNvSpPr txBox="1"/>
          <p:nvPr/>
        </p:nvSpPr>
        <p:spPr>
          <a:xfrm>
            <a:off x="6400800" y="630936"/>
            <a:ext cx="123444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Problem</a:t>
            </a:r>
          </a:p>
        </p:txBody>
      </p:sp>
      <p:sp>
        <p:nvSpPr>
          <p:cNvPr id="8" name="navigation: ShockTwin"/>
          <p:cNvSpPr txBox="1"/>
          <p:nvPr/>
        </p:nvSpPr>
        <p:spPr>
          <a:xfrm>
            <a:off x="8092440" y="630936"/>
            <a:ext cx="160020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ShockTwin</a:t>
            </a:r>
          </a:p>
        </p:txBody>
      </p:sp>
      <p:sp>
        <p:nvSpPr>
          <p:cNvPr id="9" name="navigation: SAP"/>
          <p:cNvSpPr txBox="1"/>
          <p:nvPr/>
        </p:nvSpPr>
        <p:spPr>
          <a:xfrm>
            <a:off x="10149840" y="630936"/>
            <a:ext cx="59436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SAP</a:t>
            </a:r>
          </a:p>
        </p:txBody>
      </p:sp>
      <p:sp>
        <p:nvSpPr>
          <p:cNvPr id="10" name="navigation: Impact"/>
          <p:cNvSpPr txBox="1"/>
          <p:nvPr/>
        </p:nvSpPr>
        <p:spPr>
          <a:xfrm>
            <a:off x="11201400" y="630936"/>
            <a:ext cx="1188720" cy="274320"/>
          </a:xfrm>
          <a:prstGeom prst="rect">
            <a:avLst/>
          </a:prstGeom>
          <a:noFill/>
        </p:spPr>
        <p:txBody>
          <a:bodyPr wrap="square" lIns="0" rIns="0" tIns="0" bIns="0" anchor="t">
            <a:spAutoFit/>
          </a:bodyPr>
          <a:lstStyle/>
          <a:p>
            <a:pPr algn="ctr">
              <a:lnSpc>
                <a:spcPts val="1456"/>
              </a:lnSpc>
              <a:spcBef>
                <a:spcPts val="0"/>
              </a:spcBef>
              <a:spcAft>
                <a:spcPts val="0"/>
              </a:spcAft>
            </a:pPr>
            <a:r>
              <a:rPr sz="1300" b="0" i="0">
                <a:solidFill>
                  <a:srgbClr val="FFFFFF"/>
                </a:solidFill>
                <a:latin typeface="DM Mono"/>
              </a:rPr>
              <a:t>Impact</a:t>
            </a:r>
          </a:p>
        </p:txBody>
      </p:sp>
      <p:cxnSp>
        <p:nvCxnSpPr>
          <p:cNvPr id="11" name="Connector 10"/>
          <p:cNvCxnSpPr/>
          <p:nvPr/>
        </p:nvCxnSpPr>
        <p:spPr>
          <a:xfrm>
            <a:off x="11201400" y="1014984"/>
            <a:ext cx="1188720" cy="0"/>
          </a:xfrm>
          <a:prstGeom prst="line">
            <a:avLst/>
          </a:prstGeom>
          <a:ln w="21590">
            <a:solidFill>
              <a:srgbClr val="FFB05C">
                <a:alpha val="100000"/>
              </a:srgbClr>
            </a:solidFill>
          </a:ln>
        </p:spPr>
        <p:style>
          <a:lnRef idx="2">
            <a:schemeClr val="accent1"/>
          </a:lnRef>
          <a:fillRef idx="0">
            <a:schemeClr val="accent1"/>
          </a:fillRef>
          <a:effectRef idx="1">
            <a:schemeClr val="accent1"/>
          </a:effectRef>
          <a:fontRef idx="minor">
            <a:schemeClr val="tx1"/>
          </a:fontRef>
        </p:style>
      </p:cxnSp>
      <p:pic>
        <p:nvPicPr>
          <p:cNvPr id="12" name="Picture 11" descr="14-page-counter-10.png"/>
          <p:cNvPicPr>
            <a:picLocks noChangeAspect="1"/>
          </p:cNvPicPr>
          <p:nvPr/>
        </p:nvPicPr>
        <p:blipFill>
          <a:blip r:embed="rId3"/>
          <a:stretch>
            <a:fillRect/>
          </a:stretch>
        </p:blipFill>
        <p:spPr>
          <a:xfrm>
            <a:off x="16486632" y="539496"/>
            <a:ext cx="1115568" cy="420624"/>
          </a:xfrm>
          <a:prstGeom prst="rect">
            <a:avLst/>
          </a:prstGeom>
        </p:spPr>
      </p:pic>
      <p:sp>
        <p:nvSpPr>
          <p:cNvPr id="13" name="Native editable glass border: page-counter"/>
          <p:cNvSpPr/>
          <p:nvPr/>
        </p:nvSpPr>
        <p:spPr>
          <a:xfrm>
            <a:off x="16486632" y="539496"/>
            <a:ext cx="1115568" cy="420624"/>
          </a:xfrm>
          <a:prstGeom prst="roundRect">
            <a:avLst>
              <a:gd name="adj" fmla="val 34782"/>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 counter: 14 / 14"/>
          <p:cNvSpPr txBox="1"/>
          <p:nvPr/>
        </p:nvSpPr>
        <p:spPr>
          <a:xfrm>
            <a:off x="16550640" y="630936"/>
            <a:ext cx="987552" cy="256032"/>
          </a:xfrm>
          <a:prstGeom prst="rect">
            <a:avLst/>
          </a:prstGeom>
          <a:noFill/>
        </p:spPr>
        <p:txBody>
          <a:bodyPr wrap="none" lIns="0" rIns="0" tIns="0" bIns="0" anchor="t">
            <a:spAutoFit/>
          </a:bodyPr>
          <a:lstStyle/>
          <a:p>
            <a:pPr algn="ctr">
              <a:lnSpc>
                <a:spcPts val="1456"/>
              </a:lnSpc>
              <a:spcBef>
                <a:spcPts val="0"/>
              </a:spcBef>
              <a:spcAft>
                <a:spcPts val="0"/>
              </a:spcAft>
            </a:pPr>
            <a:r>
              <a:rPr sz="1300" b="0" i="0">
                <a:solidFill>
                  <a:srgbClr val="FFFFFF"/>
                </a:solidFill>
                <a:latin typeface="DM Mono"/>
              </a:rPr>
              <a:t>14 / 14</a:t>
            </a:r>
          </a:p>
        </p:txBody>
      </p:sp>
      <p:cxnSp>
        <p:nvCxnSpPr>
          <p:cNvPr id="15" name="Connector 14"/>
          <p:cNvCxnSpPr/>
          <p:nvPr/>
        </p:nvCxnSpPr>
        <p:spPr>
          <a:xfrm>
            <a:off x="640080" y="1143000"/>
            <a:ext cx="17007840" cy="0"/>
          </a:xfrm>
          <a:prstGeom prst="line">
            <a:avLst/>
          </a:prstGeom>
          <a:ln w="6985">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16" name="event footer: SAP HACKFEST 2026 · RV UNIVERSITY"/>
          <p:cNvSpPr txBox="1"/>
          <p:nvPr/>
        </p:nvSpPr>
        <p:spPr>
          <a:xfrm>
            <a:off x="658368" y="9674352"/>
            <a:ext cx="4206240" cy="219456"/>
          </a:xfrm>
          <a:prstGeom prst="rect">
            <a:avLst/>
          </a:prstGeom>
          <a:noFill/>
        </p:spPr>
        <p:txBody>
          <a:bodyPr wrap="none" lIns="0" rIns="0" tIns="0" bIns="0" anchor="t">
            <a:spAutoFit/>
          </a:bodyPr>
          <a:lstStyle/>
          <a:p>
            <a:pPr algn="l">
              <a:lnSpc>
                <a:spcPts val="1064"/>
              </a:lnSpc>
              <a:spcBef>
                <a:spcPts val="0"/>
              </a:spcBef>
              <a:spcAft>
                <a:spcPts val="0"/>
              </a:spcAft>
            </a:pPr>
            <a:r>
              <a:rPr sz="950" b="0" i="0">
                <a:solidFill>
                  <a:srgbClr val="FFFFFF"/>
                </a:solidFill>
                <a:latin typeface="DM Mono"/>
              </a:rPr>
              <a:t>SAP HACKFEST 2026 · RV UNIVERSITY</a:t>
            </a:r>
          </a:p>
        </p:txBody>
      </p:sp>
      <p:sp>
        <p:nvSpPr>
          <p:cNvPr id="17" name="track footer: RESILIENT SUPPLY CHAINS"/>
          <p:cNvSpPr txBox="1"/>
          <p:nvPr/>
        </p:nvSpPr>
        <p:spPr>
          <a:xfrm>
            <a:off x="13944600" y="9674352"/>
            <a:ext cx="3675887" cy="219456"/>
          </a:xfrm>
          <a:prstGeom prst="rect">
            <a:avLst/>
          </a:prstGeom>
          <a:noFill/>
        </p:spPr>
        <p:txBody>
          <a:bodyPr wrap="none" lIns="0" rIns="0" tIns="0" bIns="0" anchor="t">
            <a:spAutoFit/>
          </a:bodyPr>
          <a:lstStyle/>
          <a:p>
            <a:pPr algn="r">
              <a:lnSpc>
                <a:spcPts val="1064"/>
              </a:lnSpc>
              <a:spcBef>
                <a:spcPts val="0"/>
              </a:spcBef>
              <a:spcAft>
                <a:spcPts val="0"/>
              </a:spcAft>
            </a:pPr>
            <a:r>
              <a:rPr sz="950" b="0" i="0">
                <a:solidFill>
                  <a:srgbClr val="FFFFFF"/>
                </a:solidFill>
                <a:latin typeface="DM Mono"/>
              </a:rPr>
              <a:t>RESILIENT SUPPLY CHAINS</a:t>
            </a:r>
          </a:p>
        </p:txBody>
      </p:sp>
      <p:sp>
        <p:nvSpPr>
          <p:cNvPr id="18" name="source footer: Team, P-ID and proposed next step: supplied brief · Pilot commitment ["/>
          <p:cNvSpPr txBox="1"/>
          <p:nvPr/>
        </p:nvSpPr>
        <p:spPr>
          <a:xfrm>
            <a:off x="4663440" y="9582912"/>
            <a:ext cx="9052560" cy="384048"/>
          </a:xfrm>
          <a:prstGeom prst="rect">
            <a:avLst/>
          </a:prstGeom>
          <a:noFill/>
        </p:spPr>
        <p:txBody>
          <a:bodyPr wrap="square" lIns="0" rIns="0" tIns="0" bIns="0" anchor="t">
            <a:spAutoFit/>
          </a:bodyPr>
          <a:lstStyle/>
          <a:p>
            <a:pPr algn="ctr">
              <a:lnSpc>
                <a:spcPts val="1026"/>
              </a:lnSpc>
              <a:spcBef>
                <a:spcPts val="0"/>
              </a:spcBef>
              <a:spcAft>
                <a:spcPts val="0"/>
              </a:spcAft>
            </a:pPr>
            <a:r>
              <a:rPr sz="869" b="0" i="0">
                <a:solidFill>
                  <a:srgbClr val="FFFFFF"/>
                </a:solidFill>
                <a:latin typeface="DM Mono"/>
              </a:rPr>
              <a:t>Team, P-ID and proposed next step: supplied brief · Pilot commitment [VERIFY]</a:t>
            </a:r>
          </a:p>
        </p:txBody>
      </p:sp>
      <p:pic>
        <p:nvPicPr>
          <p:cNvPr id="19" name="Picture 18" descr="14-eyebrow-17.png"/>
          <p:cNvPicPr>
            <a:picLocks noChangeAspect="1"/>
          </p:cNvPicPr>
          <p:nvPr/>
        </p:nvPicPr>
        <p:blipFill>
          <a:blip r:embed="rId4"/>
          <a:stretch>
            <a:fillRect/>
          </a:stretch>
        </p:blipFill>
        <p:spPr>
          <a:xfrm>
            <a:off x="731520" y="1417320"/>
            <a:ext cx="2018954" cy="420624"/>
          </a:xfrm>
          <a:prstGeom prst="rect">
            <a:avLst/>
          </a:prstGeom>
        </p:spPr>
      </p:pic>
      <p:sp>
        <p:nvSpPr>
          <p:cNvPr id="20" name="Native editable glass border: eyebrow"/>
          <p:cNvSpPr/>
          <p:nvPr/>
        </p:nvSpPr>
        <p:spPr>
          <a:xfrm>
            <a:off x="731520" y="1417320"/>
            <a:ext cx="2018954" cy="420624"/>
          </a:xfrm>
          <a:prstGeom prst="roundRect">
            <a:avLst>
              <a:gd name="adj" fmla="val 47826"/>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581912"/>
            <a:ext cx="73152" cy="73152"/>
          </a:xfrm>
          <a:prstGeom prst="ellipse">
            <a:avLst/>
          </a:prstGeom>
          <a:solidFill>
            <a:srgbClr val="FFB05C">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yebrow: 14 · NEXT STEP"/>
          <p:cNvSpPr txBox="1"/>
          <p:nvPr/>
        </p:nvSpPr>
        <p:spPr>
          <a:xfrm>
            <a:off x="1106424" y="1536192"/>
            <a:ext cx="1516034" cy="237744"/>
          </a:xfrm>
          <a:prstGeom prst="rect">
            <a:avLst/>
          </a:prstGeom>
          <a:noFill/>
        </p:spPr>
        <p:txBody>
          <a:bodyPr wrap="none" lIns="0" rIns="0" tIns="0" bIns="0" anchor="t">
            <a:spAutoFit/>
          </a:bodyPr>
          <a:lstStyle/>
          <a:p>
            <a:pPr algn="l">
              <a:lnSpc>
                <a:spcPts val="1456"/>
              </a:lnSpc>
              <a:spcBef>
                <a:spcPts val="0"/>
              </a:spcBef>
              <a:spcAft>
                <a:spcPts val="0"/>
              </a:spcAft>
            </a:pPr>
            <a:r>
              <a:rPr sz="1300" b="0" i="0">
                <a:solidFill>
                  <a:srgbClr val="FFFFFF"/>
                </a:solidFill>
                <a:latin typeface="DM Mono"/>
              </a:rPr>
              <a:t>14 · NEXT STEP</a:t>
            </a:r>
          </a:p>
        </p:txBody>
      </p:sp>
      <p:sp>
        <p:nvSpPr>
          <p:cNvPr id="23" name="Editable Instrument Serif headline"/>
          <p:cNvSpPr txBox="1"/>
          <p:nvPr/>
        </p:nvSpPr>
        <p:spPr>
          <a:xfrm>
            <a:off x="731520" y="2103120"/>
            <a:ext cx="8321040" cy="3931920"/>
          </a:xfrm>
          <a:prstGeom prst="rect">
            <a:avLst/>
          </a:prstGeom>
          <a:noFill/>
        </p:spPr>
        <p:txBody>
          <a:bodyPr wrap="none" lIns="0" rIns="0" tIns="0" bIns="0">
            <a:spAutoFit/>
          </a:bodyPr>
          <a:lstStyle/>
          <a:p>
            <a:pPr>
              <a:lnSpc>
                <a:spcPts val="10340"/>
              </a:lnSpc>
              <a:spcBef>
                <a:spcPts val="0"/>
              </a:spcBef>
              <a:spcAft>
                <a:spcPts val="0"/>
              </a:spcAft>
            </a:pPr>
            <a:r>
              <a:rPr sz="11000" i="0">
                <a:solidFill>
                  <a:srgbClr val="FFFFFF"/>
                </a:solidFill>
                <a:latin typeface="Instrument Serif"/>
              </a:rPr>
              <a:t>Never </a:t>
            </a:r>
            <a:r>
              <a:rPr sz="11000" i="0">
                <a:solidFill>
                  <a:srgbClr val="FFFFFF"/>
                </a:solidFill>
                <a:latin typeface="Instrument Serif"/>
              </a:rPr>
              <a:t>be</a:t>
            </a:r>
          </a:p>
          <a:p>
            <a:pPr>
              <a:lnSpc>
                <a:spcPts val="10340"/>
              </a:lnSpc>
              <a:spcBef>
                <a:spcPts val="0"/>
              </a:spcBef>
              <a:spcAft>
                <a:spcPts val="0"/>
              </a:spcAft>
            </a:pPr>
            <a:r>
              <a:rPr sz="11000" i="1">
                <a:solidFill>
                  <a:srgbClr val="FFB05C"/>
                </a:solidFill>
                <a:latin typeface="Instrument Serif"/>
              </a:rPr>
              <a:t>surprised </a:t>
            </a:r>
            <a:r>
              <a:rPr sz="11000" i="1">
                <a:solidFill>
                  <a:srgbClr val="FFB05C"/>
                </a:solidFill>
                <a:latin typeface="Instrument Serif"/>
              </a:rPr>
              <a:t>again.</a:t>
            </a:r>
          </a:p>
        </p:txBody>
      </p:sp>
      <p:sp>
        <p:nvSpPr>
          <p:cNvPr id="24" name="single supporting sentence: Next: a BTP-connected prototype and a pilot with one Bengaluru auto-pa"/>
          <p:cNvSpPr txBox="1"/>
          <p:nvPr/>
        </p:nvSpPr>
        <p:spPr>
          <a:xfrm>
            <a:off x="777240" y="6099048"/>
            <a:ext cx="8046720" cy="1014984"/>
          </a:xfrm>
          <a:prstGeom prst="rect">
            <a:avLst/>
          </a:prstGeom>
          <a:noFill/>
        </p:spPr>
        <p:txBody>
          <a:bodyPr wrap="square" lIns="0" rIns="0" tIns="0" bIns="0" anchor="t">
            <a:spAutoFit/>
          </a:bodyPr>
          <a:lstStyle/>
          <a:p>
            <a:pPr algn="l">
              <a:lnSpc>
                <a:spcPts val="2645"/>
              </a:lnSpc>
              <a:spcBef>
                <a:spcPts val="0"/>
              </a:spcBef>
              <a:spcAft>
                <a:spcPts val="0"/>
              </a:spcAft>
            </a:pPr>
            <a:r>
              <a:rPr sz="2300" b="0" i="0">
                <a:solidFill>
                  <a:srgbClr val="FFFFFF"/>
                </a:solidFill>
                <a:latin typeface="Inter"/>
              </a:rPr>
              <a:t>Next: a BTP-connected prototype and a pilot with one</a:t>
            </a:r>
          </a:p>
          <a:p>
            <a:pPr algn="l">
              <a:lnSpc>
                <a:spcPts val="2645"/>
              </a:lnSpc>
              <a:spcBef>
                <a:spcPts val="0"/>
              </a:spcBef>
              <a:spcAft>
                <a:spcPts val="0"/>
              </a:spcAft>
            </a:pPr>
            <a:r>
              <a:rPr sz="2300" b="0" i="0">
                <a:solidFill>
                  <a:srgbClr val="FFFFFF"/>
                </a:solidFill>
                <a:latin typeface="Inter"/>
              </a:rPr>
              <a:t>Bengaluru auto-parts cluster.</a:t>
            </a:r>
          </a:p>
        </p:txBody>
      </p:sp>
      <p:pic>
        <p:nvPicPr>
          <p:cNvPr id="25" name="Picture 24" descr="14-next-step-23.png"/>
          <p:cNvPicPr>
            <a:picLocks noChangeAspect="1"/>
          </p:cNvPicPr>
          <p:nvPr/>
        </p:nvPicPr>
        <p:blipFill>
          <a:blip r:embed="rId5"/>
          <a:stretch>
            <a:fillRect/>
          </a:stretch>
        </p:blipFill>
        <p:spPr>
          <a:xfrm>
            <a:off x="777240" y="7452360"/>
            <a:ext cx="7909560" cy="1783080"/>
          </a:xfrm>
          <a:prstGeom prst="rect">
            <a:avLst/>
          </a:prstGeom>
        </p:spPr>
      </p:pic>
      <p:sp>
        <p:nvSpPr>
          <p:cNvPr id="26" name="Native editable glass border: next-step"/>
          <p:cNvSpPr/>
          <p:nvPr/>
        </p:nvSpPr>
        <p:spPr>
          <a:xfrm>
            <a:off x="777240" y="7452360"/>
            <a:ext cx="7909560"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atistic label: NEXT STEP"/>
          <p:cNvSpPr txBox="1"/>
          <p:nvPr/>
        </p:nvSpPr>
        <p:spPr>
          <a:xfrm>
            <a:off x="987552" y="7616952"/>
            <a:ext cx="7488936" cy="457200"/>
          </a:xfrm>
          <a:prstGeom prst="rect">
            <a:avLst/>
          </a:prstGeom>
          <a:noFill/>
        </p:spPr>
        <p:txBody>
          <a:bodyPr wrap="square" lIns="0" rIns="0" tIns="0" bIns="0" anchor="t">
            <a:spAutoFit/>
          </a:bodyPr>
          <a:lstStyle/>
          <a:p>
            <a:pPr algn="l">
              <a:lnSpc>
                <a:spcPts val="1391"/>
              </a:lnSpc>
              <a:spcBef>
                <a:spcPts val="0"/>
              </a:spcBef>
              <a:spcAft>
                <a:spcPts val="0"/>
              </a:spcAft>
            </a:pPr>
            <a:r>
              <a:rPr sz="1300" b="0" i="0">
                <a:solidFill>
                  <a:srgbClr val="FFFFFF"/>
                </a:solidFill>
                <a:latin typeface="DM Mono"/>
              </a:rPr>
              <a:t>NEXT STEP</a:t>
            </a:r>
          </a:p>
        </p:txBody>
      </p:sp>
      <p:sp>
        <p:nvSpPr>
          <p:cNvPr id="28" name="editable statistic: BTP + cluster pilot"/>
          <p:cNvSpPr txBox="1"/>
          <p:nvPr/>
        </p:nvSpPr>
        <p:spPr>
          <a:xfrm>
            <a:off x="987552" y="8092440"/>
            <a:ext cx="7488936" cy="868680"/>
          </a:xfrm>
          <a:prstGeom prst="rect">
            <a:avLst/>
          </a:prstGeom>
          <a:noFill/>
        </p:spPr>
        <p:txBody>
          <a:bodyPr wrap="square" lIns="0" rIns="0" tIns="0" bIns="0" anchor="t">
            <a:spAutoFit/>
          </a:bodyPr>
          <a:lstStyle/>
          <a:p>
            <a:pPr algn="l">
              <a:lnSpc>
                <a:spcPts val="3255"/>
              </a:lnSpc>
              <a:spcBef>
                <a:spcPts val="0"/>
              </a:spcBef>
              <a:spcAft>
                <a:spcPts val="0"/>
              </a:spcAft>
            </a:pPr>
            <a:r>
              <a:rPr sz="3100" b="0" i="0">
                <a:solidFill>
                  <a:srgbClr val="FFFFFF"/>
                </a:solidFill>
                <a:latin typeface="Inter"/>
              </a:rPr>
              <a:t>BTP + cluster pilot</a:t>
            </a:r>
          </a:p>
        </p:txBody>
      </p:sp>
      <p:sp>
        <p:nvSpPr>
          <p:cNvPr id="29" name="card source: Proposed project plan; no partner commitment"/>
          <p:cNvSpPr txBox="1"/>
          <p:nvPr/>
        </p:nvSpPr>
        <p:spPr>
          <a:xfrm>
            <a:off x="987552" y="8796528"/>
            <a:ext cx="7488936" cy="356616"/>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Proposed project plan; no partner commitment</a:t>
            </a:r>
          </a:p>
        </p:txBody>
      </p:sp>
      <p:pic>
        <p:nvPicPr>
          <p:cNvPr id="30" name="Picture 29" descr="14-team-project-id-28.png"/>
          <p:cNvPicPr>
            <a:picLocks noChangeAspect="1"/>
          </p:cNvPicPr>
          <p:nvPr/>
        </p:nvPicPr>
        <p:blipFill>
          <a:blip r:embed="rId6"/>
          <a:stretch>
            <a:fillRect/>
          </a:stretch>
        </p:blipFill>
        <p:spPr>
          <a:xfrm>
            <a:off x="9555480" y="7452360"/>
            <a:ext cx="7909560" cy="1783080"/>
          </a:xfrm>
          <a:prstGeom prst="rect">
            <a:avLst/>
          </a:prstGeom>
        </p:spPr>
      </p:pic>
      <p:sp>
        <p:nvSpPr>
          <p:cNvPr id="31" name="Native editable glass border: team-project-id"/>
          <p:cNvSpPr/>
          <p:nvPr/>
        </p:nvSpPr>
        <p:spPr>
          <a:xfrm>
            <a:off x="9555480" y="7452360"/>
            <a:ext cx="7909560" cy="1783080"/>
          </a:xfrm>
          <a:prstGeom prst="roundRect">
            <a:avLst>
              <a:gd name="adj" fmla="val 12820"/>
            </a:avLst>
          </a:prstGeom>
          <a:noFill/>
          <a:ln w="19050">
            <a:solidFill>
              <a:srgbClr val="FFFFFF">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am label: TEAM"/>
          <p:cNvSpPr txBox="1"/>
          <p:nvPr/>
        </p:nvSpPr>
        <p:spPr>
          <a:xfrm>
            <a:off x="9784080" y="7626096"/>
            <a:ext cx="5074920" cy="274320"/>
          </a:xfrm>
          <a:prstGeom prst="rect">
            <a:avLst/>
          </a:prstGeom>
          <a:noFill/>
        </p:spPr>
        <p:txBody>
          <a:bodyPr wrap="square" lIns="0" rIns="0" tIns="0" bIns="0" anchor="t">
            <a:spAutoFit/>
          </a:bodyPr>
          <a:lstStyle/>
          <a:p>
            <a:pPr algn="l">
              <a:lnSpc>
                <a:spcPts val="1456"/>
              </a:lnSpc>
              <a:spcBef>
                <a:spcPts val="0"/>
              </a:spcBef>
              <a:spcAft>
                <a:spcPts val="0"/>
              </a:spcAft>
            </a:pPr>
            <a:r>
              <a:rPr sz="1300" b="0" i="0">
                <a:solidFill>
                  <a:srgbClr val="FFFFFF"/>
                </a:solidFill>
                <a:latin typeface="DM Mono"/>
              </a:rPr>
              <a:t>TEAM</a:t>
            </a:r>
          </a:p>
        </p:txBody>
      </p:sp>
      <p:sp>
        <p:nvSpPr>
          <p:cNvPr id="33" name="team: Francis Reuben R · Avaneesh&#10;Affan · Vivek"/>
          <p:cNvSpPr txBox="1"/>
          <p:nvPr/>
        </p:nvSpPr>
        <p:spPr>
          <a:xfrm>
            <a:off x="9784080" y="8046720"/>
            <a:ext cx="5074920" cy="685800"/>
          </a:xfrm>
          <a:prstGeom prst="rect">
            <a:avLst/>
          </a:prstGeom>
          <a:noFill/>
        </p:spPr>
        <p:txBody>
          <a:bodyPr wrap="square" lIns="0" rIns="0" tIns="0" bIns="0" anchor="t">
            <a:spAutoFit/>
          </a:bodyPr>
          <a:lstStyle/>
          <a:p>
            <a:pPr algn="l">
              <a:lnSpc>
                <a:spcPts val="2408"/>
              </a:lnSpc>
              <a:spcBef>
                <a:spcPts val="0"/>
              </a:spcBef>
              <a:spcAft>
                <a:spcPts val="0"/>
              </a:spcAft>
            </a:pPr>
            <a:r>
              <a:rPr sz="2150" b="0" i="0">
                <a:solidFill>
                  <a:srgbClr val="FFFFFF"/>
                </a:solidFill>
                <a:latin typeface="Inter"/>
              </a:rPr>
              <a:t>Francis Reuben R · Avaneesh</a:t>
            </a:r>
          </a:p>
          <a:p>
            <a:pPr algn="l">
              <a:lnSpc>
                <a:spcPts val="2408"/>
              </a:lnSpc>
              <a:spcBef>
                <a:spcPts val="0"/>
              </a:spcBef>
              <a:spcAft>
                <a:spcPts val="0"/>
              </a:spcAft>
            </a:pPr>
            <a:r>
              <a:rPr sz="2150" b="0" i="0">
                <a:solidFill>
                  <a:srgbClr val="FFFFFF"/>
                </a:solidFill>
                <a:latin typeface="Inter"/>
              </a:rPr>
              <a:t>Affan · Vivek</a:t>
            </a:r>
          </a:p>
        </p:txBody>
      </p:sp>
      <p:sp>
        <p:nvSpPr>
          <p:cNvPr id="34" name="project id label: P-ID"/>
          <p:cNvSpPr txBox="1"/>
          <p:nvPr/>
        </p:nvSpPr>
        <p:spPr>
          <a:xfrm>
            <a:off x="15087600" y="7626096"/>
            <a:ext cx="2103120" cy="274320"/>
          </a:xfrm>
          <a:prstGeom prst="rect">
            <a:avLst/>
          </a:prstGeom>
          <a:noFill/>
        </p:spPr>
        <p:txBody>
          <a:bodyPr wrap="square" lIns="0" rIns="0" tIns="0" bIns="0" anchor="t">
            <a:spAutoFit/>
          </a:bodyPr>
          <a:lstStyle/>
          <a:p>
            <a:pPr algn="l">
              <a:lnSpc>
                <a:spcPts val="1456"/>
              </a:lnSpc>
              <a:spcBef>
                <a:spcPts val="0"/>
              </a:spcBef>
              <a:spcAft>
                <a:spcPts val="0"/>
              </a:spcAft>
            </a:pPr>
            <a:r>
              <a:rPr sz="1300" b="0" i="0">
                <a:solidFill>
                  <a:srgbClr val="FFFFFF"/>
                </a:solidFill>
                <a:latin typeface="DM Mono"/>
              </a:rPr>
              <a:t>P-ID</a:t>
            </a:r>
          </a:p>
        </p:txBody>
      </p:sp>
      <p:sp>
        <p:nvSpPr>
          <p:cNvPr id="35" name="project id: P2012988948"/>
          <p:cNvSpPr txBox="1"/>
          <p:nvPr/>
        </p:nvSpPr>
        <p:spPr>
          <a:xfrm>
            <a:off x="15087600" y="8147304"/>
            <a:ext cx="2103120" cy="365760"/>
          </a:xfrm>
          <a:prstGeom prst="rect">
            <a:avLst/>
          </a:prstGeom>
          <a:noFill/>
        </p:spPr>
        <p:txBody>
          <a:bodyPr wrap="none" lIns="0" rIns="0" tIns="0" bIns="0" anchor="t">
            <a:spAutoFit/>
          </a:bodyPr>
          <a:lstStyle/>
          <a:p>
            <a:pPr algn="l">
              <a:lnSpc>
                <a:spcPts val="2128"/>
              </a:lnSpc>
              <a:spcBef>
                <a:spcPts val="0"/>
              </a:spcBef>
              <a:spcAft>
                <a:spcPts val="0"/>
              </a:spcAft>
            </a:pPr>
            <a:r>
              <a:rPr sz="1900" b="0" i="0">
                <a:solidFill>
                  <a:srgbClr val="FFFFFF"/>
                </a:solidFill>
                <a:latin typeface="DM Mono"/>
              </a:rPr>
              <a:t>P2012988948</a:t>
            </a:r>
          </a:p>
        </p:txBody>
      </p:sp>
      <p:sp>
        <p:nvSpPr>
          <p:cNvPr id="36" name="card source: Team and P-ID: supplied brief"/>
          <p:cNvSpPr txBox="1"/>
          <p:nvPr/>
        </p:nvSpPr>
        <p:spPr>
          <a:xfrm>
            <a:off x="9784080" y="8878824"/>
            <a:ext cx="7315200" cy="228600"/>
          </a:xfrm>
          <a:prstGeom prst="rect">
            <a:avLst/>
          </a:prstGeom>
          <a:noFill/>
        </p:spPr>
        <p:txBody>
          <a:bodyPr wrap="square" lIns="0" rIns="0" tIns="0" bIns="0" anchor="t">
            <a:spAutoFit/>
          </a:bodyPr>
          <a:lstStyle/>
          <a:p>
            <a:pPr algn="l">
              <a:lnSpc>
                <a:spcPts val="1120"/>
              </a:lnSpc>
              <a:spcBef>
                <a:spcPts val="0"/>
              </a:spcBef>
              <a:spcAft>
                <a:spcPts val="0"/>
              </a:spcAft>
            </a:pPr>
            <a:r>
              <a:rPr sz="1000" b="0" i="0">
                <a:solidFill>
                  <a:srgbClr val="E5EBE9"/>
                </a:solidFill>
                <a:latin typeface="DM Mono"/>
              </a:rPr>
              <a:t>Team and P-ID: supplied brief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ShockTwin — SAP HackFest 2026</dc:title>
  <dc:subject>Resilient Supply Chains · Detect, Simulate, Respond</dc:subject>
  <dc:creator>Francis Reuben R · Avaneesh · Affan · Vivek</dc:creator>
  <cp:keywords>ShockTwin, CapacityMesh, SAP BTP, Illustrative demo</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